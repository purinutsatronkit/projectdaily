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3801345aa4ae3" /><Relationship Type="http://schemas.openxmlformats.org/officeDocument/2006/relationships/extended-properties" Target="/docProps/app.xml" Id="R41f28a3b0fae411e" /><Relationship Type="http://schemas.openxmlformats.org/officeDocument/2006/relationships/officeDocument" Target="/ppt/presentation.xml" Id="R86b28e15909f47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4ea4ad1a4545bf"/>
  </p:sldMasterIdLst>
  <p:notesMasterIdLst>
    <p:notesMasterId xmlns:r="http://schemas.openxmlformats.org/officeDocument/2006/relationships" r:id="R8d680e674c8e4783"/>
  </p:notesMasterIdLst>
  <p:sldIdLst>
    <p:sldId xmlns:r="http://schemas.openxmlformats.org/officeDocument/2006/relationships" id="256" r:id="R51dea52070184e2e"/>
    <p:sldId xmlns:r="http://schemas.openxmlformats.org/officeDocument/2006/relationships" id="257" r:id="R347fba89766348aa"/>
    <p:sldId xmlns:r="http://schemas.openxmlformats.org/officeDocument/2006/relationships" id="258" r:id="R81b85dda616d4372"/>
    <p:sldId xmlns:r="http://schemas.openxmlformats.org/officeDocument/2006/relationships" id="259" r:id="Reddeb45d18564204"/>
    <p:sldId xmlns:r="http://schemas.openxmlformats.org/officeDocument/2006/relationships" id="260" r:id="R1a117707730d4a19"/>
    <p:sldId xmlns:r="http://schemas.openxmlformats.org/officeDocument/2006/relationships" id="261" r:id="R9b919ac192cd4417"/>
    <p:sldId xmlns:r="http://schemas.openxmlformats.org/officeDocument/2006/relationships" id="262" r:id="R842fc3f8a1064284"/>
    <p:sldId xmlns:r="http://schemas.openxmlformats.org/officeDocument/2006/relationships" id="263" r:id="R9d8b40f78aae49a2"/>
    <p:sldId xmlns:r="http://schemas.openxmlformats.org/officeDocument/2006/relationships" id="264" r:id="Rbf032f72231a4bfc"/>
    <p:sldId xmlns:r="http://schemas.openxmlformats.org/officeDocument/2006/relationships" id="265" r:id="R8cd902d396b948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17477ab6d6431b" /><Relationship Type="http://schemas.openxmlformats.org/officeDocument/2006/relationships/slideMaster" Target="/ppt/slideMasters/slideMaster1.xml" Id="Rf44ea4ad1a4545bf" /><Relationship Type="http://schemas.openxmlformats.org/officeDocument/2006/relationships/notesMaster" Target="/ppt/notesMasters/notesMaster1.xml" Id="R8d680e674c8e4783" /><Relationship Type="http://schemas.openxmlformats.org/officeDocument/2006/relationships/presProps" Target="/ppt/presProps.xml" Id="Re8efbb9b96834614" /><Relationship Type="http://schemas.openxmlformats.org/officeDocument/2006/relationships/tableStyles" Target="/ppt/tableStyles.xml" Id="R1bd8cd7639c745c3" /><Relationship Type="http://schemas.openxmlformats.org/officeDocument/2006/relationships/slide" Target="/ppt/slides/slide1.xml" Id="R51dea52070184e2e" /><Relationship Type="http://schemas.openxmlformats.org/officeDocument/2006/relationships/slide" Target="/ppt/slides/slide2.xml" Id="R347fba89766348aa" /><Relationship Type="http://schemas.openxmlformats.org/officeDocument/2006/relationships/slide" Target="/ppt/slides/slide3.xml" Id="R81b85dda616d4372" /><Relationship Type="http://schemas.openxmlformats.org/officeDocument/2006/relationships/slide" Target="/ppt/slides/slide4.xml" Id="Reddeb45d18564204" /><Relationship Type="http://schemas.openxmlformats.org/officeDocument/2006/relationships/slide" Target="/ppt/slides/slide5.xml" Id="R1a117707730d4a19" /><Relationship Type="http://schemas.openxmlformats.org/officeDocument/2006/relationships/slide" Target="/ppt/slides/slide6.xml" Id="R9b919ac192cd4417" /><Relationship Type="http://schemas.openxmlformats.org/officeDocument/2006/relationships/slide" Target="/ppt/slides/slide7.xml" Id="R842fc3f8a1064284" /><Relationship Type="http://schemas.openxmlformats.org/officeDocument/2006/relationships/slide" Target="/ppt/slides/slide8.xml" Id="R9d8b40f78aae49a2" /><Relationship Type="http://schemas.openxmlformats.org/officeDocument/2006/relationships/slide" Target="/ppt/slides/slide9.xml" Id="Rbf032f72231a4bfc" /><Relationship Type="http://schemas.openxmlformats.org/officeDocument/2006/relationships/slide" Target="/ppt/slides/slide10.xml" Id="R8cd902d396b948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a3b7ba48d840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850fdca9d54fbf" /><Relationship Type="http://schemas.openxmlformats.org/officeDocument/2006/relationships/notesMaster" Target="/ppt/notesMasters/notesMaster1.xml" Id="R5df411b1af614f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895845f30040f1" /><Relationship Type="http://schemas.openxmlformats.org/officeDocument/2006/relationships/notesMaster" Target="/ppt/notesMasters/notesMaster1.xml" Id="R8d064c016b1442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bcf8861a2f42dd" /><Relationship Type="http://schemas.openxmlformats.org/officeDocument/2006/relationships/notesMaster" Target="/ppt/notesMasters/notesMaster1.xml" Id="Rf246316ab0c949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bc273cf9540e4" /><Relationship Type="http://schemas.openxmlformats.org/officeDocument/2006/relationships/notesMaster" Target="/ppt/notesMasters/notesMaster1.xml" Id="Rc5750d9d1f1844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52c3e9d91147b8" /><Relationship Type="http://schemas.openxmlformats.org/officeDocument/2006/relationships/notesMaster" Target="/ppt/notesMasters/notesMaster1.xml" Id="R3a562f98383847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50c80c9fb644db" /><Relationship Type="http://schemas.openxmlformats.org/officeDocument/2006/relationships/notesMaster" Target="/ppt/notesMasters/notesMaster1.xml" Id="Rdf74d5e4cbdf46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de635bd38548b2" /><Relationship Type="http://schemas.openxmlformats.org/officeDocument/2006/relationships/notesMaster" Target="/ppt/notesMasters/notesMaster1.xml" Id="Rc89972a2964145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5588909831447e" /><Relationship Type="http://schemas.openxmlformats.org/officeDocument/2006/relationships/notesMaster" Target="/ppt/notesMasters/notesMaster1.xml" Id="R7312aaec60eb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cce3caf89f4263" /><Relationship Type="http://schemas.openxmlformats.org/officeDocument/2006/relationships/notesMaster" Target="/ppt/notesMasters/notesMaster1.xml" Id="R23f7c1a343f7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f77e97deed4658" /><Relationship Type="http://schemas.openxmlformats.org/officeDocument/2006/relationships/notesMaster" Target="/ppt/notesMasters/notesMaster1.xml" Id="R1c94b67eb1fc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1 (ประมาณ 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การนำเสนอนี้สรุปความรู้จากวิดีโอสองเรื่องที่เกี่ยวข้องกับการสร้างระบบดิจิทัล เรื่องแรกคือการใช้ n8n และ AI เชื่อมขั้นตอนทำงานให้เป็นระบบอัตโนมัติ ส่วนเรื่องที่สองคือการออกแบบซอฟต์แวร์โดยคิดถึงข้อมูล ปริมาณงาน และความผิดพลาดที่อาจเกิดขึ้น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เราจะเห็นว่าแต่ละคลิปช่วยตอบคนละด้านของการทำงาน คลิปแรกช่วยให้เห็นวิธีเชื่อมเครื่องมือเข้าด้วยกัน ส่วนคลิปที่สองช่วยให้คิดว่าระบบนั้นควรจัดโครงสร้างอย่างไร จากนั้นจะนำความรู้ทั้งสองด้านมารวมเป็นตัวอย่างโครงการที่สามารถพัฒนาต่อได้ เริ่มจากภาพรวมของแต่ละคลิปก่อน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  <a:p xmlns:a="http://schemas.openxmlformats.org/drawingml/2006/main">
            <a:r>
              <a:t>ภาพปก: ภาพประกอบแนวคิดสร้างด้วย OpenAI imagegen ไม่ใช่ภาพจากวิดีโอ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2 (ประมาณ 50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คลิปแรกเน้นการสร้าง workflow หรือกระบวนการที่เชื่อมงานหลายขั้นเข้าด้วยกัน ตัวอย่างเช่น รับข้อมูลจากฟอร์ม เรียกบริการผ่าน API ให้ AI ช่วยอ่านหรือร่างข้อความ แล้วส่งผลลัพธ์ไปยังทีมที่รับผิดชอบ จุดที่น่าสนใจคือเนื้อหาไปต่อถึงการอนุมัติโดยคนและการติดตามงานหลังเริ่มใช้งาน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คลิปที่สองเน้นการออกแบบระบบ ตั้งแต่ทำความเข้าใจโจทย์ กำหนดข้อมูลและ API ไปจนถึงวางสถาปัตยกรรมและอธิบายข้อแลกเปลี่ยน โดยใช้ระบบเพลง ระบบจอง และระบบแชตเป็นกรณีศึกษา เมื่อมองรวมกัน เราจึงได้ทั้งวิธีประกอบขั้นตอนและวิธีตรวจความเหมาะสมของระบบ ต่อไปจะเริ่มจากบทเรียนเรื่อง 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3 (ประมาณ 55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แนวคิดสำคัญของ n8n คือการทำให้เราเห็นลำดับการไหลของข้อมูล เริ่มจากเหตุการณ์ที่ทำให้งานเริ่ม เช่น มีคนส่งฟอร์มหรือมีเอกสารใหม่ จากนั้นระบบดึงข้อมูลที่จำเป็นผ่าน API และจัดรูปข้อมูลให้พร้อมสำหรับขั้นตอนถัดไป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เข้ามาช่วยในงานที่เกี่ยวกับภาษา เช่น อ่านเนื้อหา จัดหมวด หรือร่างคำตอบ เมื่อประมวลผลเสร็จจึงส่งต่อผลลัพธ์และบันทึกสถานะ ในคลิปมีตัวอย่างงานอีเมล งานขายที่เชื่อม CRM และการสกัดข้อมูลจากเอกสาร สิ่งที่ควรนำไปใช้คือการระบุให้ชัดว่าแต่ละขั้นรับอะไร ส่งอะไร และใครรับผิดชอบตรวจผล เมื่อลำดับงานชัดแล้ว ขั้นต่อไปคือการพิจารณาบทบาทของ Agent และข้อมูลที่ AI ใช้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4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คลิปแรกแยกให้เห็นเรื่อง Agent ฐานความรู้ และความจำ ซึ่งเกี่ยวข้องกันแต่ทำหน้าที่ต่างกัน Agent ช่วยใช้เครื่องมือหรือทำงานตามบทบาทที่ออกแบบไว้ ฐานความรู้เป็นแหล่งข้อมูลสำหรับค้นและประกอบคำตอบ ส่วนความจำช่วยเก็บบริบทที่ต้องใช้ต่อจากงานหรือการสนทนาก่อนหน้า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ตัวอย่างในคลิปมีการใช้ Google Sheets เป็นฐานความรู้ขนาดเบา และมีงานผลิตเนื้อหาที่แบ่งหน้าที่ให้หลาย Agent เช่น ค้นคว้า วางโครง และร่างข้อความ บทเรียนที่สังเคราะห์ได้คือ ควรกำหนดหน้าที่และข้อมูลเข้าออกของแต่ละบทบาทให้ชัด เพื่อให้ตรวจได้ว่าปัญหาเกิดที่ขั้นใด และต้องให้คนตรวจตรงไหน แต่เมื่อสร้างให้ทำงานได้แล้ว ยังต้องคิดถึงการดูแลเมื่อใช้งานต่อเนื่องด้วย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5 (ประมาณ 55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เนื้อหาช่วงท้ายของคลิปแรกทำให้เห็นว่า workflow ต้องมีวิธีดูแลระหว่างใช้งาน ประเด็นแรกคือจุดอนุมัติของคน เช่น ให้ผู้รับผิดชอบตรวจร่างข้อความก่อนส่งออก ประเด็นถัดมาคือการจัดการข้อผิดพลาด การลองใหม่ และวิธีสำรองเมื่อบริการที่เชื่อมต่อไม่พร้อมใช้งาน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อีกเรื่องคือการติดตามงานและต้นทุน โดยเฉพาะการใช้ token ของ AI หาก workflow ทำงานหลายรอบหรือเรียกหลาย Agent ค่าใช้จ่ายและเวลาตรวจแก้อาจเพิ่มขึ้นได้ ข้อสังเคราะห์สำหรับการนำไปใช้คือควรวัดเวลารวมที่ประหยัดได้หลังรวมเวลาตรวจงาน และต้องตามงานที่ล้มเหลวกลับมาทำต่อได้ แนวคิดเรื่องความเชื่อถือได้นี้เชื่อมกับหัวข้อ System Design ในคลิปที่สองโดยตรง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6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คลิปที่สองเริ่มจากการเปลี่ยนโจทย์กว้างให้เป็นแบบระบบที่อธิบายได้ เนื้อหาครอบคลุมการทำความต้องการให้ชัด การกำหนดข้อมูลหลักและ API และการวางสถาปัตยกรรมระดับสูง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การทำโจทย์ให้ชัดหมายถึงรู้ว่าใครใช้งาน ต้องทำอะไร และคาดหวังความเร็วหรือความพร้อมใช้งานระดับใด หลังจากนั้นจึงระบุข้อมูลหลักและวิธีที่ส่วนต่าง ๆ ติดต่อกัน การวางสถาปัตยกรรมควรเริ่มจากแบบที่อธิบายง่าย แล้วพิจารณาคอขวดตามปริมาณงานที่คาดไว้ ทุกครั้งที่เพิ่ม cache แยกบริการ หรือเพิ่มกลไกสำรอง ควรอธิบายได้ว่าช่วยแก้ปัญหาใดและเพิ่มภาระดูแลอย่างไร ต่อไปจะเห็นความต่างของโจทย์ผ่านกรณีศึกษาสามระบบ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7 (ประมาณ 65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กรณีศึกษาแรกคือระบบเพลงแบบ Spotify เนื้อหาครอบคลุมความต้องการ การประมาณขนาด API การจัดเก็บ และการขยายระบบ ประเด็นที่ฝึกได้คือการเชื่อมพฤติกรรมผู้ใช้เข้ากับเส้นทางของข้อมูลและการส่งไฟล์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กรณีศึกษาที่สองคือระบบจองแบบ Booking.com ซึ่งมีประเด็นจำนวนทรัพยากรคงเหลือ การรับคำขอซ้ำ และการทำงานพร้อมกัน เราจึงต้องคิดว่าถ้าหลายคนจองรายการสุดท้ายในเวลาใกล้กัน ระบบจะรักษาความถูกต้องได้อย่างไร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กรณีศึกษาที่สามคือระบบแชตแบบ WhatsApp เน้นการสื่อสารทันที การซิงก์หลายอุปกรณ์ และการส่งข้อความเมื่อกลับมาออนไลน์ ทั้งสามเป็นแบบจำลองสำหรับเรียนรู้การออกแบบ เมื่อปัญหาต่างกัน ลำดับความสำคัญและทางเลือกทางเทคนิคก็ต่างกันด้วย จากนั้นจะเปรียบเทียบบทเรียนร่วมของสองคลิป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8 (ประมาณ 55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เมื่อนำสองคลิปมาเทียบกัน คลิปแรกช่วยให้เราเชื่อมขั้นตอนจนงานเดินครบกระบวนการ ส่วนคลิปที่สองช่วยให้ตรวจความถูกต้องของข้อมูลและพฤติกรรมเมื่อมีปัญหา ทั้งสองด้านจึงสนับสนุนกัน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บทเรียนร่วมที่นำไปใช้ได้คือข้อมูลเข้าและออกของแต่ละขั้นต้องชัด ระบบควรแยกคำขอใหม่ออกจากคำขอที่ส่งซ้ำได้ และต้องบอกได้ว่างานใดค้างอยู่หรือทำไม่สำเร็จ นอกจากนี้ควรมีผู้รับผิดชอบตัดสินใจในขั้นที่ผลจาก AI ยังต้องอาศัยการตรวจของคน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เมื่อคิดแบบนี้ ตัวชี้วัดของโครงการจึงควรเกี่ยวข้องกับงานจริง เช่น เวลาตอบกลับ ความถูกต้อง และเวลาตรวจแก้ ต่อไปเป็นตัวอย่างข้อเสนอที่นำความรู้ทั้งสองคลิปมาใช้ร่วมกัน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9 (ประมาณ 65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ตัวอย่างนี้เป็นข้อเสนอของรายงานเพื่อประยุกต์บทเรียน ไม่ใช่ระบบที่คัดลอกจากคลิป โครงการคือระบบรับลูกค้าจากเว็บไซต์ เริ่มจากตรวจข้อมูลที่ส่งผ่านฟอร์ม บันทึกข้อมูลลูกค้าพร้อมรหัสคำขอ แล้วให้ n8n เรียก AI ช่วยจัดหมวดและร่างคำตอบ ผู้รับผิดชอบตรวจและอนุมัติก่อนส่ง จากนั้นบันทึกผลและติดตามรายการที่ยังค้าง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ในแบบนี้ n8n ทำหน้าที่ประสานขั้นตอน ส่วนข้อมูลลูกค้า สถานะอนุมัติ และประวัติการส่งควรมีที่เก็บหลักที่ชัดเจน รหัสคำขอช่วยตรวจรายการซ้ำ และประวัติสถานะช่วยตามงานกลับมาทำต่อเมื่อบางขั้นล้มเหลว สิ่งที่ควรวัดคือเวลาตอบกลับ ข้อมูลตกหล่น และสัดส่วนร่างที่ต้องแก้ ตัวอย่างนี้ทำให้เห็นว่าเครื่องมืออัตโนมัติและหลักออกแบบระบบทำงานร่วมกันได้อย่างไร สุดท้ายจะสรุปแนวทางต่อยอดในภาพกว้าง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  <a:p xmlns:a="http://schemas.openxmlformats.org/drawingml/2006/main">
            <a:r>
              <a:t>ข้อเสนอประยุกต์ใช้ในสไลด์นี้เป็นการสังเคราะห์ของรายงาน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บทพูดสำหรับสไลด์ 10 (ประมาณ 50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สาระสำคัญของการนำเสนอนี้คือ n8n และ AI ช่วยเชื่อมขั้นตอนทำงาน ส่วน System Design ช่วยให้เราตรวจโครงสร้าง ข้อมูล และวิธีรับมือความผิดพลาด การใช้ความรู้ร่วมกันจึงเหมาะกับการสร้างระบบที่มีผลลัพธ์ชัดและดูแลต่อได้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แนวทางต่อยอดอาจเป็นผู้ช่วยอ่านเอกสาร ผู้ช่วยเตรียมเนื้อหา หรือระบบรับลูกค้าจากเว็บไซต์ หากต้องการทำเป็นผลงานหรือบริการรับจ้าง ควรนำเสนอต้นแบบพร้อมเหตุผลการออกแบบ และแสดงผลที่วัดได้ เช่น เวลาที่ลดลงหรือความถูกต้องของข้อมูล โดยยังรวมเวลาที่คนต้องตรวจแก้ด้วย จุดเริ่มต้นที่เหมาะสมคือปัญหางานหนึ่งเรื่องที่มีข้อมูลเข้า ผลลัพธ์ และผู้รับผิดชอบชัดเจน ขอบคุณทุกท่าน หากมีคำถามหรือข้อเสนอแนะ ยินดีรับฟัง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ข้อมูลแหล่งที่มา (สำหรับผู้บรรยาย)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ขอบเขตการสรุป: สรุปจากคำอธิบาย สารบัญ บทความทางการ และเนื้อหาบางช่วงที่ตรวจได้ ไม่ใช่คำถอดเสียงเต็ม</a:t>
            </a:r>
          </a:p>
          <a:p xmlns:a="http://schemas.openxmlformats.org/drawingml/2006/main">
            <a:r>
              <a:t>ข้อเสนอประยุกต์ใช้ในสไลด์นี้เป็นการสังเคราะห์ของรายงาน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ff28689994a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d7138d7224b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ef887e9bd41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168bc413d44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7d68f408f4c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023c190064a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5163B2-36CD-4ABC-9916-217AB463F6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D19955-70CA-4606-99C4-7680455485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2049C8-F600-459D-8030-7538ABB88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3E7DFA-F915-4D85-B5F7-CA0536B38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85807A-8B59-4E5D-8065-68A25FF8B0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FBBA9D-933F-4F4E-81EF-A04034DE5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0A255E-8644-4F56-8D70-1C43EA6C6B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5815EE-7517-4ECD-8D26-E79B5D87BB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A7BE3A-9CB1-42CB-9404-A9037701B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375E87-D4AA-4089-9686-8B225A6766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9a740a92d04928" /><Relationship Type="http://schemas.openxmlformats.org/officeDocument/2006/relationships/slideLayout" Target="/ppt/slideLayouts/slideLayout1.xml" Id="R83975b8918b349c0" /><Relationship Type="http://schemas.openxmlformats.org/officeDocument/2006/relationships/slideLayout" Target="/ppt/slideLayouts/slideLayout2.xml" Id="R825e042be7d74d4a" /><Relationship Type="http://schemas.openxmlformats.org/officeDocument/2006/relationships/slideLayout" Target="/ppt/slideLayouts/slideLayout3.xml" Id="Rc8989413b2f14074" /><Relationship Type="http://schemas.openxmlformats.org/officeDocument/2006/relationships/slideLayout" Target="/ppt/slideLayouts/slideLayout4.xml" Id="R7a1c58adba934493" /><Relationship Type="http://schemas.openxmlformats.org/officeDocument/2006/relationships/slideLayout" Target="/ppt/slideLayouts/slideLayout5.xml" Id="R0d59f8abbdfa45ee" /><Relationship Type="http://schemas.openxmlformats.org/officeDocument/2006/relationships/slideLayout" Target="/ppt/slideLayouts/slideLayout6.xml" Id="Rba213a43a81144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75b8918b349c0"/>
    <p:sldLayoutId xmlns:r="http://schemas.openxmlformats.org/officeDocument/2006/relationships" id="2147483650" r:id="R825e042be7d74d4a"/>
    <p:sldLayoutId xmlns:r="http://schemas.openxmlformats.org/officeDocument/2006/relationships" id="2147483651" r:id="Rc8989413b2f14074"/>
    <p:sldLayoutId xmlns:r="http://schemas.openxmlformats.org/officeDocument/2006/relationships" id="2147483652" r:id="R7a1c58adba934493"/>
    <p:sldLayoutId xmlns:r="http://schemas.openxmlformats.org/officeDocument/2006/relationships" id="2147483653" r:id="R0d59f8abbdfa45ee"/>
    <p:sldLayoutId xmlns:r="http://schemas.openxmlformats.org/officeDocument/2006/relationships" id="2147483654" r:id="Rba213a43a81144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e08b9ecde4ccd" /><Relationship Type="http://schemas.openxmlformats.org/officeDocument/2006/relationships/image" Target="/ppt/media/image.png" Id="Rc3d57ffb14174956" /><Relationship Type="http://schemas.openxmlformats.org/officeDocument/2006/relationships/notesSlide" Target="/ppt/notesSlides/notesSlide1.xml" Id="Rf40c9e725c1247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37908543a4a2a" /><Relationship Type="http://schemas.openxmlformats.org/officeDocument/2006/relationships/notesSlide" Target="/ppt/notesSlides/notesSlide2.xml" Id="R429cf9fcb085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d01d3de6a46c5" /><Relationship Type="http://schemas.openxmlformats.org/officeDocument/2006/relationships/notesSlide" Target="/ppt/notesSlides/notesSlide3.xml" Id="R67a3436e67f0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2790be0e4949e0" /><Relationship Type="http://schemas.openxmlformats.org/officeDocument/2006/relationships/notesSlide" Target="/ppt/notesSlides/notesSlide4.xml" Id="Rf219b822ed07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f3a86aa184b70" /><Relationship Type="http://schemas.openxmlformats.org/officeDocument/2006/relationships/notesSlide" Target="/ppt/notesSlides/notesSlide5.xml" Id="R1b8a9032d1044e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0bc499e28427d" /><Relationship Type="http://schemas.openxmlformats.org/officeDocument/2006/relationships/notesSlide" Target="/ppt/notesSlides/notesSlide6.xml" Id="Ra2c34fa7ed94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04a6bbb444c31" /><Relationship Type="http://schemas.openxmlformats.org/officeDocument/2006/relationships/notesSlide" Target="/ppt/notesSlides/notesSlide7.xml" Id="R36ac3c84d84b4f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fdb7b3cb0422c" /><Relationship Type="http://schemas.openxmlformats.org/officeDocument/2006/relationships/notesSlide" Target="/ppt/notesSlides/notesSlide8.xml" Id="Rd85f5a24595746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de0924cd04cff" /><Relationship Type="http://schemas.openxmlformats.org/officeDocument/2006/relationships/notesSlide" Target="/ppt/notesSlides/notesSlide9.xml" Id="R87ad87dcaac04b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b8f54bbe747c3" /><Relationship Type="http://schemas.openxmlformats.org/officeDocument/2006/relationships/notesSlide" Target="/ppt/notesSlides/notesSlide10.xml" Id="R688676f2622d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2D995-BE7E-4D0F-B6CD-333EE4BEF6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57ffb141749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63E57F4-1737-41A2-8FBA-BF874B0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บทเรียนจากวิดีโอ 2 เรื่อง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44AF9C-2C9C-457C-B4E8-F5C8E3A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7151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ระบบอัตโนมัติ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และการออกแบบ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ซอฟต์แวร์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380F10-12E6-4868-A24F-48C4B12F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n8n และ AI    /    System Design</a:t>
            </a:r>
          </a:p>
        </p:txBody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DB05B17C-D234-4BED-A85A-017C1167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BCD4DE"/>
                </a:solidFill>
                <a:latin typeface="Leelawadee UI"/>
                <a:ea typeface="Leelawadee UI"/>
                <a:cs typeface="Leelawadee UI"/>
              </a:rPr>
              <a:t>สรุปสาระสำคัญและแนวทางประยุกต์ใช้</a:t>
            </a:r>
          </a:p>
        </p:txBody>
      </p:sp>
    </p:spTree>
    <p:extLst>
      <p:ext uri="{BB962C8B-B14F-4D97-AF65-F5344CB8AC3E}">
        <p14:creationId xmlns:p14="http://schemas.microsoft.com/office/powerpoint/2010/main" val="643379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9F0290B7-0F3E-4572-BC44-E0990C21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ภาพรวมความรู้จากสองวิดีโอ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3A87740-DC8C-4A47-8DB4-8F28F372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3" name="first-video">
            <a:extLst xmlns:a="http://schemas.openxmlformats.org/drawingml/2006/main">
              <a:ext uri="{FF2B5EF4-FFF2-40B4-BE49-F238E27FC236}">
                <a16:creationId xmlns:a16="http://schemas.microsoft.com/office/drawing/2014/main" id="{356778A1-A892-43C9-9328-678EF229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วิดีโอที่ 1</a:t>
            </a:r>
          </a:p>
        </p:txBody>
      </p:sp>
      <p:sp>
        <p:nvSpPr>
          <p:cNvPr id="4" name="first-topic">
            <a:extLst xmlns:a="http://schemas.openxmlformats.org/drawingml/2006/main">
              <a:ext uri="{FF2B5EF4-FFF2-40B4-BE49-F238E27FC236}">
                <a16:creationId xmlns:a16="http://schemas.microsoft.com/office/drawing/2014/main" id="{D84A0622-4DA4-455E-B6DA-3EC838DB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n8n และ AI</a:t>
            </a:r>
          </a:p>
        </p:txBody>
      </p:sp>
      <p:sp>
        <p:nvSpPr>
          <p:cNvPr id="5" name="first-description">
            <a:extLst xmlns:a="http://schemas.openxmlformats.org/drawingml/2006/main">
              <a:ext uri="{FF2B5EF4-FFF2-40B4-BE49-F238E27FC236}">
                <a16:creationId xmlns:a16="http://schemas.microsoft.com/office/drawing/2014/main" id="{A133D882-6BB6-4C21-9C81-8602D24D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เชื่อมข้อมูล เครื่องมือ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และขั้นตอนทำงาน</a:t>
            </a:r>
          </a:p>
        </p:txBody>
      </p:sp>
      <p:sp>
        <p:nvSpPr>
          <p:cNvPr id="6" name="second-video">
            <a:extLst xmlns:a="http://schemas.openxmlformats.org/drawingml/2006/main">
              <a:ext uri="{FF2B5EF4-FFF2-40B4-BE49-F238E27FC236}">
                <a16:creationId xmlns:a16="http://schemas.microsoft.com/office/drawing/2014/main" id="{82FD6EE4-D506-422B-9A9E-9E317DA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81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วิดีโอที่ 2</a:t>
            </a:r>
          </a:p>
        </p:txBody>
      </p:sp>
      <p:sp>
        <p:nvSpPr>
          <p:cNvPr id="7" name="second-topic">
            <a:extLst xmlns:a="http://schemas.openxmlformats.org/drawingml/2006/main">
              <a:ext uri="{FF2B5EF4-FFF2-40B4-BE49-F238E27FC236}">
                <a16:creationId xmlns:a16="http://schemas.microsoft.com/office/drawing/2014/main" id="{65B6F801-D75A-4A59-BE79-DF65314F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System Design</a:t>
            </a:r>
          </a:p>
        </p:txBody>
      </p:sp>
      <p:sp>
        <p:nvSpPr>
          <p:cNvPr id="8" name="second-description">
            <a:extLst xmlns:a="http://schemas.openxmlformats.org/drawingml/2006/main">
              <a:ext uri="{FF2B5EF4-FFF2-40B4-BE49-F238E27FC236}">
                <a16:creationId xmlns:a16="http://schemas.microsoft.com/office/drawing/2014/main" id="{095B13E5-4355-45D4-8335-BA34B8C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ออกแบบข้อมูล API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และโครงสร้างระบบ</a:t>
            </a:r>
          </a:p>
        </p:txBody>
      </p:sp>
      <p:sp>
        <p:nvSpPr>
          <p:cNvPr id="9" name="common-purpose">
            <a:extLst xmlns:a="http://schemas.openxmlformats.org/drawingml/2006/main">
              <a:ext uri="{FF2B5EF4-FFF2-40B4-BE49-F238E27FC236}">
                <a16:creationId xmlns:a16="http://schemas.microsoft.com/office/drawing/2014/main" id="{90F69C72-5446-462B-8C46-671DF276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ใช้ร่วมกันเพื่อสร้างงานที่ทำได้จริงและดูแลต่อได้</a:t>
            </a:r>
          </a:p>
        </p:txBody>
      </p:sp>
    </p:spTree>
    <p:extLst>
      <p:ext uri="{BB962C8B-B14F-4D97-AF65-F5344CB8AC3E}">
        <p14:creationId xmlns:p14="http://schemas.microsoft.com/office/powerpoint/2010/main" val="592897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729395FE-FCB3-45AC-9320-E03C30D6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n8n กับลำดับงานอัตโนมัติ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8665FB5-BEC1-4C36-BBC2-2C0ACFE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3" name="number-01">
            <a:extLst xmlns:a="http://schemas.openxmlformats.org/drawingml/2006/main">
              <a:ext uri="{FF2B5EF4-FFF2-40B4-BE49-F238E27FC236}">
                <a16:creationId xmlns:a16="http://schemas.microsoft.com/office/drawing/2014/main" id="{014AF345-260E-4D18-8817-604CC7B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4" name="heading-01">
            <a:extLst xmlns:a="http://schemas.openxmlformats.org/drawingml/2006/main">
              <a:ext uri="{FF2B5EF4-FFF2-40B4-BE49-F238E27FC236}">
                <a16:creationId xmlns:a16="http://schemas.microsoft.com/office/drawing/2014/main" id="{513BB149-58B0-481A-ABEF-EFF6BA4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526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รับข้อมูล</a:t>
            </a:r>
          </a:p>
        </p:txBody>
      </p:sp>
      <p:sp>
        <p:nvSpPr>
          <p:cNvPr id="5" name="body-01">
            <a:extLst xmlns:a="http://schemas.openxmlformats.org/drawingml/2006/main">
              <a:ext uri="{FF2B5EF4-FFF2-40B4-BE49-F238E27FC236}">
                <a16:creationId xmlns:a16="http://schemas.microsoft.com/office/drawing/2014/main" id="{B021E8A8-CEC6-43CB-A00E-4D9BAA30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จากฟอร์ม อีเมล หรือเหตุการณ์</a:t>
            </a:r>
          </a:p>
        </p:txBody>
      </p:sp>
      <p:sp>
        <p:nvSpPr>
          <p:cNvPr id="6" name="number-02">
            <a:extLst xmlns:a="http://schemas.openxmlformats.org/drawingml/2006/main">
              <a:ext uri="{FF2B5EF4-FFF2-40B4-BE49-F238E27FC236}">
                <a16:creationId xmlns:a16="http://schemas.microsoft.com/office/drawing/2014/main" id="{A495B9BA-8F6E-46D7-93FA-3A86AFA9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7" name="heading-02">
            <a:extLst xmlns:a="http://schemas.openxmlformats.org/drawingml/2006/main">
              <a:ext uri="{FF2B5EF4-FFF2-40B4-BE49-F238E27FC236}">
                <a16:creationId xmlns:a16="http://schemas.microsoft.com/office/drawing/2014/main" id="{7FFEB461-3EA4-41BC-9F6C-88DE10A7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22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เชื่อมและจัดข้อมูล</a:t>
            </a:r>
          </a:p>
        </p:txBody>
      </p:sp>
      <p:sp>
        <p:nvSpPr>
          <p:cNvPr id="8" name="body-02">
            <a:extLst xmlns:a="http://schemas.openxmlformats.org/drawingml/2006/main">
              <a:ext uri="{FF2B5EF4-FFF2-40B4-BE49-F238E27FC236}">
                <a16:creationId xmlns:a16="http://schemas.microsoft.com/office/drawing/2014/main" id="{F3C4269C-0BC2-45A6-ADC2-ECC72185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4802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เรียก API และเตรียมข้อมูลสำหรับขั้นถัดไป</a:t>
            </a:r>
          </a:p>
        </p:txBody>
      </p:sp>
      <p:sp>
        <p:nvSpPr>
          <p:cNvPr id="9" name="number-03">
            <a:extLst xmlns:a="http://schemas.openxmlformats.org/drawingml/2006/main">
              <a:ext uri="{FF2B5EF4-FFF2-40B4-BE49-F238E27FC236}">
                <a16:creationId xmlns:a16="http://schemas.microsoft.com/office/drawing/2014/main" id="{236A7355-0EE7-4DAC-A9F0-23897736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0" name="heading-03">
            <a:extLst xmlns:a="http://schemas.openxmlformats.org/drawingml/2006/main">
              <a:ext uri="{FF2B5EF4-FFF2-40B4-BE49-F238E27FC236}">
                <a16:creationId xmlns:a16="http://schemas.microsoft.com/office/drawing/2014/main" id="{9754250E-B5AE-47A5-B6AE-62B0BC9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ให้ AI ช่วยประมวลผล</a:t>
            </a:r>
          </a:p>
        </p:txBody>
      </p:sp>
      <p:sp>
        <p:nvSpPr>
          <p:cNvPr id="11" name="body-03">
            <a:extLst xmlns:a="http://schemas.openxmlformats.org/drawingml/2006/main">
              <a:ext uri="{FF2B5EF4-FFF2-40B4-BE49-F238E27FC236}">
                <a16:creationId xmlns:a16="http://schemas.microsoft.com/office/drawing/2014/main" id="{C2155B99-BFFE-4585-92EA-753D30A5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576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อ่าน ตีความ จัดหมวด หรือร่างข้อความ</a:t>
            </a:r>
          </a:p>
        </p:txBody>
      </p:sp>
      <p:sp>
        <p:nvSpPr>
          <p:cNvPr id="12" name="number-04">
            <a:extLst xmlns:a="http://schemas.openxmlformats.org/drawingml/2006/main">
              <a:ext uri="{FF2B5EF4-FFF2-40B4-BE49-F238E27FC236}">
                <a16:creationId xmlns:a16="http://schemas.microsoft.com/office/drawing/2014/main" id="{10CBBF8F-3C72-4178-B326-5E68AA1E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3" name="heading-04">
            <a:extLst xmlns:a="http://schemas.openxmlformats.org/drawingml/2006/main">
              <a:ext uri="{FF2B5EF4-FFF2-40B4-BE49-F238E27FC236}">
                <a16:creationId xmlns:a16="http://schemas.microsoft.com/office/drawing/2014/main" id="{2A948176-53BE-4920-92CA-4E434F0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815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ส่งต่อและเก็บสถานะ</a:t>
            </a:r>
          </a:p>
        </p:txBody>
      </p:sp>
      <p:sp>
        <p:nvSpPr>
          <p:cNvPr id="14" name="body-04">
            <a:extLst xmlns:a="http://schemas.openxmlformats.org/drawingml/2006/main">
              <a:ext uri="{FF2B5EF4-FFF2-40B4-BE49-F238E27FC236}">
                <a16:creationId xmlns:a16="http://schemas.microsoft.com/office/drawing/2014/main" id="{B08EA97A-2D2A-486B-90AE-DF2974B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6732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ส่งผลลัพธ์พร้อมบันทึกว่าแต่ละงานถึงขั้นใด</a:t>
            </a:r>
          </a:p>
        </p:txBody>
      </p:sp>
      <p:sp>
        <p:nvSpPr>
          <p:cNvPr id="15" name="examples">
            <a:extLst xmlns:a="http://schemas.openxmlformats.org/drawingml/2006/main">
              <a:ext uri="{FF2B5EF4-FFF2-40B4-BE49-F238E27FC236}">
                <a16:creationId xmlns:a16="http://schemas.microsoft.com/office/drawing/2014/main" id="{DC4315EA-C618-4AB1-A53E-22D89877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ตัวอย่างในคลิป: งานอีเมล งานขาย CRM และการอ่านเอกสาร</a:t>
            </a:r>
          </a:p>
        </p:txBody>
      </p:sp>
    </p:spTree>
    <p:extLst>
      <p:ext uri="{BB962C8B-B14F-4D97-AF65-F5344CB8AC3E}">
        <p14:creationId xmlns:p14="http://schemas.microsoft.com/office/powerpoint/2010/main" val="1108047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8055D40-F6BE-4406-AD2C-A94B3147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Agent ฐานความรู้ และความจำ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DCA94E-149D-44CC-A966-B310D1CF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3" name="agent-term">
            <a:extLst xmlns:a="http://schemas.openxmlformats.org/drawingml/2006/main">
              <a:ext uri="{FF2B5EF4-FFF2-40B4-BE49-F238E27FC236}">
                <a16:creationId xmlns:a16="http://schemas.microsoft.com/office/drawing/2014/main" id="{1ADBF972-FA1E-47E8-A689-73FFDC79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Agent</a:t>
            </a:r>
          </a:p>
        </p:txBody>
      </p:sp>
      <p:sp>
        <p:nvSpPr>
          <p:cNvPr id="4" name="agent-def">
            <a:extLst xmlns:a="http://schemas.openxmlformats.org/drawingml/2006/main">
              <a:ext uri="{FF2B5EF4-FFF2-40B4-BE49-F238E27FC236}">
                <a16:creationId xmlns:a16="http://schemas.microsoft.com/office/drawing/2014/main" id="{57F9271C-4984-4B40-B683-001610F1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85975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ใช้เครื่องมือและทำงานตามบทบาทที่กำหนด</a:t>
            </a:r>
          </a:p>
        </p:txBody>
      </p:sp>
      <p:sp>
        <p:nvSpPr>
          <p:cNvPr id="5" name="knowledge-term">
            <a:extLst xmlns:a="http://schemas.openxmlformats.org/drawingml/2006/main">
              <a:ext uri="{FF2B5EF4-FFF2-40B4-BE49-F238E27FC236}">
                <a16:creationId xmlns:a16="http://schemas.microsoft.com/office/drawing/2014/main" id="{02D1716E-5A00-4D2F-B824-033335C8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ฐานความรู้</a:t>
            </a:r>
          </a:p>
        </p:txBody>
      </p:sp>
      <p:sp>
        <p:nvSpPr>
          <p:cNvPr id="6" name="knowledge-def">
            <a:extLst xmlns:a="http://schemas.openxmlformats.org/drawingml/2006/main">
              <a:ext uri="{FF2B5EF4-FFF2-40B4-BE49-F238E27FC236}">
                <a16:creationId xmlns:a16="http://schemas.microsoft.com/office/drawing/2014/main" id="{0B5E458F-59BE-46FD-9633-5F59DA38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67075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ข้อมูลสำหรับค้นและประกอบคำตอบ</a:t>
            </a:r>
          </a:p>
        </p:txBody>
      </p:sp>
      <p:sp>
        <p:nvSpPr>
          <p:cNvPr id="7" name="memory-term">
            <a:extLst xmlns:a="http://schemas.openxmlformats.org/drawingml/2006/main">
              <a:ext uri="{FF2B5EF4-FFF2-40B4-BE49-F238E27FC236}">
                <a16:creationId xmlns:a16="http://schemas.microsoft.com/office/drawing/2014/main" id="{7C3E1495-1075-4486-B25C-87C590C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ความจำ</a:t>
            </a:r>
          </a:p>
        </p:txBody>
      </p:sp>
      <p:sp>
        <p:nvSpPr>
          <p:cNvPr id="8" name="memory-def">
            <a:extLst xmlns:a="http://schemas.openxmlformats.org/drawingml/2006/main">
              <a:ext uri="{FF2B5EF4-FFF2-40B4-BE49-F238E27FC236}">
                <a16:creationId xmlns:a16="http://schemas.microsoft.com/office/drawing/2014/main" id="{E809804B-D486-4E3F-B73B-C8552CF8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48175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บริบทจากงานหรือการสนทนาก่อนหน้า</a:t>
            </a:r>
          </a:p>
        </p:txBody>
      </p:sp>
      <p:sp>
        <p:nvSpPr>
          <p:cNvPr id="9" name="examples">
            <a:extLst xmlns:a="http://schemas.openxmlformats.org/drawingml/2006/main">
              <a:ext uri="{FF2B5EF4-FFF2-40B4-BE49-F238E27FC236}">
                <a16:creationId xmlns:a16="http://schemas.microsoft.com/office/drawing/2014/main" id="{C7D7C669-86B1-4AAF-8DCE-0E4FB41D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ตัวอย่างในคลิป: Google Sheets เป็นฐานความรู้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และการแบ่งงานผลิตเนื้อหาให้หลาย Agent</a:t>
            </a:r>
          </a:p>
        </p:txBody>
      </p:sp>
    </p:spTree>
    <p:extLst>
      <p:ext uri="{BB962C8B-B14F-4D97-AF65-F5344CB8AC3E}">
        <p14:creationId xmlns:p14="http://schemas.microsoft.com/office/powerpoint/2010/main" val="1227389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4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F8221D8C-589E-473B-8F89-82A9D5FA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การดูแล workflow เมื่อใช้งานต่อเนื่อง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982EE4-C640-4148-B440-3CFC93F8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3" name="number-01">
            <a:extLst xmlns:a="http://schemas.openxmlformats.org/drawingml/2006/main">
              <a:ext uri="{FF2B5EF4-FFF2-40B4-BE49-F238E27FC236}">
                <a16:creationId xmlns:a16="http://schemas.microsoft.com/office/drawing/2014/main" id="{5DDD22A4-5E39-4CCA-96D2-A1B47C59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4" name="heading-01">
            <a:extLst xmlns:a="http://schemas.openxmlformats.org/drawingml/2006/main">
              <a:ext uri="{FF2B5EF4-FFF2-40B4-BE49-F238E27FC236}">
                <a16:creationId xmlns:a16="http://schemas.microsoft.com/office/drawing/2014/main" id="{E852AE20-BAD1-440A-BF0B-DDE1FCC1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669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จุดอนุมัติโดยคน</a:t>
            </a:r>
          </a:p>
        </p:txBody>
      </p:sp>
      <p:sp>
        <p:nvSpPr>
          <p:cNvPr id="5" name="body-01">
            <a:extLst xmlns:a="http://schemas.openxmlformats.org/drawingml/2006/main">
              <a:ext uri="{FF2B5EF4-FFF2-40B4-BE49-F238E27FC236}">
                <a16:creationId xmlns:a16="http://schemas.microsoft.com/office/drawing/2014/main" id="{088705D7-C90F-4F1A-8F4C-41951C9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526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ให้ผู้รับผิดชอบตรวจงานก่อนดำเนินการต่อ</a:t>
            </a:r>
          </a:p>
        </p:txBody>
      </p:sp>
      <p:sp>
        <p:nvSpPr>
          <p:cNvPr id="6" name="number-02">
            <a:extLst xmlns:a="http://schemas.openxmlformats.org/drawingml/2006/main">
              <a:ext uri="{FF2B5EF4-FFF2-40B4-BE49-F238E27FC236}">
                <a16:creationId xmlns:a16="http://schemas.microsoft.com/office/drawing/2014/main" id="{F2F746A2-7BE0-416D-A2AD-0FD6592F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7" name="heading-02">
            <a:extLst xmlns:a="http://schemas.openxmlformats.org/drawingml/2006/main">
              <a:ext uri="{FF2B5EF4-FFF2-40B4-BE49-F238E27FC236}">
                <a16:creationId xmlns:a16="http://schemas.microsoft.com/office/drawing/2014/main" id="{852C4CFD-C8DA-4320-9A1F-3F1A895A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242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ข้อผิดพลาดและการทำงานซ้ำ</a:t>
            </a:r>
          </a:p>
        </p:txBody>
      </p:sp>
      <p:sp>
        <p:nvSpPr>
          <p:cNvPr id="8" name="body-02">
            <a:extLst xmlns:a="http://schemas.openxmlformats.org/drawingml/2006/main">
              <a:ext uri="{FF2B5EF4-FFF2-40B4-BE49-F238E27FC236}">
                <a16:creationId xmlns:a16="http://schemas.microsoft.com/office/drawing/2014/main" id="{36EDBD97-6DF0-44E8-8C17-3AEE5890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99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มีวิธีลองใหม่และทางเลือกสำรอง</a:t>
            </a:r>
          </a:p>
        </p:txBody>
      </p:sp>
      <p:sp>
        <p:nvSpPr>
          <p:cNvPr id="9" name="number-03">
            <a:extLst xmlns:a="http://schemas.openxmlformats.org/drawingml/2006/main">
              <a:ext uri="{FF2B5EF4-FFF2-40B4-BE49-F238E27FC236}">
                <a16:creationId xmlns:a16="http://schemas.microsoft.com/office/drawing/2014/main" id="{30A3679A-3AEF-46FA-8526-C2E25B71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0" name="heading-03">
            <a:extLst xmlns:a="http://schemas.openxmlformats.org/drawingml/2006/main">
              <a:ext uri="{FF2B5EF4-FFF2-40B4-BE49-F238E27FC236}">
                <a16:creationId xmlns:a16="http://schemas.microsoft.com/office/drawing/2014/main" id="{D0C1FDC5-5FE5-4A46-A102-5CBD165D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การติดตามงานและต้นทุน</a:t>
            </a:r>
          </a:p>
        </p:txBody>
      </p:sp>
      <p:sp>
        <p:nvSpPr>
          <p:cNvPr id="11" name="body-03">
            <a:extLst xmlns:a="http://schemas.openxmlformats.org/drawingml/2006/main">
              <a:ext uri="{FF2B5EF4-FFF2-40B4-BE49-F238E27FC236}">
                <a16:creationId xmlns:a16="http://schemas.microsoft.com/office/drawing/2014/main" id="{E3D9710E-0CA0-4233-B102-09A35702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672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ดูงานที่ล้มเหลวและการใช้ token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B63B96D0-BBBB-4AB8-A7F7-97F938F6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คุณค่าของระบบต้องรวมเวลาที่คนใช้ตรวจแก้ด้วย</a:t>
            </a:r>
          </a:p>
        </p:txBody>
      </p:sp>
    </p:spTree>
    <p:extLst>
      <p:ext uri="{BB962C8B-B14F-4D97-AF65-F5344CB8AC3E}">
        <p14:creationId xmlns:p14="http://schemas.microsoft.com/office/powerpoint/2010/main" val="2065296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CACA1510-3B53-459A-A81A-CF96B4F0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กรอบคิดในการออกแบบระบบ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62BC01-AC08-4330-B087-5E93C0BE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3" name="number-01">
            <a:extLst xmlns:a="http://schemas.openxmlformats.org/drawingml/2006/main">
              <a:ext uri="{FF2B5EF4-FFF2-40B4-BE49-F238E27FC236}">
                <a16:creationId xmlns:a16="http://schemas.microsoft.com/office/drawing/2014/main" id="{852BDE24-B07C-48D7-A192-57B8204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4" name="heading-01">
            <a:extLst xmlns:a="http://schemas.openxmlformats.org/drawingml/2006/main">
              <a:ext uri="{FF2B5EF4-FFF2-40B4-BE49-F238E27FC236}">
                <a16:creationId xmlns:a16="http://schemas.microsoft.com/office/drawing/2014/main" id="{3130E9A4-A287-4439-B277-CA07575D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478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ทำโจทย์ให้ชัด</a:t>
            </a:r>
          </a:p>
        </p:txBody>
      </p:sp>
      <p:sp>
        <p:nvSpPr>
          <p:cNvPr id="5" name="body-01">
            <a:extLst xmlns:a="http://schemas.openxmlformats.org/drawingml/2006/main">
              <a:ext uri="{FF2B5EF4-FFF2-40B4-BE49-F238E27FC236}">
                <a16:creationId xmlns:a16="http://schemas.microsoft.com/office/drawing/2014/main" id="{DCAA851C-0A78-450E-9C07-48A6B2C1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3362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ผู้ใช้ กรณีใช้งาน ขอบเขต และเป้าหมายคุณภาพ</a:t>
            </a:r>
          </a:p>
        </p:txBody>
      </p:sp>
      <p:sp>
        <p:nvSpPr>
          <p:cNvPr id="6" name="number-02">
            <a:extLst xmlns:a="http://schemas.openxmlformats.org/drawingml/2006/main">
              <a:ext uri="{FF2B5EF4-FFF2-40B4-BE49-F238E27FC236}">
                <a16:creationId xmlns:a16="http://schemas.microsoft.com/office/drawing/2014/main" id="{B41416A1-AFBF-4D85-AE9C-E0851AEC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7" name="heading-02">
            <a:extLst xmlns:a="http://schemas.openxmlformats.org/drawingml/2006/main">
              <a:ext uri="{FF2B5EF4-FFF2-40B4-BE49-F238E27FC236}">
                <a16:creationId xmlns:a16="http://schemas.microsoft.com/office/drawing/2014/main" id="{9010ED98-1A8B-4DCC-9CA5-547D92CD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623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กำหนดข้อมูลและ API</a:t>
            </a:r>
          </a:p>
        </p:txBody>
      </p:sp>
      <p:sp>
        <p:nvSpPr>
          <p:cNvPr id="8" name="body-02">
            <a:extLst xmlns:a="http://schemas.openxmlformats.org/drawingml/2006/main">
              <a:ext uri="{FF2B5EF4-FFF2-40B4-BE49-F238E27FC236}">
                <a16:creationId xmlns:a16="http://schemas.microsoft.com/office/drawing/2014/main" id="{2CD9B754-7039-4A02-8B6F-C8A074CD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480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ข้อมูลหลักอยู่ที่ใด และระบบสื่อสารกันอย่างไร</a:t>
            </a:r>
          </a:p>
        </p:txBody>
      </p:sp>
      <p:sp>
        <p:nvSpPr>
          <p:cNvPr id="9" name="number-03">
            <a:extLst xmlns:a="http://schemas.openxmlformats.org/drawingml/2006/main">
              <a:ext uri="{FF2B5EF4-FFF2-40B4-BE49-F238E27FC236}">
                <a16:creationId xmlns:a16="http://schemas.microsoft.com/office/drawing/2014/main" id="{76FBA2A6-D82D-4F64-96AA-987E9CFD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0" name="heading-03">
            <a:extLst xmlns:a="http://schemas.openxmlformats.org/drawingml/2006/main">
              <a:ext uri="{FF2B5EF4-FFF2-40B4-BE49-F238E27FC236}">
                <a16:creationId xmlns:a16="http://schemas.microsoft.com/office/drawing/2014/main" id="{EDA07CBD-4B45-4C09-AA9C-D75BF18F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วางสถาปัตยกรรม</a:t>
            </a:r>
          </a:p>
        </p:txBody>
      </p:sp>
      <p:sp>
        <p:nvSpPr>
          <p:cNvPr id="11" name="body-03">
            <a:extLst xmlns:a="http://schemas.openxmlformats.org/drawingml/2006/main">
              <a:ext uri="{FF2B5EF4-FFF2-40B4-BE49-F238E27FC236}">
                <a16:creationId xmlns:a16="http://schemas.microsoft.com/office/drawing/2014/main" id="{A38A3C19-F3C1-4356-B12F-DCF34FB0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6252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ส่วนประกอบ เส้นทางข้อมูล และคอขวดที่อาจเกิด</a:t>
            </a:r>
          </a:p>
        </p:txBody>
      </p:sp>
      <p:sp>
        <p:nvSpPr>
          <p:cNvPr id="12" name="tradeoffs">
            <a:extLst xmlns:a="http://schemas.openxmlformats.org/drawingml/2006/main">
              <a:ext uri="{FF2B5EF4-FFF2-40B4-BE49-F238E27FC236}">
                <a16:creationId xmlns:a16="http://schemas.microsoft.com/office/drawing/2014/main" id="{77D0FB1A-6ABD-4095-9ECF-228F380B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ทุกทางเลือกมีต้นทุน ความซับซ้อน และผลต่อการกู้คืนระบบ</a:t>
            </a:r>
          </a:p>
        </p:txBody>
      </p:sp>
    </p:spTree>
    <p:extLst>
      <p:ext uri="{BB962C8B-B14F-4D97-AF65-F5344CB8AC3E}">
        <p14:creationId xmlns:p14="http://schemas.microsoft.com/office/powerpoint/2010/main" val="893919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809AB6-7D92-410B-B130-0ADDB5C9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กรณีศึกษาและปัญหาที่ต่างกัน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FE79E4-9BDD-45AC-BE81-165D33D9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2C8E9-51B8-4A67-80AA-E6BD18E8F1A8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845344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กรณีศึกษา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ประเด็นออกแบบที่เนื้อหาครอบคลุม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</a:tr>
              <a:tr h="845344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Spotify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ข้อมูลเพลง API การจัดเก็บ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และการรองรับผู้ใช้จำนวนมาก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Booking.com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จำนวนคงเหลือ คำขอซ้ำ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และการจองพร้อมกัน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WhatsApp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14300" rIns="190500" bIns="114300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การสื่อสารทันที หลายอุปกรณ์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และการกลับมาออนไลน์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se-study-scope">
            <a:extLst xmlns:a="http://schemas.openxmlformats.org/drawingml/2006/main">
              <a:ext uri="{FF2B5EF4-FFF2-40B4-BE49-F238E27FC236}">
                <a16:creationId xmlns:a16="http://schemas.microsoft.com/office/drawing/2014/main" id="{DBA90BE1-11D5-49AF-82B4-83D06E7F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กรณีศึกษาเป็นแบบจำลองสำหรับเรียนรู้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ไม่ใช่รายละเอียดระบบภายในของบริษัท</a:t>
            </a:r>
          </a:p>
        </p:txBody>
      </p:sp>
    </p:spTree>
    <p:extLst>
      <p:ext uri="{BB962C8B-B14F-4D97-AF65-F5344CB8AC3E}">
        <p14:creationId xmlns:p14="http://schemas.microsoft.com/office/powerpoint/2010/main" val="1575735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AFC8C2D-3A89-40D4-815C-4AADF5E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บทเรียนร่วมจากสองคลิป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9B6AA8-3CA6-4172-A38A-1ADD084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3" name="workflow-heading">
            <a:extLst xmlns:a="http://schemas.openxmlformats.org/drawingml/2006/main">
              <a:ext uri="{FF2B5EF4-FFF2-40B4-BE49-F238E27FC236}">
                <a16:creationId xmlns:a16="http://schemas.microsoft.com/office/drawing/2014/main" id="{7E1529E4-80FD-4A6F-88EE-77A30D09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n8n และ AI</a:t>
            </a:r>
          </a:p>
        </p:txBody>
      </p:sp>
      <p:sp>
        <p:nvSpPr>
          <p:cNvPr id="4" name="workflow-point">
            <a:extLst xmlns:a="http://schemas.openxmlformats.org/drawingml/2006/main">
              <a:ext uri="{FF2B5EF4-FFF2-40B4-BE49-F238E27FC236}">
                <a16:creationId xmlns:a16="http://schemas.microsoft.com/office/drawing/2014/main" id="{5D7782B5-09F7-4EA9-B262-8F4720AB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เชื่อมขั้นตอนให้ทำงาน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ครบกระบวนการ</a:t>
            </a:r>
          </a:p>
        </p:txBody>
      </p:sp>
      <p:sp>
        <p:nvSpPr>
          <p:cNvPr id="5" name="system-heading">
            <a:extLst xmlns:a="http://schemas.openxmlformats.org/drawingml/2006/main">
              <a:ext uri="{FF2B5EF4-FFF2-40B4-BE49-F238E27FC236}">
                <a16:creationId xmlns:a16="http://schemas.microsoft.com/office/drawing/2014/main" id="{F14B9D41-AF86-4B8A-BE0E-141BFC3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System Design</a:t>
            </a:r>
          </a:p>
        </p:txBody>
      </p:sp>
      <p:sp>
        <p:nvSpPr>
          <p:cNvPr id="6" name="system-point">
            <a:extLst xmlns:a="http://schemas.openxmlformats.org/drawingml/2006/main">
              <a:ext uri="{FF2B5EF4-FFF2-40B4-BE49-F238E27FC236}">
                <a16:creationId xmlns:a16="http://schemas.microsoft.com/office/drawing/2014/main" id="{8272B71F-EC59-43CB-8CA0-424BE8B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24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อธิบายว่าระบบรักษาข้อมูล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และรับมือปัญหาอย่างไร</a:t>
            </a:r>
          </a:p>
        </p:txBody>
      </p:sp>
      <p:sp>
        <p:nvSpPr>
          <p:cNvPr id="7" name="common-label">
            <a:extLst xmlns:a="http://schemas.openxmlformats.org/drawingml/2006/main">
              <a:ext uri="{FF2B5EF4-FFF2-40B4-BE49-F238E27FC236}">
                <a16:creationId xmlns:a16="http://schemas.microsoft.com/office/drawing/2014/main" id="{0AAD1B12-F515-43A7-B81E-EFDF3E18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หลักที่ใช้ร่วมกัน</a:t>
            </a:r>
          </a:p>
        </p:txBody>
      </p:sp>
      <p:sp>
        <p:nvSpPr>
          <p:cNvPr id="8" name="common-list">
            <a:extLst xmlns:a="http://schemas.openxmlformats.org/drawingml/2006/main">
              <a:ext uri="{FF2B5EF4-FFF2-40B4-BE49-F238E27FC236}">
                <a16:creationId xmlns:a16="http://schemas.microsoft.com/office/drawing/2014/main" id="{29014F54-0485-4D8A-ADD2-E06F81FC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477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ข้อมูลเข้าออกชัดเจน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ป้องกันงานซ้ำและตามงานค้างได้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มีผู้รับผิดชอบเมื่อระบบต้องการการตัดสินใจ</a:t>
            </a:r>
          </a:p>
        </p:txBody>
      </p:sp>
    </p:spTree>
    <p:extLst>
      <p:ext uri="{BB962C8B-B14F-4D97-AF65-F5344CB8AC3E}">
        <p14:creationId xmlns:p14="http://schemas.microsoft.com/office/powerpoint/2010/main" val="881513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61819545-1B67-458A-BC56-0C25744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ระบบรับลูกค้าจากเว็บไซต์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1B8D66-C7AF-4509-957F-464F7470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3" name="proposal-label">
            <a:extLst xmlns:a="http://schemas.openxmlformats.org/drawingml/2006/main">
              <a:ext uri="{FF2B5EF4-FFF2-40B4-BE49-F238E27FC236}">
                <a16:creationId xmlns:a16="http://schemas.microsoft.com/office/drawing/2014/main" id="{259CC6D2-162E-4D0A-96F3-4F09F6CD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ตัวอย่างที่รายงานเสนอ</a:t>
            </a:r>
          </a:p>
        </p:txBody>
      </p:sp>
      <p:sp>
        <p:nvSpPr>
          <p:cNvPr id="4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BA60B841-98B2-4490-8531-38965081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ลำดับงาน</a:t>
            </a:r>
          </a:p>
        </p:txBody>
      </p:sp>
      <p:sp>
        <p:nvSpPr>
          <p:cNvPr id="5" name="proposed-process">
            <a:extLst xmlns:a="http://schemas.openxmlformats.org/drawingml/2006/main">
              <a:ext uri="{FF2B5EF4-FFF2-40B4-BE49-F238E27FC236}">
                <a16:creationId xmlns:a16="http://schemas.microsoft.com/office/drawing/2014/main" id="{F9529CFB-1B85-434D-B05F-DB77F1A4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61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1  รับฟอร์มและตรวจข้อมูล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2  บันทึกลูกค้าพร้อมรหัสคำขอ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3  ให้ AI จัดหมวดและร่างคำตอบ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4  คนตรวจอนุมัติก่อนส่ง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5  บันทึกผลและติดตามงานค้าง</a:t>
            </a:r>
          </a:p>
        </p:txBody>
      </p:sp>
      <p:sp>
        <p:nvSpPr>
          <p:cNvPr id="6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2B991002-BB6D-47CA-BBB8-EC875E36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764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การแบ่งหน้าที่ของระบบ</a:t>
            </a:r>
          </a:p>
        </p:txBody>
      </p:sp>
      <p:sp>
        <p:nvSpPr>
          <p:cNvPr id="7" name="n8n-role">
            <a:extLst xmlns:a="http://schemas.openxmlformats.org/drawingml/2006/main">
              <a:ext uri="{FF2B5EF4-FFF2-40B4-BE49-F238E27FC236}">
                <a16:creationId xmlns:a16="http://schemas.microsoft.com/office/drawing/2014/main" id="{3F2C8D09-332E-4AD6-B028-525AEB84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n8n ประสานขั้นตอน</a:t>
            </a:r>
          </a:p>
        </p:txBody>
      </p:sp>
      <p:sp>
        <p:nvSpPr>
          <p:cNvPr id="8" name="data-role">
            <a:extLst xmlns:a="http://schemas.openxmlformats.org/drawingml/2006/main">
              <a:ext uri="{FF2B5EF4-FFF2-40B4-BE49-F238E27FC236}">
                <a16:creationId xmlns:a16="http://schemas.microsoft.com/office/drawing/2014/main" id="{FCF685D9-EBE0-42B1-A3CF-C4837838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81425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ที่เก็บข้อมูลหลักรักษา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183247"/>
                </a:solidFill>
                <a:latin typeface="Leelawadee UI"/>
                <a:ea typeface="Leelawadee UI"/>
                <a:cs typeface="Leelawadee UI"/>
              </a:rPr>
              <a:t>สถานะและประวัติ</a:t>
            </a:r>
          </a:p>
        </p:txBody>
      </p:sp>
      <p:sp>
        <p:nvSpPr>
          <p:cNvPr id="9" name="metrics">
            <a:extLst xmlns:a="http://schemas.openxmlformats.org/drawingml/2006/main">
              <a:ext uri="{FF2B5EF4-FFF2-40B4-BE49-F238E27FC236}">
                <a16:creationId xmlns:a16="http://schemas.microsoft.com/office/drawing/2014/main" id="{A5B0C022-1D73-4924-9388-FD7E2E85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วัดเวลาตอบกลับ ข้อมูลตกหล่น และงานที่ต้องแก้</a:t>
            </a:r>
          </a:p>
        </p:txBody>
      </p:sp>
    </p:spTree>
    <p:extLst>
      <p:ext uri="{BB962C8B-B14F-4D97-AF65-F5344CB8AC3E}">
        <p14:creationId xmlns:p14="http://schemas.microsoft.com/office/powerpoint/2010/main" val="2333362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45509406-9C88-45EC-A497-8AF39FD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บทสรุปและแนวทางต่อยอด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7B1473-8CAF-4A9D-A84B-0B84C7E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3" name="closing-one">
            <a:extLst xmlns:a="http://schemas.openxmlformats.org/drawingml/2006/main">
              <a:ext uri="{FF2B5EF4-FFF2-40B4-BE49-F238E27FC236}">
                <a16:creationId xmlns:a16="http://schemas.microsoft.com/office/drawing/2014/main" id="{EFF14216-0985-4165-BAF8-4A2334D8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เชื่อมขั้นตอนด้วย n8n</a:t>
            </a:r>
          </a:p>
        </p:txBody>
      </p:sp>
      <p:sp>
        <p:nvSpPr>
          <p:cNvPr id="4" name="closing-two">
            <a:extLst xmlns:a="http://schemas.openxmlformats.org/drawingml/2006/main">
              <a:ext uri="{FF2B5EF4-FFF2-40B4-BE49-F238E27FC236}">
                <a16:creationId xmlns:a16="http://schemas.microsoft.com/office/drawing/2014/main" id="{5BFBFF4D-D98B-45FC-B824-E429E0F0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ตรวจโครงสร้างด้วย System Design</a:t>
            </a:r>
          </a:p>
        </p:txBody>
      </p:sp>
      <p:sp>
        <p:nvSpPr>
          <p:cNvPr id="5" name="documents-title">
            <a:extLst xmlns:a="http://schemas.openxmlformats.org/drawingml/2006/main">
              <a:ext uri="{FF2B5EF4-FFF2-40B4-BE49-F238E27FC236}">
                <a16:creationId xmlns:a16="http://schemas.microsoft.com/office/drawing/2014/main" id="{7973DC77-AF55-4762-913A-F2289292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งานเอกสารและงานเนื้อหา</a:t>
            </a:r>
          </a:p>
        </p:txBody>
      </p:sp>
      <p:sp>
        <p:nvSpPr>
          <p:cNvPr id="6" name="documents-point">
            <a:extLst xmlns:a="http://schemas.openxmlformats.org/drawingml/2006/main">
              <a:ext uri="{FF2B5EF4-FFF2-40B4-BE49-F238E27FC236}">
                <a16:creationId xmlns:a16="http://schemas.microsoft.com/office/drawing/2014/main" id="{1F8F9FC9-9859-49A9-9540-D17D6EDA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3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พัฒนาผู้ช่วยที่มีจุดตรวจคุณภาพ</a:t>
            </a:r>
          </a:p>
        </p:txBody>
      </p:sp>
      <p:sp>
        <p:nvSpPr>
          <p:cNvPr id="7" name="portfolio-title">
            <a:extLst xmlns:a="http://schemas.openxmlformats.org/drawingml/2006/main">
              <a:ext uri="{FF2B5EF4-FFF2-40B4-BE49-F238E27FC236}">
                <a16:creationId xmlns:a16="http://schemas.microsoft.com/office/drawing/2014/main" id="{68CC2C8F-ECAF-4872-8559-83F5B389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38575"/>
            <a:ext cx="4733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ผลงานและงานรับจ้าง</a:t>
            </a:r>
          </a:p>
        </p:txBody>
      </p:sp>
      <p:sp>
        <p:nvSpPr>
          <p:cNvPr id="8" name="portfolio-point">
            <a:extLst xmlns:a="http://schemas.openxmlformats.org/drawingml/2006/main">
              <a:ext uri="{FF2B5EF4-FFF2-40B4-BE49-F238E27FC236}">
                <a16:creationId xmlns:a16="http://schemas.microsoft.com/office/drawing/2014/main" id="{4FD777A6-D468-475C-AC94-B29754A2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429125"/>
            <a:ext cx="4733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แสดงต้นแบบ เหตุผลการออกแบบ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และผลลัพธ์ที่วัดได้</a:t>
            </a:r>
          </a:p>
        </p:txBody>
      </p:sp>
      <p:sp>
        <p:nvSpPr>
          <p:cNvPr id="9" name="closing-takeaway">
            <a:extLst xmlns:a="http://schemas.openxmlformats.org/drawingml/2006/main">
              <a:ext uri="{FF2B5EF4-FFF2-40B4-BE49-F238E27FC236}">
                <a16:creationId xmlns:a16="http://schemas.microsoft.com/office/drawing/2014/main" id="{32743827-6347-430E-AEDE-F0E7629E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เริ่มจากปัญหางานหนึ่งเรื่องที่อธิบายได้ชัด</a:t>
            </a:r>
          </a:p>
        </p:txBody>
      </p:sp>
    </p:spTree>
    <p:extLst>
      <p:ext uri="{BB962C8B-B14F-4D97-AF65-F5344CB8AC3E}">
        <p14:creationId xmlns:p14="http://schemas.microsoft.com/office/powerpoint/2010/main" val="2002416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2026-10-19T03:25:10.5190000Z</dcterms:created>
  <dcterms:modified xsi:type="dcterms:W3CDTF">2026-10-19T03:25:10.5200000Z</dcterms:modified>
</coreProperties>
</file>