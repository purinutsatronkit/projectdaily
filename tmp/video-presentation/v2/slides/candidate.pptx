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f545d8900440b8" /><Relationship Type="http://schemas.openxmlformats.org/officeDocument/2006/relationships/extended-properties" Target="/docProps/app.xml" Id="Rf699c1725c714a50" /><Relationship Type="http://schemas.openxmlformats.org/officeDocument/2006/relationships/officeDocument" Target="/ppt/presentation.xml" Id="Rb9ef47b3e42f41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688e3457984e7e"/>
  </p:sldMasterIdLst>
  <p:notesMasterIdLst>
    <p:notesMasterId xmlns:r="http://schemas.openxmlformats.org/officeDocument/2006/relationships" r:id="R227fc10180fc4d10"/>
  </p:notesMasterIdLst>
  <p:sldIdLst>
    <p:sldId xmlns:r="http://schemas.openxmlformats.org/officeDocument/2006/relationships" id="256" r:id="R50879f5cd65c4340"/>
    <p:sldId xmlns:r="http://schemas.openxmlformats.org/officeDocument/2006/relationships" id="257" r:id="R126f3f8fecf8465b"/>
    <p:sldId xmlns:r="http://schemas.openxmlformats.org/officeDocument/2006/relationships" id="258" r:id="R6d8cd2a7faa04be9"/>
    <p:sldId xmlns:r="http://schemas.openxmlformats.org/officeDocument/2006/relationships" id="259" r:id="R631e9ca84d0a4a06"/>
    <p:sldId xmlns:r="http://schemas.openxmlformats.org/officeDocument/2006/relationships" id="260" r:id="Rb0a3cb54bc8f487c"/>
    <p:sldId xmlns:r="http://schemas.openxmlformats.org/officeDocument/2006/relationships" id="261" r:id="Rc69dea4045304efb"/>
    <p:sldId xmlns:r="http://schemas.openxmlformats.org/officeDocument/2006/relationships" id="262" r:id="Rd4465cae62f642d1"/>
    <p:sldId xmlns:r="http://schemas.openxmlformats.org/officeDocument/2006/relationships" id="263" r:id="Re889c56d310d4d0b"/>
    <p:sldId xmlns:r="http://schemas.openxmlformats.org/officeDocument/2006/relationships" id="264" r:id="R1105694f0df94e7a"/>
    <p:sldId xmlns:r="http://schemas.openxmlformats.org/officeDocument/2006/relationships" id="265" r:id="R9e4472c346db4da2"/>
    <p:sldId xmlns:r="http://schemas.openxmlformats.org/officeDocument/2006/relationships" id="266" r:id="R033ace2f942a423b"/>
    <p:sldId xmlns:r="http://schemas.openxmlformats.org/officeDocument/2006/relationships" id="267" r:id="R60b6db7267aa473a"/>
    <p:sldId xmlns:r="http://schemas.openxmlformats.org/officeDocument/2006/relationships" id="268" r:id="R73465ab036cc4b75"/>
    <p:sldId xmlns:r="http://schemas.openxmlformats.org/officeDocument/2006/relationships" id="269" r:id="R165430b746cb43b7"/>
    <p:sldId xmlns:r="http://schemas.openxmlformats.org/officeDocument/2006/relationships" id="270" r:id="R81a86499a5694e72"/>
    <p:sldId xmlns:r="http://schemas.openxmlformats.org/officeDocument/2006/relationships" id="271" r:id="Rc86b9a1af04c4b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9b747b83734919" /><Relationship Type="http://schemas.openxmlformats.org/officeDocument/2006/relationships/slideMaster" Target="/ppt/slideMasters/slideMaster1.xml" Id="Ra4688e3457984e7e" /><Relationship Type="http://schemas.openxmlformats.org/officeDocument/2006/relationships/notesMaster" Target="/ppt/notesMasters/notesMaster1.xml" Id="R227fc10180fc4d10" /><Relationship Type="http://schemas.openxmlformats.org/officeDocument/2006/relationships/presProps" Target="/ppt/presProps.xml" Id="R251ae45f975f401a" /><Relationship Type="http://schemas.openxmlformats.org/officeDocument/2006/relationships/tableStyles" Target="/ppt/tableStyles.xml" Id="Rba8d8e0839154e64" /><Relationship Type="http://schemas.openxmlformats.org/officeDocument/2006/relationships/slide" Target="/ppt/slides/slide1.xml" Id="R50879f5cd65c4340" /><Relationship Type="http://schemas.openxmlformats.org/officeDocument/2006/relationships/slide" Target="/ppt/slides/slide2.xml" Id="R126f3f8fecf8465b" /><Relationship Type="http://schemas.openxmlformats.org/officeDocument/2006/relationships/slide" Target="/ppt/slides/slide3.xml" Id="R6d8cd2a7faa04be9" /><Relationship Type="http://schemas.openxmlformats.org/officeDocument/2006/relationships/slide" Target="/ppt/slides/slide4.xml" Id="R631e9ca84d0a4a06" /><Relationship Type="http://schemas.openxmlformats.org/officeDocument/2006/relationships/slide" Target="/ppt/slides/slide5.xml" Id="Rb0a3cb54bc8f487c" /><Relationship Type="http://schemas.openxmlformats.org/officeDocument/2006/relationships/slide" Target="/ppt/slides/slide6.xml" Id="Rc69dea4045304efb" /><Relationship Type="http://schemas.openxmlformats.org/officeDocument/2006/relationships/slide" Target="/ppt/slides/slide7.xml" Id="Rd4465cae62f642d1" /><Relationship Type="http://schemas.openxmlformats.org/officeDocument/2006/relationships/slide" Target="/ppt/slides/slide8.xml" Id="Re889c56d310d4d0b" /><Relationship Type="http://schemas.openxmlformats.org/officeDocument/2006/relationships/slide" Target="/ppt/slides/slide9.xml" Id="R1105694f0df94e7a" /><Relationship Type="http://schemas.openxmlformats.org/officeDocument/2006/relationships/slide" Target="/ppt/slides/slide10.xml" Id="R9e4472c346db4da2" /><Relationship Type="http://schemas.openxmlformats.org/officeDocument/2006/relationships/slide" Target="/ppt/slides/slide11.xml" Id="R033ace2f942a423b" /><Relationship Type="http://schemas.openxmlformats.org/officeDocument/2006/relationships/slide" Target="/ppt/slides/slide12.xml" Id="R60b6db7267aa473a" /><Relationship Type="http://schemas.openxmlformats.org/officeDocument/2006/relationships/slide" Target="/ppt/slides/slide13.xml" Id="R73465ab036cc4b75" /><Relationship Type="http://schemas.openxmlformats.org/officeDocument/2006/relationships/slide" Target="/ppt/slides/slide14.xml" Id="R165430b746cb43b7" /><Relationship Type="http://schemas.openxmlformats.org/officeDocument/2006/relationships/slide" Target="/ppt/slides/slide15.xml" Id="R81a86499a5694e72" /><Relationship Type="http://schemas.openxmlformats.org/officeDocument/2006/relationships/slide" Target="/ppt/slides/slide16.xml" Id="Rc86b9a1af04c4b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c3a168f63f44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d7c253ceef4586" /><Relationship Type="http://schemas.openxmlformats.org/officeDocument/2006/relationships/notesMaster" Target="/ppt/notesMasters/notesMaster1.xml" Id="Ra1cdcc243ee146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2de58d7e35402f" /><Relationship Type="http://schemas.openxmlformats.org/officeDocument/2006/relationships/notesMaster" Target="/ppt/notesMasters/notesMaster1.xml" Id="Ra5cc9996f85e48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cc8aacb4c544c8" /><Relationship Type="http://schemas.openxmlformats.org/officeDocument/2006/relationships/notesMaster" Target="/ppt/notesMasters/notesMaster1.xml" Id="R2b8ceced484743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815e3c636e442c" /><Relationship Type="http://schemas.openxmlformats.org/officeDocument/2006/relationships/notesMaster" Target="/ppt/notesMasters/notesMaster1.xml" Id="R0f1a3f1b17fa4f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9797e3c8d54c15" /><Relationship Type="http://schemas.openxmlformats.org/officeDocument/2006/relationships/notesMaster" Target="/ppt/notesMasters/notesMaster1.xml" Id="Rb7c6db30814644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779c59c26741a3" /><Relationship Type="http://schemas.openxmlformats.org/officeDocument/2006/relationships/notesMaster" Target="/ppt/notesMasters/notesMaster1.xml" Id="Rc45e59e4bfbc4f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ed06a440c94462" /><Relationship Type="http://schemas.openxmlformats.org/officeDocument/2006/relationships/notesMaster" Target="/ppt/notesMasters/notesMaster1.xml" Id="R41f493f9b64448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1699da9df44e8c" /><Relationship Type="http://schemas.openxmlformats.org/officeDocument/2006/relationships/notesMaster" Target="/ppt/notesMasters/notesMaster1.xml" Id="R25eea0f966014c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742d4f70a141a2" /><Relationship Type="http://schemas.openxmlformats.org/officeDocument/2006/relationships/notesMaster" Target="/ppt/notesMasters/notesMaster1.xml" Id="R1681c4982cdc46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22b4f123254b49" /><Relationship Type="http://schemas.openxmlformats.org/officeDocument/2006/relationships/notesMaster" Target="/ppt/notesMasters/notesMaster1.xml" Id="R6f2e0d8bebe845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a9dc5066ba426d" /><Relationship Type="http://schemas.openxmlformats.org/officeDocument/2006/relationships/notesMaster" Target="/ppt/notesMasters/notesMaster1.xml" Id="R3b953646896f49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da2662bc33475e" /><Relationship Type="http://schemas.openxmlformats.org/officeDocument/2006/relationships/notesMaster" Target="/ppt/notesMasters/notesMaster1.xml" Id="R719b9a71768d4e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b05da0d5a04927" /><Relationship Type="http://schemas.openxmlformats.org/officeDocument/2006/relationships/notesMaster" Target="/ppt/notesMasters/notesMaster1.xml" Id="R2a3e64c3527944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38cb2dc2b14b3a" /><Relationship Type="http://schemas.openxmlformats.org/officeDocument/2006/relationships/notesMaster" Target="/ppt/notesMasters/notesMaster1.xml" Id="R8cbeacf1f7bf4b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986645f02d4fc6" /><Relationship Type="http://schemas.openxmlformats.org/officeDocument/2006/relationships/notesMaster" Target="/ppt/notesMasters/notesMaster1.xml" Id="R005733cf3dd94db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07629e9b9a14084" /><Relationship Type="http://schemas.openxmlformats.org/officeDocument/2006/relationships/notesMaster" Target="/ppt/notesMasters/notesMaster1.xml" Id="Red291fcda0a841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บทพูดสไลด์ 1 (ประมาณ 50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สวัสดีทุกท่าน วันนี้จะนำเสนอความรู้จากวิดีโอสองเรื่องที่ช่วยให้มองการพัฒนาระบบได้ครบขึ้น เรื่องแรกคือการสร้างงานอัตโนมัติด้วย n8n และ AI ส่วนเรื่องที่สองคือการออกแบบระบบซอฟต์แวร์แบบวิศวกรอาวุโส ทั้งสองเผยแพร่โดย freeCodeCamp และให้มุมมองที่นำมาใช้ประกอบกันได้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เราจะเริ่มจากวิธีเชื่อมงานที่ทำซ้ำให้เป็นกระบวนการ แล้วค่อยพิจารณาว่าข้อมูลควรอยู่ที่ใด และถ้ามีงานซ้ำหรือบริการบางส่วนใช้ไม่ได้ ระบบจะจัดการอย่างไร แผนภาพที่ใช้เป็นแบบจำลองสำหรับอธิบาย ไม่ใช่รายละเอียดระบบภายในของบริษัทที่ยกมาเป็นกรณีศึกษา เป้าหมายคือให้เห็นเหตุผลของแต่ละขั้น และเลือกแนวคิดไปใช้กับปัญหาที่พบในงานของเรา ก่อนลงรายละเอียด ขอเริ่มจากภาพรวมว่าคลิปทั้งสองเติมความรู้ส่วนใดให้กัน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แหล่งข้อมูลสำหรับผู้บรรยาย</a:t>
            </a:r>
          </a:p>
          <a:p xmlns:a="http://schemas.openxmlformats.org/drawingml/2006/main">
            <a:r>
              <a:t>https://www.youtube.com/watch?v=YY-egxTQirA</a:t>
            </a:r>
          </a:p>
          <a:p xmlns:a="http://schemas.openxmlformats.org/drawingml/2006/main">
            <a:r>
              <a:t>https://www.youtube.com/watch?v=soTfFFIQQ8U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</a:t>
            </a:r>
          </a:p>
          <a:p xmlns:a="http://schemas.openxmlformats.org/drawingml/2006/main">
            <a:r>
              <a:t>สรุปวิดีโอจากคำอธิบาย สารบัญ บทความทางการของ freeCodeCamp และเนื้อหาบางช่วงที่ตรวจได้ ไม่ใช่คำถอดเสียงเต็ม แผนภาพและตัวอย่างข้อมูลเป็นแบบจำลองเพื่ออธิบายแนวคิดของผู้จัดทำ โดยใช้เอกสารทางการยืนยันหลักการเพิ่มเติม ไม่ใช่สถาปัตยกรรมภายในของ Spotify, Booking.com หรือ WhatsApp ระยะเวลาพูดเป็นค่าประมาณ แหล่งข้อมูลเก็บสำหรับ notes และ metadata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คำอธิบายแผนภาพ</a:t>
            </a:r>
          </a:p>
          <a:p xmlns:a="http://schemas.openxmlformats.org/drawingml/2006/main">
            <a:r>
              <a:t>กล่องสองด้านเชื่อมเข้าสู่ผลร่วมตรงกลาง ใช้รูปทรงและข้อความที่แก้ไขได้ ไม่มีโลโก้หรือภาพระบบจริงของบริษัท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บทพูดสไลด์ 2 (ประมาณ 55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คลิปแรกสอนการประกอบขั้นตอนให้ทำงานต่อเนื่องกัน โดยมีตัวอย่างทั้งอีเมล งานขาย เอกสาร และการผลิตเนื้อหา เราจึงได้เห็นว่าเครื่องมือหนึ่งส่งข้อมูลให้อีกเครื่องมืออย่างไร และ AI ควรเข้ามาช่วยตรงไหน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คลิปที่สองฝึกวิธีคิดเมื่อโจทย์ยังไม่ชัด เช่น ต้องรองรับผู้ใช้แบบใด ข้อมูลส่วนใดสำคัญ และส่วนประกอบต่าง ๆ ติดต่อกันอย่างไร ผู้สอนใช้ระบบเพลง ระบบจอง และระบบแชตเป็นโจทย์ให้เห็นว่าความต้องการต่างกัน ย่อมนำไปสู่การตัดสินใจต่างกัน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เมื่อนำมาใช้ร่วมกัน เราควรอธิบายได้ทั้งเส้นทางทำงานและเหตุผลของโครงสร้าง ตัวอย่างเช่น รับคำขอลูกค้าแล้วร่างคำตอบได้ ยังต้องรู้ด้วยว่าบันทึกคำขอไว้ที่ใด และจะเห็นรายการที่ส่งไม่สำเร็จได้อย่างไร ต่อไปเราจะเริ่มที่กระบวนการพื้นฐานใน n8n เพื่อให้เห็นภาพของข้อมูลที่ไหลผ่านแต่ละขั้น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แหล่งข้อมูลสำหรับผู้บรรยาย</a:t>
            </a:r>
          </a:p>
          <a:p xmlns:a="http://schemas.openxmlformats.org/drawingml/2006/main">
            <a:r>
              <a:t>https://www.freecodecamp.org/news/create-scalable-ai-automations-with-n8n</a:t>
            </a:r>
          </a:p>
          <a:p xmlns:a="http://schemas.openxmlformats.org/drawingml/2006/main">
            <a:r>
              <a:t>https://www.freecodecamp.org/news/learn-how-to-design-software-systems-like-a-senior-engineer-in-our-new-course/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</a:t>
            </a:r>
          </a:p>
          <a:p xmlns:a="http://schemas.openxmlformats.org/drawingml/2006/main">
            <a:r>
              <a:t>สรุปวิดีโอจากคำอธิบาย สารบัญ บทความทางการของ freeCodeCamp และเนื้อหาบางช่วงที่ตรวจได้ ไม่ใช่คำถอดเสียงเต็ม แผนภาพและตัวอย่างข้อมูลเป็นแบบจำลองเพื่ออธิบายแนวคิดของผู้จัดทำ โดยใช้เอกสารทางการยืนยันหลักการเพิ่มเติม ไม่ใช่สถาปัตยกรรมภายในของ Spotify, Booking.com หรือ WhatsApp ระยะเวลาพูดเป็นค่าประมาณ แหล่งข้อมูลเก็บสำหรับ notes และ metadata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คำอธิบายแผนภาพ</a:t>
            </a:r>
          </a:p>
          <a:p xmlns:a="http://schemas.openxmlformats.org/drawingml/2006/main">
            <a:r>
              <a:t>สองคอลัมน์เปรียบเทียบคำถามหลักและสิ่งที่ได้เรียนรู้ แล้วเชื่อมสู่แถบจุดร่วมด้านล่าง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บทพูดสไลด์ 3 (ประมาณ 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แนวคิดพื้นฐานของ n8n คือการเชื่อมโหนดให้เห็นลำดับการทำงาน โหนดเริ่มต้นอาจรับเหตุการณ์จากฟอร์มหรือบริการภายนอก จากนั้นแต่ละโหนดจึงรับข้อมูล ประมวลผล และส่งข้อมูลที่จำเป็นให้ขั้นต่อไป คลิปแสดงแนวคิดนี้ผ่านงานอีเมล งานขาย และเอกสารหลายรูปแบบ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ในตัวอย่างที่เรียบเรียงขึ้นนี้ มีลูกค้าส่งฟอร์มเข้ามา เราตรวจชื่อ ช่องทางติดต่อ และรายละเอียดงานก่อน ถ้าข้อมูลพร้อมจึงเรียก AI ให้ช่วยจัดหมวดหรือร่างคำตอบ แล้วส่งต่อเข้าระบบงาน แต่ถ้าข้อมูลไม่ครบ ควรแยกเป็นรายการรอตรวจ เพื่อให้ผู้รับผิดชอบขอข้อมูลเพิ่ม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ที่เก็บสถานะช่วยให้เราแยกได้ว่างานเพิ่งรับเข้า งานกำลังรอตรวจ หรืองานส่งต่อแล้ว การเชื่อมเครื่องมือจึงควรมาพร้อมคำอธิบายว่าแต่ละขั้นรับอะไรและส่งอะไร ข้อสำคัญถัดไปคือทำอย่างไรให้ข้อมูลจากคนและบริการต่าง ๆ อยู่ในรูปแบบที่ระบบใช้ร่วมกันได้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แหล่งข้อมูลสำหรับผู้บรรยาย</a:t>
            </a:r>
          </a:p>
          <a:p xmlns:a="http://schemas.openxmlformats.org/drawingml/2006/main">
            <a:r>
              <a:t>https://www.youtube.com/watch?v=YY-egxTQirA</a:t>
            </a:r>
          </a:p>
          <a:p xmlns:a="http://schemas.openxmlformats.org/drawingml/2006/main">
            <a:r>
              <a:t>https://www.freecodecamp.org/news/create-scalable-ai-automations-with-n8n</a:t>
            </a:r>
          </a:p>
          <a:p xmlns:a="http://schemas.openxmlformats.org/drawingml/2006/main">
            <a:r>
              <a:t>https://docs.n8n.io/build/understand-workflows/workflow-components/work-with-nodes.md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</a:t>
            </a:r>
          </a:p>
          <a:p xmlns:a="http://schemas.openxmlformats.org/drawingml/2006/main">
            <a:r>
              <a:t>สรุปวิดีโอจากคำอธิบาย สารบัญ บทความทางการของ freeCodeCamp และเนื้อหาบางช่วงที่ตรวจได้ ไม่ใช่คำถอดเสียงเต็ม แผนภาพและตัวอย่างข้อมูลเป็นแบบจำลองเพื่ออธิบายแนวคิดของผู้จัดทำ โดยใช้เอกสารทางการยืนยันหลักการเพิ่มเติม ไม่ใช่สถาปัตยกรรมภายในของ Spotify, Booking.com หรือ WhatsApp ระยะเวลาพูดเป็นค่าประมาณ แหล่งข้อมูลเก็บสำหรับ notes และ metadata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คำอธิบายแผนภาพ</a:t>
            </a:r>
          </a:p>
          <a:p xmlns:a="http://schemas.openxmlformats.org/drawingml/2006/main">
            <a:r>
              <a:t>native editable flow จากซ้ายไปขวา รับฟอร์ม ตรวจข้อมูล เรียก AI ส่งต่องาน พร้อมสาขาข้อมูลไม่ครบและที่เก็บสถานะ ตัวอย่างผู้จัดทำอธิบายแนวคิดจากคลิป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บทพูดสไลด์ 4 (ประมาณ 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เมื่อเชื่อมหลายระบบ ข้อมูลที่เข้ามาอาจไม่ได้มีหน้าตาเหมือนกันเสมอ คลิปแรกกล่าวถึงการเรียก API และการใช้ JavaScript จัดข้อมูลให้พร้อมส่งต่อ ซึ่งเป็นพื้นฐานสำคัญก่อนนำ AI มาใช้ในกระบวนการ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ลองดูตัวอย่างสมมตินี้ ลูกค้าเขียนว่าต้องการทำเว็บไซต์ร้านและให้อีเมลติดต่อมา ข้อความเดียวมีหลายข้อมูล เราจึงแยกออกเป็นชื่อ อีเมล ประเภทงาน และรายละเอียด ส่วนงบประมาณที่ไม่ได้ให้มา ควรเก็บว่าไม่ระบุ แทนการให้ระบบคาดเดาเติมเอง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กฎที่แน่นอน เช่น ช่องอีเมลต้องมีค่าหรือข้อมูลต้องอยู่ในชนิดที่กำหนด สามารถตรวจด้วยเงื่อนไข ส่วน AI ช่วยอ่านและเสนอการจัดหมวดได้ หากข้อความกำกวมก็ส่งให้คนยืนยัน พร้อมข้อความต้นฉบับเพื่อเทียบตรวจ การมีรูปแบบกลางเช่นนี้ทำให้ขั้นถัดไปรู้ว่าจะอ่านข้อมูลจากช่องใด เมื่อข้อมูลพร้อมแล้ว เราจะมาดูว่า Agent ใช้เครื่องมือ ฐานความรู้ และความจำต่างกันอย่างไร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แหล่งข้อมูลสำหรับผู้บรรยาย</a:t>
            </a:r>
          </a:p>
          <a:p xmlns:a="http://schemas.openxmlformats.org/drawingml/2006/main">
            <a:r>
              <a:t>https://www.freecodecamp.org/news/create-scalable-ai-automations-with-n8n</a:t>
            </a:r>
          </a:p>
          <a:p xmlns:a="http://schemas.openxmlformats.org/drawingml/2006/main">
            <a:r>
              <a:t>https://docs.n8n.io/build/understand-workflows/workflow-components/work-with-nodes.md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</a:t>
            </a:r>
          </a:p>
          <a:p xmlns:a="http://schemas.openxmlformats.org/drawingml/2006/main">
            <a:r>
              <a:t>สรุปวิดีโอจากคำอธิบาย สารบัญ บทความทางการของ freeCodeCamp และเนื้อหาบางช่วงที่ตรวจได้ ไม่ใช่คำถอดเสียงเต็ม แผนภาพและตัวอย่างข้อมูลเป็นแบบจำลองเพื่ออธิบายแนวคิดของผู้จัดทำ โดยใช้เอกสารทางการยืนยันหลักการเพิ่มเติม ไม่ใช่สถาปัตยกรรมภายในของ Spotify, Booking.com หรือ WhatsApp ระยะเวลาพูดเป็นค่าประมาณ แหล่งข้อมูลเก็บสำหรับ notes และ metadata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คำอธิบายแผนภาพ</a:t>
            </a:r>
          </a:p>
          <a:p xmlns:a="http://schemas.openxmlformats.org/drawingml/2006/main">
            <a:r>
              <a:t>กล่อง before และ after พร้อมลูกศรผ่านการสกัดและตรวจข้อมูล ใช้ตัวอย่างสมมติทั่วไป ไม่ใช้ข้อมูลส่วนบุคคลจริง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บทพูดสไลด์ 5 (ประมาณ 65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คลิปแรกนำเสนอทั้ง Agent เครื่องมือ ฐานความรู้ และความจำ ภาพนี้แยกหน้าที่ให้เห็นชัดขึ้น โมเดลภาษาช่วยตีความคำขอและสร้างข้อความ ส่วน Agent ใช้โมเดลประกอบการเลือกว่าจะเรียกเครื่องมือใด เช่น ค้นข้อมูลจากตาราง หรือส่งคำขอไปยังระบบงาน แล้วนำผลกลับมาประมวลผลต่อ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ฐานความรู้กับความจำมีหน้าที่ต่างกัน สมมติผู้ใช้ถามว่าบริการทำเว็บไซต์มีอะไรบ้าง ฐานความรู้ควรให้ข้อมูลบริการที่ผู้จัดทำดูแลไว้ แต่ถ้าผู้ใช้บอกต่อว่าต้องการแบบที่คุยกันเมื่อครู่ ประวัติสนทนาจะช่วยให้เข้าใจว่ากำลังอ้างถึงเรื่องใด การเก็บประวัติแบบนี้ไม่ได้หมายความว่าโมเดลถูกฝึกใหม่ และการมีเอกสารประกอบก็ยังต้องตรวจว่าคำตอบสอดคล้องกับข้อมูลหรือไม่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ในคลิปมีตัวอย่างใช้ Google Sheets เป็นฐานความรู้ขนาดเบา ส่วนการนำไปใช้จริงควรเลือกที่เก็บให้เหมาะกับงาน เมื่อองค์ประกอบชัด เราจึงแบ่งหน้าที่ให้ Agent หลายตัวทำงานต่อกันได้ ซึ่งจะเห็นในตัวอย่างผลิตเนื้อหาถัดไป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แหล่งข้อมูลสำหรับผู้บรรยาย</a:t>
            </a:r>
          </a:p>
          <a:p xmlns:a="http://schemas.openxmlformats.org/drawingml/2006/main">
            <a:r>
              <a:t>https://www.youtube.com/watch?v=YY-egxTQirA</a:t>
            </a:r>
          </a:p>
          <a:p xmlns:a="http://schemas.openxmlformats.org/drawingml/2006/main">
            <a:r>
              <a:t>https://docs.n8n.io/integrations/builtin/cluster-nodes/root-nodes/n8n-nodes-langchain.agent</a:t>
            </a:r>
          </a:p>
          <a:p xmlns:a="http://schemas.openxmlformats.org/drawingml/2006/main">
            <a:r>
              <a:t>https://docs.n8n.io/build/integrate-ai/understand-ai-components/retrieve-relevant-context.md</a:t>
            </a:r>
          </a:p>
          <a:p xmlns:a="http://schemas.openxmlformats.org/drawingml/2006/main">
            <a:r>
              <a:t>https://docs.n8n.io/build/integrate-ai/understand-ai-components/how-memory-works.md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</a:t>
            </a:r>
          </a:p>
          <a:p xmlns:a="http://schemas.openxmlformats.org/drawingml/2006/main">
            <a:r>
              <a:t>สรุปวิดีโอจากคำอธิบาย สารบัญ บทความทางการของ freeCodeCamp และเนื้อหาบางช่วงที่ตรวจได้ ไม่ใช่คำถอดเสียงเต็ม แผนภาพและตัวอย่างข้อมูลเป็นแบบจำลองเพื่ออธิบายแนวคิดของผู้จัดทำ โดยใช้เอกสารทางการยืนยันหลักการเพิ่มเติม ไม่ใช่สถาปัตยกรรมภายในของ Spotify, Booking.com หรือ WhatsApp ระยะเวลาพูดเป็นค่าประมาณ แหล่งข้อมูลเก็บสำหรับ notes และ metadata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คำอธิบายแผนภาพ</a:t>
            </a:r>
          </a:p>
          <a:p xmlns:a="http://schemas.openxmlformats.org/drawingml/2006/main">
            <a:r>
              <a:t>วาง Agent ตรงกลาง เชื่อม Chat Model, Tools, Knowledge Retrieval และ Chat Memory โดยแยก knowledge กับ memory เป็นคนละกล่อง หลีกเลี่ยงวาดทุกอย่างเป็นท่อเรียงบังคับ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บทพูดสไลด์ 6 (ประมาณ 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การใช้หลาย Agent จะเข้าใจง่ายขึ้นเมื่อมองเป็นการแบ่งหน้าที่ คลิปยกงานผลิตเนื้อหาเป็นตัวอย่าง ภาพนี้เรียบเรียงบทบาทให้เห็นผลส่งมอบของแต่ละขั้น เริ่มจากโจทย์ที่ระบุผู้อ่านและวัตถุประสงค์ จากนั้นบทบาทค้นคว้ารวบรวมข้อมูล บทบาทวางโครงจัดลำดับประเด็น และบทบาทร่างนำข้อมูลมาเขียนเป็นเนื้อหา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ตัวอย่างเช่น ต้องการบทความแนะนำวิธีเตรียมข้อมูลก่อนทำเว็บไซต์ ผู้ค้นคว้าควรส่งข้อมูลพร้อมที่มา ผู้วางโครงควรแสดงว่าหัวข้อใดมาก่อนหลัง ส่วนผู้ร่างควรอธิบายตามข้อมูลที่ได้รับ ไม่เพิ่มข้อเท็จจริงที่ยังตรวจไม่ได้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เมื่อได้ร่างแล้ว ผู้รับผิดชอบตรวจทั้งความถูกต้อง ภาษา และความเหมาะสมก่อนอนุมัติ หากยังไม่ผ่าน ก็ควรส่งข้อแก้ไขที่ชัดให้กลับไปปรับ งานหลายบทบาทจึงต้องมีข้อตกลงเรื่องข้อมูลเข้าออก และยังมีภาระตรวจคุณภาพ ต่อไปจะขยายเรื่องจุดอนุมัติและความผิดพลาด ซึ่งต้องออกแบบเป็นคนละเส้นทางกัน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แหล่งข้อมูลสำหรับผู้บรรยาย</a:t>
            </a:r>
          </a:p>
          <a:p xmlns:a="http://schemas.openxmlformats.org/drawingml/2006/main">
            <a:r>
              <a:t>https://www.youtube.com/watch?v=YY-egxTQirA</a:t>
            </a:r>
          </a:p>
          <a:p xmlns:a="http://schemas.openxmlformats.org/drawingml/2006/main">
            <a:r>
              <a:t>https://www.freecodecamp.org/news/create-scalable-ai-automations-with-n8n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</a:t>
            </a:r>
          </a:p>
          <a:p xmlns:a="http://schemas.openxmlformats.org/drawingml/2006/main">
            <a:r>
              <a:t>สรุปวิดีโอจากคำอธิบาย สารบัญ บทความทางการของ freeCodeCamp และเนื้อหาบางช่วงที่ตรวจได้ ไม่ใช่คำถอดเสียงเต็ม แผนภาพและตัวอย่างข้อมูลเป็นแบบจำลองเพื่ออธิบายแนวคิดของผู้จัดทำ โดยใช้เอกสารทางการยืนยันหลักการเพิ่มเติม ไม่ใช่สถาปัตยกรรมภายในของ Spotify, Booking.com หรือ WhatsApp ระยะเวลาพูดเป็นค่าประมาณ แหล่งข้อมูลเก็บสำหรับ notes และ metadata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คำอธิบายแผนภาพ</a:t>
            </a:r>
          </a:p>
          <a:p xmlns:a="http://schemas.openxmlformats.org/drawingml/2006/main">
            <a:r>
              <a:t>pipeline native editable แสดงบทบาทกับผลส่งมอบใต้แต่ละโหนด มี human quality review ก่อนอนุมัติ เส้นย้อนกลับจากคนตรวจไปยังร่างเป็นแก้ไขงาน ไม่ใช่ retry 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บทพูดสไลด์ 7 (ประมาณ 65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คลิปแรกกล่าวถึงทั้งการอนุมัติโดยคนและการจัดการข้อผิดพลาด ภาพนี้แยกให้เห็นว่าเป็นคนละเหตุการณ์ หากคนตรวจเห็นว่าร่างข้อความยังไม่เหมาะ งานควรมีสถานะรอแก้ไขและมีความเห็นประกอบ จากนั้นจึงปรับร่างแล้วส่งมาตรวจอีกครั้ง นี่คือการทบทวนคุณภาพงาน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อีกกรณีคือร่างได้รับอนุมัติแล้ว แต่โหนดส่งข้อความเรียก API ไม่สำเร็จ เราอาจตั้งให้โหนดลองใหม่สำหรับข้อผิดพลาดที่เหมาะจะลองใหม่ หากยังไม่สำเร็จและ workflow หยุดด้วยข้อผิดพลาด จึงให้ error workflow บันทึกข้อมูลและแจ้งผู้รับผิดชอบ Error Trigger เป็นจุดรับเหตุการณ์ล้มเหลว ไม่ใช่กลไกที่ซ่อมปัญหาแล้วกลับไปทำงานต่อเองทั้งหมด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ก่อนลองส่งซ้ำยังต้องตรวจว่าปลายทางอาจทำงานสำเร็จไปแล้วหรือไม่ เพื่อไม่ให้เกิดการส่งซ้ำหรือสร้างรายการซ้ำ ประเด็นนี้ทำให้เห็นว่าแค่เชื่อมโหนดยังไม่พอ เราต้องคิดถึงความถูกต้องของข้อมูลด้วย ซึ่งเป็นจุดเชื่อมเข้าสู่ System Design ในคลิปที่สอง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แหล่งข้อมูลสำหรับผู้บรรยาย</a:t>
            </a:r>
          </a:p>
          <a:p xmlns:a="http://schemas.openxmlformats.org/drawingml/2006/main">
            <a:r>
              <a:t>https://www.youtube.com/watch?v=YY-egxTQirA</a:t>
            </a:r>
          </a:p>
          <a:p xmlns:a="http://schemas.openxmlformats.org/drawingml/2006/main">
            <a:r>
              <a:t>https://docs.n8n.io/build/flow-logic/handle-errors-gracefully.md</a:t>
            </a:r>
          </a:p>
          <a:p xmlns:a="http://schemas.openxmlformats.org/drawingml/2006/main">
            <a:r>
              <a:t>https://docs.n8n.io/build/understand-workflows/workflow-components/work-with-nodes.md</a:t>
            </a:r>
          </a:p>
          <a:p xmlns:a="http://schemas.openxmlformats.org/drawingml/2006/main">
            <a:r>
              <a:t>https://docs.stripe.com/api/idempotent_requests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</a:t>
            </a:r>
          </a:p>
          <a:p xmlns:a="http://schemas.openxmlformats.org/drawingml/2006/main">
            <a:r>
              <a:t>สรุปวิดีโอจากคำอธิบาย สารบัญ บทความทางการของ freeCodeCamp และเนื้อหาบางช่วงที่ตรวจได้ ไม่ใช่คำถอดเสียงเต็ม แผนภาพและตัวอย่างข้อมูลเป็นแบบจำลองเพื่ออธิบายแนวคิดของผู้จัดทำ โดยใช้เอกสารทางการยืนยันหลักการเพิ่มเติม ไม่ใช่สถาปัตยกรรมภายในของ Spotify, Booking.com หรือ WhatsApp ระยะเวลาพูดเป็นค่าประมาณ แหล่งข้อมูลเก็บสำหรับ notes และ metadata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คำอธิบายแผนภาพ</a:t>
            </a:r>
          </a:p>
          <a:p xmlns:a="http://schemas.openxmlformats.org/drawingml/2006/main">
            <a:r>
              <a:t>แยกสองเส้นทางชัดเจน ด้านบน human decision และกลับแก้ draft ด้านล่าง node-level API retry วนกลับเฉพาะโหนด แล้ว fail ไป Error Trigger และแจ้งคน ห้ามลาก Error Trigger กลับแก้ API โดยอัตโนมัติ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บทพูดสไลด์ 8 (ประมาณ 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คลิปที่สองเริ่มจากการทำโจทย์กว้างให้ชัดก่อนวางระบบ ผู้สอนเสนอกรอบคิดสำหรับออกแบบและสื่อสาร ภาพนี้สรุปประเด็นสำคัญสำหรับใช้ถามคำถามกับงานของเรา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เริ่มจากผู้ใช้ต้องทำอะไร สิ่งใดอยู่ในขอบเขต และคาดหวังคุณภาพอย่างไร เช่น ระบบจองต้องให้ผู้ใช้เลือกวันและยืนยันรายการ ส่วนความถูกต้องของจำนวนคงเหลือมีความสำคัญ จากนั้นจึงกำหนดข้อมูลหลักและ API ว่าต้องเก็บอะไร และส่วนต่าง ๆ ติดต่อกันอย่างไร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เมื่อวาดสถาปัตยกรรมแล้ว ควรเดินตามข้อมูลทั้งตอนอ่านและตอนเขียน แล้วถามว่าคอขวดอาจอยู่ตรงไหน หรือหากฐานข้อมูลและบริการภายนอกใช้ไม่ได้จะเกิดอะไรขึ้น ทุกส่วนที่เพิ่มควรมีเหตุผลรองรับ ทั้งประโยชน์ ต้นทุน และภาระดูแล วิธีคิดนี้ช่วยให้การออกแบบคุยกันด้วยปัญหาที่ต้องแก้ ต่อไปเราจะใช้แบบระบบพื้นฐานหนึ่งภาพอธิบายหน้าที่ของส่วนประกอบเหล่านั้น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แหล่งข้อมูลสำหรับผู้บรรยาย</a:t>
            </a:r>
          </a:p>
          <a:p xmlns:a="http://schemas.openxmlformats.org/drawingml/2006/main">
            <a:r>
              <a:t>https://www.youtube.com/watch?v=soTfFFIQQ8U</a:t>
            </a:r>
          </a:p>
          <a:p xmlns:a="http://schemas.openxmlformats.org/drawingml/2006/main">
            <a:r>
              <a:t>https://www.freecodecamp.org/news/learn-how-to-design-software-systems-like-a-senior-engineer-in-our-new-course/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</a:t>
            </a:r>
          </a:p>
          <a:p xmlns:a="http://schemas.openxmlformats.org/drawingml/2006/main">
            <a:r>
              <a:t>สรุปวิดีโอจากคำอธิบาย สารบัญ บทความทางการของ freeCodeCamp และเนื้อหาบางช่วงที่ตรวจได้ ไม่ใช่คำถอดเสียงเต็ม แผนภาพและตัวอย่างข้อมูลเป็นแบบจำลองเพื่ออธิบายแนวคิดของผู้จัดทำ โดยใช้เอกสารทางการยืนยันหลักการเพิ่มเติม ไม่ใช่สถาปัตยกรรมภายในของ Spotify, Booking.com หรือ WhatsApp ระยะเวลาพูดเป็นค่าประมาณ แหล่งข้อมูลเก็บสำหรับ notes และ metadata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คำอธิบายแผนภาพ</a:t>
            </a:r>
          </a:p>
          <a:p xmlns:a="http://schemas.openxmlformats.org/drawingml/2006/main">
            <a:r>
              <a:t>สังเคราะห์ลำดับทำความเข้าใจจากเนื้อหาที่ตรวจได้ ไม่ระบุว่าเป็นรายการครบห้าขั้นของผู้สอน มีลูกศรย้อนจากทบทวนกลับไปแก้โจทย์หรือ 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บทพูดสไลด์ 9 (ประมาณ 55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ภาพนี้เป็นสถาปัตยกรรมตัวอย่างที่เริ่มจากส่วนประกอบน้อย Client คือเว็บหรือแอปที่ผู้ใช้เปิด ส่วน API Service รับคำขอ ตรวจข้อมูล และประสานการอ่านเขียนกับฐานข้อมูล ในแบบจำลองนี้ฐานข้อมูลเป็นที่เก็บข้อมูลหลักที่ระบบใช้ยืนยันสถานะ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Cache เป็นส่วนที่พิจารณาเพิ่มเมื่อมีรูปแบบการอ่านที่เหมาะสม เช่น ข้อมูลรายการซึ่งถูกเปิดดูซ้ำบ่อย แต่เราต้องบอกด้วยว่าข้อมูลเก่าได้แค่ไหน และเมื่อข้อมูลหลักเปลี่ยนจะปรับ cache อย่างไร ตัวอย่างเช่น รายละเอียดเนื้อหาอาจยอมให้เปลี่ยนช้าบ้างได้ ขณะที่จำนวนคงเหลือสำหรับยืนยันการจองต้องพิจารณาความถูกต้องอย่างระมัดระวัง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ประเด็นจึงอยู่ที่หน้าที่และข้อแลกเปลี่ยนของแต่ละส่วน แบบนี้ยังไม่จำเป็นต้องแยกเป็นบริการย่อยจำนวนมาก เราจะใช้หลักการเดียวกันไปดูระบบเพลงเป็นกรณีแรก เพื่อแยกเส้นทางข้อมูลรายการออกจากเส้นทางไฟล์สื่อให้ชัดขึ้น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แหล่งข้อมูลสำหรับผู้บรรยาย</a:t>
            </a:r>
          </a:p>
          <a:p xmlns:a="http://schemas.openxmlformats.org/drawingml/2006/main">
            <a:r>
              <a:t>https://www.youtube.com/watch?v=soTfFFIQQ8U</a:t>
            </a:r>
          </a:p>
          <a:p xmlns:a="http://schemas.openxmlformats.org/drawingml/2006/main">
            <a:r>
              <a:t>https://www.freecodecamp.org/news/learn-how-to-design-software-systems-like-a-senior-engineer-in-our-new-course/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</a:t>
            </a:r>
          </a:p>
          <a:p xmlns:a="http://schemas.openxmlformats.org/drawingml/2006/main">
            <a:r>
              <a:t>สรุปวิดีโอจากคำอธิบาย สารบัญ บทความทางการของ freeCodeCamp และเนื้อหาบางช่วงที่ตรวจได้ ไม่ใช่คำถอดเสียงเต็ม แผนภาพและตัวอย่างข้อมูลเป็นแบบจำลองเพื่ออธิบายแนวคิดของผู้จัดทำ โดยใช้เอกสารทางการยืนยันหลักการเพิ่มเติม ไม่ใช่สถาปัตยกรรมภายในของ Spotify, Booking.com หรือ WhatsApp ระยะเวลาพูดเป็นค่าประมาณ แหล่งข้อมูลเก็บสำหรับ notes และ metadata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คำอธิบายแผนภาพ</a:t>
            </a:r>
          </a:p>
          <a:p xmlns:a="http://schemas.openxmlformats.org/drawingml/2006/main">
            <a:r>
              <a:t>native architecture สามกล่อง Client API Service Database เป็นเส้นหลัก และ optional cache เป็นกล่องเส้นประพร้อมสาขาอ่าน ไม่แยกเป็น microservices โดยไม่จำเป็น ให้ API Service เป็นผู้เข้าถึงหรือปรับ cache ตามนโยบาย ไม่วาดว่า Database เติม cache โดยอัตโนมัติ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บทพูดสไลด์ 10 (ประมาณ 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กรณีระบบเพลงในคลิปใช้โจทย์ลักษณะ Spotify ฝึกตั้งความต้องการ ประมาณขนาด และออกแบบ API กับการจัดเก็บ ส่วนภาพนี้เป็นตัวอย่างที่ผู้จัดทำเพิ่มเพื่อแยกข้อมูลสองประเภทให้เห็นง่ายขึ้น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ประเภทแรกคือข้อมูลรายการ เช่น ชื่อเพลง ศิลปิน และรายการเล่น เมื่อผู้ใช้ค้นเพลง แอปต้องขอข้อมูลเหล่านี้ผ่าน API เพื่อแสดงผล ประเภทที่สองคือไฟล์เสียงที่ต้องส่งให้แอปเล่น แม้เพลงหนึ่งรายการจะมีข้อมูลชื่อเพียงเล็กน้อย แต่การฟังจริงต้องใช้เส้นทางรับส่งสื่อด้วย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ในแบบจำลองจึงแยกฐานข้อมูลรายการกับที่เก็บไฟล์ และอาจพิจารณา CDN สำหรับการส่งสื่อตามข้อกำหนด การแบ่งแบบนี้ช่วยให้ตั้งคำถามต่อได้ว่าเรากำลังติดปัญหาการค้นรายการ การอ่านฐานข้อมูล หรือการส่งไฟล์ แต่ละอย่างอาจต้องแก้ต่างกัน ไม่ใช่เพิ่มเครื่องมือเดียวแล้วแก้ทุกส่วน กรณีถัดไปเป็นระบบจอง ซึ่งมีประเด็นความถูกต้องของทรัพยากรคงเหลือชัดเจนขึ้น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แหล่งข้อมูลสำหรับผู้บรรยาย</a:t>
            </a:r>
          </a:p>
          <a:p xmlns:a="http://schemas.openxmlformats.org/drawingml/2006/main">
            <a:r>
              <a:t>https://www.youtube.com/watch?v=soTfFFIQQ8U</a:t>
            </a:r>
          </a:p>
          <a:p xmlns:a="http://schemas.openxmlformats.org/drawingml/2006/main">
            <a:r>
              <a:t>https://www.freecodecamp.org/news/learn-how-to-design-software-systems-like-a-senior-engineer-in-our-new-course/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</a:t>
            </a:r>
          </a:p>
          <a:p xmlns:a="http://schemas.openxmlformats.org/drawingml/2006/main">
            <a:r>
              <a:t>สรุปวิดีโอจากคำอธิบาย สารบัญ บทความทางการของ freeCodeCamp และเนื้อหาบางช่วงที่ตรวจได้ ไม่ใช่คำถอดเสียงเต็ม แผนภาพและตัวอย่างข้อมูลเป็นแบบจำลองเพื่ออธิบายแนวคิดของผู้จัดทำ โดยใช้เอกสารทางการยืนยันหลักการเพิ่มเติม ไม่ใช่สถาปัตยกรรมภายในของ Spotify, Booking.com หรือ WhatsApp ระยะเวลาพูดเป็นค่าประมาณ แหล่งข้อมูลเก็บสำหรับ notes และ metadata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คำอธิบายแผนภาพ</a:t>
            </a:r>
          </a:p>
          <a:p xmlns:a="http://schemas.openxmlformats.org/drawingml/2006/main">
            <a:r>
              <a:t>แยกสองเส้นทางจากแอป เส้นบนผ่าน catalog API ไป metadata DB และส่งข้อมูลอ้างอิงไฟล์กลับ เส้นล่างแอปรับไฟล์จาก media delivery/CDN ซึ่งอ่านจาก media storage ไม่อ้างเป็นระบบจริงของ Spotify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บทพูดสไลด์ 11 (ประมาณ 70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ระบบจองในคลิปกล่าวถึงทั้ง idempotency และการทำงานพร้อมกัน สองเรื่องนี้แก้คนละปัญหา คำขอซ้ำคือผู้ใช้กดอีกครั้งหรือเครือข่ายขัดข้องแล้วส่งงานเดิมใหม่ เราใช้รหัสของงานเดิมเพื่อให้ระบบตรวจและตอบผลเดิมได้ตามกลไกที่ออกแบบไว้ แต่ถ้าเป็นผู้ใช้คนละคนที่ต้องการทรัพยากรเดียวกัน จะใช้เพียงรหัสคำขอเพื่อแก้การแย่งกันไม่ได้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ตัวอย่างสมมติในภาพมีทรัพยากรหนึ่งหน่วยและผู้ใช้สองราย แบบจำลองนี้ใช้ transaction กับการล็อกแถว ราย A ได้ lock ก่อน จึงตรวจจำนวน บันทึกการจอง ลดจำนวนเหลือศูนย์ และ commit ส่วนรายการของ B รอ เมื่อได้ lock แล้วต้องอ่านจำนวนล่าสุด จึงเห็นว่าไม่มีเหลือและไม่รับการจองเพิ่ม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นี่เป็นวิธีหนึ่งสำหรับอธิบายหลักการ ไม่ใช่รายละเอียดระบบจริงของ Booking.com การล็อกยังมีต้นทุนด้านการรอและต้องออกแบบขอบเขต transaction ให้เหมาะสม สิ่งที่ควรจดจำคือกันงานเดิมซ้ำ และประสานคนละงานที่ชนกัน เป็นความรับผิดชอบที่ต้องพิจารณาแยกกัน ต่อไปเราจะดูระบบแชตซึ่งต้องรับมือกับผู้รับที่ยังไม่พร้อมรับข้อความ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แหล่งข้อมูลสำหรับผู้บรรยาย</a:t>
            </a:r>
          </a:p>
          <a:p xmlns:a="http://schemas.openxmlformats.org/drawingml/2006/main">
            <a:r>
              <a:t>https://www.youtube.com/watch?v=soTfFFIQQ8U</a:t>
            </a:r>
          </a:p>
          <a:p xmlns:a="http://schemas.openxmlformats.org/drawingml/2006/main">
            <a:r>
              <a:t>https://docs.stripe.com/api/idempotent_requests</a:t>
            </a:r>
          </a:p>
          <a:p xmlns:a="http://schemas.openxmlformats.org/drawingml/2006/main">
            <a:r>
              <a:t>https://www.postgresql.org/docs/current/explicit-locking.html#LOCKING-ROWS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</a:t>
            </a:r>
          </a:p>
          <a:p xmlns:a="http://schemas.openxmlformats.org/drawingml/2006/main">
            <a:r>
              <a:t>สรุปวิดีโอจากคำอธิบาย สารบัญ บทความทางการของ freeCodeCamp และเนื้อหาบางช่วงที่ตรวจได้ ไม่ใช่คำถอดเสียงเต็ม แผนภาพและตัวอย่างข้อมูลเป็นแบบจำลองเพื่ออธิบายแนวคิดของผู้จัดทำ โดยใช้เอกสารทางการยืนยันหลักการเพิ่มเติม ไม่ใช่สถาปัตยกรรมภายในของ Spotify, Booking.com หรือ WhatsApp ระยะเวลาพูดเป็นค่าประมาณ แหล่งข้อมูลเก็บสำหรับ notes และ metadata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คำอธิบายแผนภาพ</a:t>
            </a:r>
          </a:p>
          <a:p xmlns:a="http://schemas.openxmlformats.org/drawingml/2006/main">
            <a:r>
              <a:t>sequence diagram native editable มี lifelines A, B, Booking Service, Inventory DB แสดง A และ B เป็นคนละคำขอ A เริ่ม transaction ล็อก inventory อ่าน 1 บันทึกจองลดเป็น 0 commit B ที่รอ lock อ่าน 0 แล้วปฏิเสธแยกจาก callout idempotency สำหรับ retry งานเดิม ทั้งหมดเป็นตัวอย่างสมมติแบบ Read Committed ไม่ใช่สถาปัตยกรรม Booking.com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บทพูดสไลด์ 12 (ประมาณ 65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กรณีระบบแชตในคลิปครอบคลุมการส่งข้อความทันที การซิงก์หลายอุปกรณ์ และการส่งให้ผู้รับที่ออฟไลน์ ภาพนี้ใช้แบบจำลองการเก็บข้อความไว้แล้วส่งต่อเมื่อผู้รับพร้อม เพื่ออธิบายหลักการทั่วไป โดยไม่อ้างว่าเป็นโครงสร้างภายในของ WhatsApp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สมมติเราส่งข้อความว่าประชุมเลื่อนไปช่วงบ่าย ขณะที่ผู้รับยังไม่เชื่อมต่อ บริการที่รองรับการเก็บข้อความออฟไลน์สามารถเก็บรอไว้ก่อน เมื่ออุปกรณ์ผู้รับกลับมาออนไลน์และพร้อมรับ จึงส่งข้อความนั้นต่อ หากเก็บไม่ได้ก็ต้องมีวิธีรายงานความผิดพลาด ไม่ควรทำให้ผู้ส่งเข้าใจว่างานสำเร็จทั้งที่ยังไม่สำเร็จ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อีกจุดที่ต้องแยกคือระบบรับข้อความแล้ว อุปกรณ์ได้รับแล้ว และผู้ใช้เปิดอ่านแล้ว ทั้งสามสถานะไม่เหมือนกัน การส่งถึงอุปกรณ์ไม่ยืนยันว่าคนอ่านแล้ว นอกจากนี้ยังต้องพิจารณาข้อความซ้ำและนโยบายเก็บข้อมูล เมื่อดูครบสามกรณีแล้ว หน้าถัดไปจะรวบรวมว่าปัญหาหลักของแต่ละระบบต่างกันตรงไหน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แหล่งข้อมูลสำหรับผู้บรรยาย</a:t>
            </a:r>
          </a:p>
          <a:p xmlns:a="http://schemas.openxmlformats.org/drawingml/2006/main">
            <a:r>
              <a:t>https://www.youtube.com/watch?v=soTfFFIQQ8U</a:t>
            </a:r>
          </a:p>
          <a:p xmlns:a="http://schemas.openxmlformats.org/drawingml/2006/main">
            <a:r>
              <a:t>https://xmpp.org/extensions/xep-0160.html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</a:t>
            </a:r>
          </a:p>
          <a:p xmlns:a="http://schemas.openxmlformats.org/drawingml/2006/main">
            <a:r>
              <a:t>สรุปวิดีโอจากคำอธิบาย สารบัญ บทความทางการของ freeCodeCamp และเนื้อหาบางช่วงที่ตรวจได้ ไม่ใช่คำถอดเสียงเต็ม แผนภาพและตัวอย่างข้อมูลเป็นแบบจำลองเพื่ออธิบายแนวคิดของผู้จัดทำ โดยใช้เอกสารทางการยืนยันหลักการเพิ่มเติม ไม่ใช่สถาปัตยกรรมภายในของ Spotify, Booking.com หรือ WhatsApp ระยะเวลาพูดเป็นค่าประมาณ แหล่งข้อมูลเก็บสำหรับ notes และ metadata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คำอธิบายแผนภาพ</a:t>
            </a:r>
          </a:p>
          <a:p xmlns:a="http://schemas.openxmlformats.org/drawingml/2006/main">
            <a:r>
              <a:t>native sequence อิงแนวคิด offline store-and-forward ทั่วไปตาม XMPP ไม่อ้าง WhatsApp ใช้ XMPP หรือใช้โครงสร้างนี้ ผู้ส่ง ส่งให้บริการ บริการเก็บใน offline store ผู้รับ offline แล้วกลับ online จึงอ่านจาก store และส่งถึงอุปกรณ์ สถานะอ่านแล้วเป็นกล่องแยก ไม่วาดอัตโนมัติหลังส่งถึง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บทพูดสไลด์ 13 (ประมาณ 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ตารางนี้เปรียบเทียบประเด็นจากคลิปกับกลไกในแบบจำลองที่เราใช้ประกอบการอธิบาย ระบบเพลงต้องแยกว่ากำลังอ่านข้อมูลรายการหรือรับไฟล์สื่อ เราจึงตรวจทั้งความถูกต้องของข้อมูลและเส้นทางที่ผู้ใช้รับสื่อ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ระบบจองให้ความสำคัญกับจำนวนคงเหลือและผลการจอง การตรวจจึงต้องครอบคลุมทั้งงานเดิมที่ส่งซ้ำและคนละงานที่เข้ามาพร้อมกัน ส่วนระบบแชตต้องติดตามว่าข้อความอยู่ที่ใด ผู้รับพร้อมหรือยัง และสถานะใดเกิดขึ้นจริง จึงต้องตรวจการกลับมาออนไลน์และการส่งข้อความซ้ำด้วย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กลไกที่อยู่ในตารางเป็นสิ่งที่นำมาพิจารณาตามโจทย์ ไม่ได้หมายความว่าทุกระบบต้องมี cache คิว หรือ lock เหมือนกันทั้งหมด เราควรถามก่อนว่ากำลังป้องกันความผิดพลาดแบบใด และจะตรวจได้อย่างไรว่ากลไกนั้นช่วยได้ เมื่อเห็นหลักการร่วมแล้ว ต่อไปจะนำกลับมาประกอบเป็นโครงการขนาดเล็กที่เชื่อมความรู้จากทั้งสองคลิป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แหล่งข้อมูลสำหรับผู้บรรยาย</a:t>
            </a:r>
          </a:p>
          <a:p xmlns:a="http://schemas.openxmlformats.org/drawingml/2006/main">
            <a:r>
              <a:t>https://www.youtube.com/watch?v=soTfFFIQQ8U</a:t>
            </a:r>
          </a:p>
          <a:p xmlns:a="http://schemas.openxmlformats.org/drawingml/2006/main">
            <a:r>
              <a:t>https://www.freecodecamp.org/news/learn-how-to-design-software-systems-like-a-senior-engineer-in-our-new-course/</a:t>
            </a:r>
          </a:p>
          <a:p xmlns:a="http://schemas.openxmlformats.org/drawingml/2006/main">
            <a:r>
              <a:t>https://docs.stripe.com/api/idempotent_requests</a:t>
            </a:r>
          </a:p>
          <a:p xmlns:a="http://schemas.openxmlformats.org/drawingml/2006/main">
            <a:r>
              <a:t>https://www.postgresql.org/docs/current/explicit-locking.html#LOCKING-ROWS</a:t>
            </a:r>
          </a:p>
          <a:p xmlns:a="http://schemas.openxmlformats.org/drawingml/2006/main">
            <a:r>
              <a:t>https://xmpp.org/extensions/xep-0160.html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</a:t>
            </a:r>
          </a:p>
          <a:p xmlns:a="http://schemas.openxmlformats.org/drawingml/2006/main">
            <a:r>
              <a:t>สรุปวิดีโอจากคำอธิบาย สารบัญ บทความทางการของ freeCodeCamp และเนื้อหาบางช่วงที่ตรวจได้ ไม่ใช่คำถอดเสียงเต็ม แผนภาพและตัวอย่างข้อมูลเป็นแบบจำลองเพื่ออธิบายแนวคิดของผู้จัดทำ โดยใช้เอกสารทางการยืนยันหลักการเพิ่มเติม ไม่ใช่สถาปัตยกรรมภายในของ Spotify, Booking.com หรือ WhatsApp ระยะเวลาพูดเป็นค่าประมาณ แหล่งข้อมูลเก็บสำหรับ notes และ metadata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คำอธิบายแผนภาพ</a:t>
            </a:r>
          </a:p>
          <a:p xmlns:a="http://schemas.openxmlformats.org/drawingml/2006/main">
            <a:r>
              <a:t>ตาราง native editable 5 คอลัมน์: กรณี / ปัญหาหลัก / ข้อมูลสำคัญ / กลไกที่พิจารณา / สิ่งตรวจ ใช้ข้อความใน labels เป็นข้อมูลแถว ไม่ใช่ benchmark หรือผลทดสอบจริง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บทพูดสไลด์ 14 (ประมาณ 70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โครงการนี้เป็นข้อเสนอของผู้จัดทำสำหรับใช้ความรู้สองด้านร่วมกัน สมมติทีมรับคำขอทำเว็บไซต์ผ่านฟอร์ม API ตรวจข้อมูลแล้วบันทึกคำขอพร้อมรหัสงานและสถานะไว้ก่อน จากนั้นจึงส่งให้ n8n ประสานการจัดหมวดและร่างคำตอบด้วย 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ผู้รับผิดชอบดูทั้งรายละเอียดต้นฉบับและร่างคำตอบ หากต้องแก้ก็ส่งความเห็นกลับไปปรับ หากอนุมัติจึงดำเนินการตอบกลับ พร้อมเก็บผลการส่งไว้ในประวัติ กรณีส่งไม่สำเร็จควรเห็นสถานะล้มเหลวและแจ้งคน เพื่อให้ตรวจได้ว่างานหยุดที่ขั้นใด และควรดำเนินการต่ออย่างไร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รหัสคำขอช่วยเชื่อมเหตุการณ์ของงานเดียวกัน แต่การกันซ้ำต้องมีกฎตรวจและจัดเก็บผลรองรับด้วย เช่น เมื่อได้รับงานเดิมซ้ำจะคืนสถานะเดิมหรือหยุดการสร้างงานใหม่ ก่อนลองส่งซ้ำยังต้องตรวจผลจากช่องทางปลายทางด้วย แบบนี้ทำให้เห็นบทบาทของ n8n ในการเชื่อมงาน และบทบาทของ System Design ในการรักษาสถานะกับความถูกต้อง ต่อไปเป็นแนวทางต่อยอดอื่นและเกณฑ์ที่ใช้ประเมินคุณค่า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แหล่งข้อมูลสำหรับผู้บรรยาย</a:t>
            </a:r>
          </a:p>
          <a:p xmlns:a="http://schemas.openxmlformats.org/drawingml/2006/main">
            <a:r>
              <a:t>https://www.freecodecamp.org/news/create-scalable-ai-automations-with-n8n</a:t>
            </a:r>
          </a:p>
          <a:p xmlns:a="http://schemas.openxmlformats.org/drawingml/2006/main">
            <a:r>
              <a:t>https://www.freecodecamp.org/news/learn-how-to-design-software-systems-like-a-senior-engineer-in-our-new-course/</a:t>
            </a:r>
          </a:p>
          <a:p xmlns:a="http://schemas.openxmlformats.org/drawingml/2006/main">
            <a:r>
              <a:t>https://docs.n8n.io/build/flow-logic/handle-errors-gracefully.md</a:t>
            </a:r>
          </a:p>
          <a:p xmlns:a="http://schemas.openxmlformats.org/drawingml/2006/main">
            <a:r>
              <a:t>https://docs.stripe.com/api/idempotent_requests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</a:t>
            </a:r>
          </a:p>
          <a:p xmlns:a="http://schemas.openxmlformats.org/drawingml/2006/main">
            <a:r>
              <a:t>สรุปวิดีโอจากคำอธิบาย สารบัญ บทความทางการของ freeCodeCamp และเนื้อหาบางช่วงที่ตรวจได้ ไม่ใช่คำถอดเสียงเต็ม แผนภาพและตัวอย่างข้อมูลเป็นแบบจำลองเพื่ออธิบายแนวคิดของผู้จัดทำ โดยใช้เอกสารทางการยืนยันหลักการเพิ่มเติม ไม่ใช่สถาปัตยกรรมภายในของ Spotify, Booking.com หรือ WhatsApp ระยะเวลาพูดเป็นค่าประมาณ แหล่งข้อมูลเก็บสำหรับ notes และ metadata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คำอธิบายแผนภาพ</a:t>
            </a:r>
          </a:p>
          <a:p xmlns:a="http://schemas.openxmlformats.org/drawingml/2006/main">
            <a:r>
              <a:t>architecture native editable รับฟอร์มผ่าน API บันทึก request ID กับสถานะในฐานข้อมูลหลัก แล้ว n8n เรียก AI draft ให้คนอนุมัติก่อน send พร้อม write log กลับฐานข้อมูลและ failure notification สาขาอนุมัติไม่ผ่านกลับ draft โดยมีข้อแก้ไข สาขาส่งล้มเหลวเป็น failed แจ้งคน ไม่เป็นลูกศรซ่อมอัตโนมัติ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บทพูดสไลด์ 15 (ประมาณ 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นอกจากระบบรับลูกค้า ยังนำไปต่อยอดเป็นผู้ช่วยอ่านเอกสารหรือผู้ช่วยเตรียมเนื้อหาได้ สำหรับงานเอกสาร ผลที่ต้องการอาจเป็นข้อมูลที่จัดเป็นช่อง พร้อมรายการที่ยังขาดให้คนตรวจ ส่วนงานเนื้อหาควรได้ร่างที่มีข้อมูลประกอบและมีผู้รับผิดชอบตรวจคุณภาพ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เกณฑ์วัดควรสัมพันธ์กับภาระงานจริง เช่น ความถูกต้องรายช่อง เวลาที่คนใช้ตรวจเอกสาร จำนวนรอบแก้ร่าง และรายการที่ระบบทำไม่สำเร็จ เวลาที่ประหยัดควรนับหลังรวมเวลาตรวจแก้แล้ว จึงจะเห็นว่ากระบวนการช่วยลดภาระโดยรวมเพียงใด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หากนำไปเป็นผลงานสมัครงานหรือบริการรับจ้าง ควรแสดงทั้งต้นแบบ แผนภาพ เหตุผลการเลือก และข้อจำกัดที่พบ พร้อมผลที่วัดจริงในขอบเขตงานที่ระบุ ไม่จำเป็นต้องอ้างผลลัพธ์สูงตั้งแต่ต้น สิ่งที่ช่วยให้ประเมินผลงานได้คือเราอธิบายและตรวจพฤติกรรมของระบบได้ชัดเจนเพียงใด จากแนวทางเหล่านี้ หน้าสุดท้ายจะรวบรวมหลักที่ใช้เลือกโจทย์และพัฒนางานต่อ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แหล่งข้อมูลสำหรับผู้บรรยาย</a:t>
            </a:r>
          </a:p>
          <a:p xmlns:a="http://schemas.openxmlformats.org/drawingml/2006/main">
            <a:r>
              <a:t>https://www.freecodecamp.org/news/create-scalable-ai-automations-with-n8n</a:t>
            </a:r>
          </a:p>
          <a:p xmlns:a="http://schemas.openxmlformats.org/drawingml/2006/main">
            <a:r>
              <a:t>https://www.freecodecamp.org/news/learn-how-to-design-software-systems-like-a-senior-engineer-in-our-new-course/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</a:t>
            </a:r>
          </a:p>
          <a:p xmlns:a="http://schemas.openxmlformats.org/drawingml/2006/main">
            <a:r>
              <a:t>สรุปวิดีโอจากคำอธิบาย สารบัญ บทความทางการของ freeCodeCamp และเนื้อหาบางช่วงที่ตรวจได้ ไม่ใช่คำถอดเสียงเต็ม แผนภาพและตัวอย่างข้อมูลเป็นแบบจำลองเพื่ออธิบายแนวคิดของผู้จัดทำ โดยใช้เอกสารทางการยืนยันหลักการเพิ่มเติม ไม่ใช่สถาปัตยกรรมภายในของ Spotify, Booking.com หรือ WhatsApp ระยะเวลาพูดเป็นค่าประมาณ แหล่งข้อมูลเก็บสำหรับ notes และ metadata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คำอธิบายแผนภาพ</a:t>
            </a:r>
          </a:p>
          <a:p xmlns:a="http://schemas.openxmlformats.org/drawingml/2006/main">
            <a:r>
              <a:t>ตาราง native editable จับคู่โครงการกับผลส่งมอบและสิ่งวัด ไม่มีวันหรือแผนทดลอง ไม่มีตัวเลขผลลัพธ์สมมติ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บทพูดสไลด์ 16 (ประมาณ 55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สาระสำคัญจากทั้งสองคลิปคือการทำให้กระบวนการเดินครบ พร้อมมองเห็นข้อมูลและความผิดพลาดที่ต้องดูแล n8n ช่วยเชื่อมเครื่องมือและลำดับงาน AI ช่วยงานภาษาและการตีความ ส่วน System Design ช่วยให้เราตั้งคำถามกับโครงสร้างและเหตุผลของทางเลือกแต่ละแบบ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กรณีเพลง จอง และแชตแสดงว่าระบบต่างกันย่อมมีจุดที่ต้องรักษาให้ถูกต้องต่างกัน เมื่อนำมาทำโครงการของเรา จึงควรเริ่มจากงานหนึ่งเรื่องที่อธิบายได้ชัด มีข้อมูลเข้า ผลลัพธ์ และผู้รับผิดชอบ แล้วกำหนดว่าจะตรวจงานซ้ำ งานค้าง และงานที่ล้มเหลวอย่างไร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หากต้นแบบมีคุณค่าจากผลที่วัดจริง เราจึงค่อยพิจารณาขยายตามปริมาณงานและข้อจำกัดที่พบ พร้อมอธิบายภาระดูแลที่เพิ่มขึ้นได้ วิธีนี้ทำให้ความรู้จากวิดีโอเชื่อมไปสู่ทั้งเครื่องมือใช้ในทีมและผลงานที่คนอื่นประเมินได้ ขอบคุณทุกท่าน ยินดีรับคำถามและแลกเปลี่ยนตัวอย่างงานที่อยากนำแนวคิดเหล่านี้ไปใช้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แหล่งข้อมูลสำหรับผู้บรรยาย</a:t>
            </a:r>
          </a:p>
          <a:p xmlns:a="http://schemas.openxmlformats.org/drawingml/2006/main">
            <a:r>
              <a:t>https://www.youtube.com/watch?v=YY-egxTQirA</a:t>
            </a:r>
          </a:p>
          <a:p xmlns:a="http://schemas.openxmlformats.org/drawingml/2006/main">
            <a:r>
              <a:t>https://www.youtube.com/watch?v=soTfFFIQQ8U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ขอบเขตการสรุป</a:t>
            </a:r>
          </a:p>
          <a:p xmlns:a="http://schemas.openxmlformats.org/drawingml/2006/main">
            <a:r>
              <a:t>สรุปวิดีโอจากคำอธิบาย สารบัญ บทความทางการของ freeCodeCamp และเนื้อหาบางช่วงที่ตรวจได้ ไม่ใช่คำถอดเสียงเต็ม แผนภาพและตัวอย่างข้อมูลเป็นแบบจำลองเพื่ออธิบายแนวคิดของผู้จัดทำ โดยใช้เอกสารทางการยืนยันหลักการเพิ่มเติม ไม่ใช่สถาปัตยกรรมภายในของ Spotify, Booking.com หรือ WhatsApp ระยะเวลาพูดเป็นค่าประมาณ แหล่งข้อมูลเก็บสำหรับ notes และ metadata 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คำอธิบายแผนภาพ</a:t>
            </a:r>
          </a:p>
          <a:p xmlns:a="http://schemas.openxmlformats.org/drawingml/2006/main">
            <a:r>
              <a:t>สามกล่อง native editable เป็นหลักเลือกโจทย์ เชื่อมงาน ตรวจความถูกต้อง เชื่อมด้วยลูกศรต่อเนื่องและมีผลที่วัดจริงเป็นแถบล่าง ไม่ใช่แผนทดลอง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05df6cfa634f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478c5ce8742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e529a5cf640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bc7e05da844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4b0a6afed4d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d501554e8348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9A12CD-7A86-4012-B90A-A802EEFB1C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BB9E4F-BCD0-43B9-9897-E5ADFFBB87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9D2FB81-57CE-4B9C-B34E-33D9C22642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11779C-DF3C-4C0A-9913-4861F2FBC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E61C38-62D2-4840-87BD-0CB4C6B3B7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583B13-EA40-4550-B645-44C1F50E7C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054C8B-3BE5-44E6-9BD5-956C5A6D3D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D2BA4F-E71D-4C3E-9B13-33E5551473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42ADDA-A08A-4AA2-B4CF-3039ABB01C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40EA4B-E5E9-4D35-BE40-F398D12D1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563e8718594871" /><Relationship Type="http://schemas.openxmlformats.org/officeDocument/2006/relationships/slideLayout" Target="/ppt/slideLayouts/slideLayout1.xml" Id="R8d72cc80a4464220" /><Relationship Type="http://schemas.openxmlformats.org/officeDocument/2006/relationships/slideLayout" Target="/ppt/slideLayouts/slideLayout2.xml" Id="R764ca567fee34c22" /><Relationship Type="http://schemas.openxmlformats.org/officeDocument/2006/relationships/slideLayout" Target="/ppt/slideLayouts/slideLayout3.xml" Id="Ra931cfd156a442c5" /><Relationship Type="http://schemas.openxmlformats.org/officeDocument/2006/relationships/slideLayout" Target="/ppt/slideLayouts/slideLayout4.xml" Id="Rafb295a2416c4b49" /><Relationship Type="http://schemas.openxmlformats.org/officeDocument/2006/relationships/slideLayout" Target="/ppt/slideLayouts/slideLayout5.xml" Id="R4a3f35b780534e68" /><Relationship Type="http://schemas.openxmlformats.org/officeDocument/2006/relationships/slideLayout" Target="/ppt/slideLayouts/slideLayout6.xml" Id="Ra1d5c5eebc494d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72cc80a4464220"/>
    <p:sldLayoutId xmlns:r="http://schemas.openxmlformats.org/officeDocument/2006/relationships" id="2147483650" r:id="R764ca567fee34c22"/>
    <p:sldLayoutId xmlns:r="http://schemas.openxmlformats.org/officeDocument/2006/relationships" id="2147483651" r:id="Ra931cfd156a442c5"/>
    <p:sldLayoutId xmlns:r="http://schemas.openxmlformats.org/officeDocument/2006/relationships" id="2147483652" r:id="Rafb295a2416c4b49"/>
    <p:sldLayoutId xmlns:r="http://schemas.openxmlformats.org/officeDocument/2006/relationships" id="2147483653" r:id="R4a3f35b780534e68"/>
    <p:sldLayoutId xmlns:r="http://schemas.openxmlformats.org/officeDocument/2006/relationships" id="2147483654" r:id="Ra1d5c5eebc494d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cfeda6a74f4e61" /><Relationship Type="http://schemas.openxmlformats.org/officeDocument/2006/relationships/image" Target="/ppt/media/image.png" Id="Re41bab6e0e014695" /><Relationship Type="http://schemas.openxmlformats.org/officeDocument/2006/relationships/notesSlide" Target="/ppt/notesSlides/notesSlide1.xml" Id="R94ebcf09ec1d45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24428105954e92" /><Relationship Type="http://schemas.openxmlformats.org/officeDocument/2006/relationships/notesSlide" Target="/ppt/notesSlides/notesSlide2.xml" Id="R44f25a7e520a4a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25fde01aeb439b" /><Relationship Type="http://schemas.openxmlformats.org/officeDocument/2006/relationships/notesSlide" Target="/ppt/notesSlides/notesSlide3.xml" Id="Rc80bc931356a4b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4c80eaa5d54764" /><Relationship Type="http://schemas.openxmlformats.org/officeDocument/2006/relationships/notesSlide" Target="/ppt/notesSlides/notesSlide4.xml" Id="Rb479727a53644d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2b060c20e04b91" /><Relationship Type="http://schemas.openxmlformats.org/officeDocument/2006/relationships/notesSlide" Target="/ppt/notesSlides/notesSlide5.xml" Id="R059016f5d59643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b6fb9cb20b4c38" /><Relationship Type="http://schemas.openxmlformats.org/officeDocument/2006/relationships/notesSlide" Target="/ppt/notesSlides/notesSlide6.xml" Id="R109bee98bffa4d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35850d180b46ee" /><Relationship Type="http://schemas.openxmlformats.org/officeDocument/2006/relationships/notesSlide" Target="/ppt/notesSlides/notesSlide7.xml" Id="R0bd7fbaeb4ce4c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6f2914270e4e22" /><Relationship Type="http://schemas.openxmlformats.org/officeDocument/2006/relationships/notesSlide" Target="/ppt/notesSlides/notesSlide8.xml" Id="Re4b22cda485d4c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a72283182e43cf" /><Relationship Type="http://schemas.openxmlformats.org/officeDocument/2006/relationships/notesSlide" Target="/ppt/notesSlides/notesSlide9.xml" Id="R517fa91376af4b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a177af664c4d7c" /><Relationship Type="http://schemas.openxmlformats.org/officeDocument/2006/relationships/notesSlide" Target="/ppt/notesSlides/notesSlide10.xml" Id="Rd08afad07ae649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3e18388a5549a9" /><Relationship Type="http://schemas.openxmlformats.org/officeDocument/2006/relationships/notesSlide" Target="/ppt/notesSlides/notesSlide11.xml" Id="R6b5fced1621a4d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aae22c48d34207" /><Relationship Type="http://schemas.openxmlformats.org/officeDocument/2006/relationships/notesSlide" Target="/ppt/notesSlides/notesSlide12.xml" Id="Rb7991cd4358c4a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b4c40b4c843dd" /><Relationship Type="http://schemas.openxmlformats.org/officeDocument/2006/relationships/notesSlide" Target="/ppt/notesSlides/notesSlide13.xml" Id="R7b469fb927ba4b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2ebc8ff2fd4dd7" /><Relationship Type="http://schemas.openxmlformats.org/officeDocument/2006/relationships/notesSlide" Target="/ppt/notesSlides/notesSlide14.xml" Id="Rfb71df11c95e4d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0d7165c8f94975" /><Relationship Type="http://schemas.openxmlformats.org/officeDocument/2006/relationships/notesSlide" Target="/ppt/notesSlides/notesSlide15.xml" Id="R9cf41d10104443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d429f0f5604c02" /><Relationship Type="http://schemas.openxmlformats.org/officeDocument/2006/relationships/notesSlide" Target="/ppt/notesSlides/notesSlide16.xml" Id="R96cbf7de5f2a45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7CF2B-866C-4A30-A0B4-8488725A9C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bab6e0e01469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A0B541B-F726-46BE-874A-051B922B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rPr>
              <a:t>สรุปสองวิดีโอ พร้อมแผนภาพประกอบ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EBF61E3-5FEB-4FAC-B9BD-4E040315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71512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ระบบอัตโนมัติ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และการออกแบบ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4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ซอฟต์แวร์</a:t>
            </a:r>
          </a:p>
        </p:txBody>
      </p:sp>
      <p:sp>
        <p:nvSpPr>
          <p:cNvPr id="4" name="cover-topics">
            <a:extLst xmlns:a="http://schemas.openxmlformats.org/drawingml/2006/main">
              <a:ext uri="{FF2B5EF4-FFF2-40B4-BE49-F238E27FC236}">
                <a16:creationId xmlns:a16="http://schemas.microsoft.com/office/drawing/2014/main" id="{F38158C1-FA27-4354-BBF3-8D70AD90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n8n และ AI    /    System Design</a:t>
            </a:r>
          </a:p>
        </p:txBody>
      </p:sp>
      <p:sp>
        <p:nvSpPr>
          <p:cNvPr id="5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BFDB474D-BDAA-456F-A976-13498F9E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681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rPr>
              <a:t>เชื่อมงานให้เดินครบกระบวนการ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rPr>
              <a:t>พร้อมคิดเรื่องข้อมูลและข้อผิดพลาด</a:t>
            </a:r>
          </a:p>
        </p:txBody>
      </p:sp>
    </p:spTree>
    <p:extLst>
      <p:ext uri="{BB962C8B-B14F-4D97-AF65-F5344CB8AC3E}">
        <p14:creationId xmlns:p14="http://schemas.microsoft.com/office/powerpoint/2010/main" val="369052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F670C410-EA79-43AF-8232-E3E4BC73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ภาพรวมบทเรียนจากสองวิดีโอ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F39C448-2DAC-471E-AC10-38693FC4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3" name="clip1">
            <a:extLst xmlns:a="http://schemas.openxmlformats.org/drawingml/2006/main">
              <a:ext uri="{FF2B5EF4-FFF2-40B4-BE49-F238E27FC236}">
                <a16:creationId xmlns:a16="http://schemas.microsoft.com/office/drawing/2014/main" id="{461E2C6C-9868-4297-B33F-F2446E13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n8n และ AI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9F2FB35-81CF-45A7-B7EC-12963F4F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ทำให้งานไหลต่อกันอย่างไร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5BD18D6-DB96-4D6D-A264-E684995E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รับข้อมูล เชื่อมเครื่องมือ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ให้ AI ช่วยประมวลผล และส่งต่องาน</a:t>
            </a:r>
          </a:p>
        </p:txBody>
      </p:sp>
      <p:sp>
        <p:nvSpPr>
          <p:cNvPr id="6" name="clip2">
            <a:extLst xmlns:a="http://schemas.openxmlformats.org/drawingml/2006/main">
              <a:ext uri="{FF2B5EF4-FFF2-40B4-BE49-F238E27FC236}">
                <a16:creationId xmlns:a16="http://schemas.microsoft.com/office/drawing/2014/main" id="{FA478B94-7BE4-42D4-BAF8-ABA38754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5262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33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System Design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6DD7994-B152-4C03-99D4-846FF271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146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รักษาข้อมูลและรับมือปัญหาอย่างไร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78C8F7A-CE09-487C-9F5F-DA4555BA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814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ทำโจทย์ให้ชัด วางข้อมูลและ API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พร้อมอธิบายทางเลือกของโครงสร้าง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1A8F670B-C7CC-4F25-9D13-13628ABE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จุดร่วม: ข้อมูลเข้าออกชัด มีสถานะงาน และมีผู้รับผิดชอบ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02F49EA5-6F73-46F9-B2D8-99BC0F54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ผลที่นำกลับไปใช้: กระบวนการหนึ่งงาน พร้อมเหตุผลของการออกแบบ</a:t>
            </a:r>
          </a:p>
        </p:txBody>
      </p:sp>
    </p:spTree>
    <p:extLst>
      <p:ext uri="{BB962C8B-B14F-4D97-AF65-F5344CB8AC3E}">
        <p14:creationId xmlns:p14="http://schemas.microsoft.com/office/powerpoint/2010/main" val="4787702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C3FD59-3F59-43E8-B05C-E1269479EF72}"/>
              </a:ext>
            </a:extLst>
          </p:cNvPr>
          <p:cNvCxnSpPr>
            <a:stCxn xmlns:a="http://schemas.openxmlformats.org/drawingml/2006/main" id="21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9334500" y="5667375"/>
            <a:ext cx="4763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dash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4E75D-D8C8-4E38-A5E4-D2B97798EEA1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743075" y="6038850"/>
            <a:ext cx="758190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dash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3CE0F-61CD-439D-BB7A-6862E5E15A7D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733550" y="3505200"/>
            <a:ext cx="0" cy="252412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dash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CA004-80B1-47D1-8187-FD91BDB0340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9339263" y="3505200"/>
            <a:ext cx="1109663" cy="1162050"/>
          </a:xfrm>
          <a:prstGeom xmlns:a="http://schemas.openxmlformats.org/drawingml/2006/main" prst="bentConnector4">
            <a:avLst>
              <a:gd name="adj1" fmla="val 0"/>
              <a:gd name="adj2" fmla="val 19672"/>
            </a:avLst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05516-D4FC-4756-95B5-0E5E8648000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686425" y="5167313"/>
            <a:ext cx="149542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8270C-2843-4271-AEFD-6D49610E95B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4638675" y="3505200"/>
            <a:ext cx="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DA720-C3C2-4839-90BB-7944EF44FA4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591550" y="298132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61040-32C5-4EDF-BB97-14439513A79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86425" y="298132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500D3-4949-47FA-B753-83C6E546DD8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81300" y="298132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339BF54B-E3A4-4BFB-B1F0-7D7B5D6C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กระบวนการทำงานของ n8n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C3619DB-C2B3-44E4-B975-B9102F77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14B0C71-8736-49A9-AE99-A3208529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ตัวอย่างกระบวนการของผู้จัดทำจากแนวคิดในคลิป</a:t>
            </a:r>
          </a:p>
        </p:txBody>
      </p:sp>
      <p:sp>
        <p:nvSpPr>
          <p:cNvPr id="4" name="form">
            <a:extLst xmlns:a="http://schemas.openxmlformats.org/drawingml/2006/main">
              <a:ext uri="{FF2B5EF4-FFF2-40B4-BE49-F238E27FC236}">
                <a16:creationId xmlns:a16="http://schemas.microsoft.com/office/drawing/2014/main" id="{E1364716-42AD-4FBA-8F27-168A1B3F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รับฟอร์ม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Webhook / Trigger</a:t>
            </a:r>
          </a:p>
        </p:txBody>
      </p:sp>
      <p:sp>
        <p:nvSpPr>
          <p:cNvPr id="5" name="validate">
            <a:extLst xmlns:a="http://schemas.openxmlformats.org/drawingml/2006/main">
              <a:ext uri="{FF2B5EF4-FFF2-40B4-BE49-F238E27FC236}">
                <a16:creationId xmlns:a16="http://schemas.microsoft.com/office/drawing/2014/main" id="{17890074-CE67-4DFB-9EB4-40AD17D1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5745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ตรวจข้อมูล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ครบและถูกต้อง</a:t>
            </a:r>
          </a:p>
        </p:txBody>
      </p:sp>
      <p:sp>
        <p:nvSpPr>
          <p:cNvPr id="6" name="ai">
            <a:extLst xmlns:a="http://schemas.openxmlformats.org/drawingml/2006/main">
              <a:ext uri="{FF2B5EF4-FFF2-40B4-BE49-F238E27FC236}">
                <a16:creationId xmlns:a16="http://schemas.microsoft.com/office/drawing/2014/main" id="{5598253A-1A52-4706-9C0E-6DC47C6C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เรียก AI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จัดหมวด / ร่างข้อความ</a:t>
            </a:r>
          </a:p>
        </p:txBody>
      </p:sp>
      <p:sp>
        <p:nvSpPr>
          <p:cNvPr id="7" name="handoff">
            <a:extLst xmlns:a="http://schemas.openxmlformats.org/drawingml/2006/main">
              <a:ext uri="{FF2B5EF4-FFF2-40B4-BE49-F238E27FC236}">
                <a16:creationId xmlns:a16="http://schemas.microsoft.com/office/drawing/2014/main" id="{066DB48F-2C2F-4BC4-8E4B-09C1BEF1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5745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ส่งต่องาน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CRM / ผู้รับผิดชอบ</a:t>
            </a:r>
          </a:p>
        </p:txBody>
      </p:sp>
      <p:sp>
        <p:nvSpPr>
          <p:cNvPr id="11" name="edge-label">
            <a:extLst xmlns:a="http://schemas.openxmlformats.org/drawingml/2006/main">
              <a:ext uri="{FF2B5EF4-FFF2-40B4-BE49-F238E27FC236}">
                <a16:creationId xmlns:a16="http://schemas.microsoft.com/office/drawing/2014/main" id="{B7FE1336-3FC1-4D6C-B789-F9B26B07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76450"/>
            <a:ext cx="1028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ข้อมูลพร้อม</a:t>
            </a:r>
          </a:p>
        </p:txBody>
      </p:sp>
      <p:sp>
        <p:nvSpPr>
          <p:cNvPr id="12" name="review">
            <a:extLst xmlns:a="http://schemas.openxmlformats.org/drawingml/2006/main">
              <a:ext uri="{FF2B5EF4-FFF2-40B4-BE49-F238E27FC236}">
                <a16:creationId xmlns:a16="http://schemas.microsoft.com/office/drawing/2014/main" id="{51CBA63E-9FF3-4B39-83E8-01EBAA69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66725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9050">
            <a:solidFill>
              <a:srgbClr val="A34D18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รอตรวจ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ขอข้อมูลเพิ่ม</a:t>
            </a:r>
          </a:p>
        </p:txBody>
      </p:sp>
      <p:sp>
        <p:nvSpPr>
          <p:cNvPr id="13" name="status">
            <a:extLst xmlns:a="http://schemas.openxmlformats.org/drawingml/2006/main">
              <a:ext uri="{FF2B5EF4-FFF2-40B4-BE49-F238E27FC236}">
                <a16:creationId xmlns:a16="http://schemas.microsoft.com/office/drawing/2014/main" id="{A22A980E-8289-4998-99FB-021C52BF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67250"/>
            <a:ext cx="43148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สถานะงาน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รับแล้ว / รอตรวจ / ส่งต่อแล้ว</a:t>
            </a:r>
          </a:p>
        </p:txBody>
      </p:sp>
      <p:sp>
        <p:nvSpPr>
          <p:cNvPr id="15" name="edge-label">
            <a:extLst xmlns:a="http://schemas.openxmlformats.org/drawingml/2006/main">
              <a:ext uri="{FF2B5EF4-FFF2-40B4-BE49-F238E27FC236}">
                <a16:creationId xmlns:a16="http://schemas.microsoft.com/office/drawing/2014/main" id="{C972ABCF-F609-44F3-83A1-51A94693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528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ข้อมูลไม่ครบ</a:t>
            </a:r>
          </a:p>
        </p:txBody>
      </p:sp>
      <p:sp>
        <p:nvSpPr>
          <p:cNvPr id="17" name="edge-label">
            <a:extLst xmlns:a="http://schemas.openxmlformats.org/drawingml/2006/main">
              <a:ext uri="{FF2B5EF4-FFF2-40B4-BE49-F238E27FC236}">
                <a16:creationId xmlns:a16="http://schemas.microsoft.com/office/drawing/2014/main" id="{F056235F-90B1-44F9-89E9-BB89DF8F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62500"/>
            <a:ext cx="128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รอตรวจ</a:t>
            </a:r>
          </a:p>
        </p:txBody>
      </p:sp>
      <p:sp>
        <p:nvSpPr>
          <p:cNvPr id="19" name="edge-label">
            <a:extLst xmlns:a="http://schemas.openxmlformats.org/drawingml/2006/main">
              <a:ext uri="{FF2B5EF4-FFF2-40B4-BE49-F238E27FC236}">
                <a16:creationId xmlns:a16="http://schemas.microsoft.com/office/drawing/2014/main" id="{3D03B89B-B3D7-401B-9BB1-9E59FDFC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81450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บันทึกผล</a:t>
            </a:r>
          </a:p>
        </p:txBody>
      </p:sp>
      <p:sp>
        <p:nvSpPr>
          <p:cNvPr id="20" name="event-route-19-0">
            <a:extLst xmlns:a="http://schemas.openxmlformats.org/drawingml/2006/main">
              <a:ext uri="{FF2B5EF4-FFF2-40B4-BE49-F238E27FC236}">
                <a16:creationId xmlns:a16="http://schemas.microsoft.com/office/drawing/2014/main" id="{5741EE65-24ED-4B66-AD23-10CC3214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029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event-route-20-1">
            <a:extLst xmlns:a="http://schemas.openxmlformats.org/drawingml/2006/main">
              <a:ext uri="{FF2B5EF4-FFF2-40B4-BE49-F238E27FC236}">
                <a16:creationId xmlns:a16="http://schemas.microsoft.com/office/drawing/2014/main" id="{40FDC666-4A29-418F-97C9-994B9BE9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029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body">
            <a:extLst xmlns:a="http://schemas.openxmlformats.org/drawingml/2006/main">
              <a:ext uri="{FF2B5EF4-FFF2-40B4-BE49-F238E27FC236}">
                <a16:creationId xmlns:a16="http://schemas.microsoft.com/office/drawing/2014/main" id="{86E6E8E3-140D-49FC-A9F7-944FEF2E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บันทึกรับงานและติดตามสถานะ</a:t>
            </a:r>
          </a:p>
        </p:txBody>
      </p:sp>
    </p:spTree>
    <p:extLst>
      <p:ext uri="{BB962C8B-B14F-4D97-AF65-F5344CB8AC3E}">
        <p14:creationId xmlns:p14="http://schemas.microsoft.com/office/powerpoint/2010/main" val="10222106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84F42-1798-4CFA-84D3-A41C5EF81261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577388" y="464820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F93FD-E9F9-432E-ADDC-A0A2BF14951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105650" y="3452813"/>
            <a:ext cx="542925" cy="4763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41E0C-FAFC-4AC8-95FD-C3B0235FA70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4352925" y="3452813"/>
            <a:ext cx="542925" cy="4763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1F1C5318-9E92-48B6-A8D2-390E2EA7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ข้อมูลเข้า API และการจัดรูปข้อมูล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912B078-D2EC-40D6-88CA-E509BECF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FB7EDFD-0CFC-44D6-AA3D-DE311D18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กำหนดช่องข้อมูลกลาง ตรวจรูปแบบ และเก็บรายการที่ยังต้องยืนยัน</a:t>
            </a:r>
          </a:p>
        </p:txBody>
      </p:sp>
      <p:sp>
        <p:nvSpPr>
          <p:cNvPr id="4" name="before">
            <a:extLst xmlns:a="http://schemas.openxmlformats.org/drawingml/2006/main">
              <a:ext uri="{FF2B5EF4-FFF2-40B4-BE49-F238E27FC236}">
                <a16:creationId xmlns:a16="http://schemas.microsoft.com/office/drawing/2014/main" id="{42ABEB99-BC26-4F57-AA3A-706A10C5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667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ก่อนจัดรูป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คุณเมย์ต้องการทำเว็บไซต์ร้าน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ติดต่อ may@example.com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ยังไม่ระบุงบประมาณ</a:t>
            </a:r>
          </a:p>
        </p:txBody>
      </p:sp>
      <p:sp>
        <p:nvSpPr>
          <p:cNvPr id="5" name="normalize">
            <a:extLst xmlns:a="http://schemas.openxmlformats.org/drawingml/2006/main">
              <a:ext uri="{FF2B5EF4-FFF2-40B4-BE49-F238E27FC236}">
                <a16:creationId xmlns:a16="http://schemas.microsoft.com/office/drawing/2014/main" id="{8CA88E22-BFF9-4919-BD49-0696A414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57500"/>
            <a:ext cx="22098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สกัดและตรวจ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กฎข้อมูล + AI</a:t>
            </a:r>
          </a:p>
        </p:txBody>
      </p:sp>
      <p:sp>
        <p:nvSpPr>
          <p:cNvPr id="6" name="after">
            <a:extLst xmlns:a="http://schemas.openxmlformats.org/drawingml/2006/main">
              <a:ext uri="{FF2B5EF4-FFF2-40B4-BE49-F238E27FC236}">
                <a16:creationId xmlns:a16="http://schemas.microsoft.com/office/drawing/2014/main" id="{34F3CAC3-4607-47A0-9A04-451D39A8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266950"/>
            <a:ext cx="385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หลังจัดรูป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ชื่อ: เมย์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อีเมล: may@example.com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ประเภทงาน: เว็บไซต์ร้าน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งบประมาณ: ไม่ระบุ</a:t>
            </a:r>
          </a:p>
        </p:txBody>
      </p:sp>
      <p:sp>
        <p:nvSpPr>
          <p:cNvPr id="9" name="check">
            <a:extLst xmlns:a="http://schemas.openxmlformats.org/drawingml/2006/main">
              <a:ext uri="{FF2B5EF4-FFF2-40B4-BE49-F238E27FC236}">
                <a16:creationId xmlns:a16="http://schemas.microsoft.com/office/drawing/2014/main" id="{E7F0EDA2-009A-492C-9BFE-7A121648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429250"/>
            <a:ext cx="385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9050">
            <a:solidFill>
              <a:srgbClr val="A34D18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ช่องที่ขาดหรือกำกวม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ส่งให้คนตรวจเพิ่มเติม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365AE3B2-0C41-466F-9347-3DAADF51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6143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ข้อมูลสมมติสำหรับอธิบาย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เก็บข้อความต้นฉบับไว้ประกอบการตรวจ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ระบบควรระบุว่า “ไม่ระบุ” เมื่อไม่มีข้อมูล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12204415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62094-4BB6-4077-A8C3-05DC22BB101B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0158413" y="4067175"/>
            <a:ext cx="0" cy="79057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0B97F-3BE7-4E09-A17B-80E0FB3CC82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048500" y="3567113"/>
            <a:ext cx="1762125" cy="4763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0CF43-5681-4FFF-ABE9-E96DC2804CD9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5572125" y="4286250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A1CD5-B23E-495E-8298-C900B4A80E08}"/>
              </a:ext>
            </a:extLst>
          </p:cNvPr>
          <p:cNvCxnSpPr>
            <a:stCxn xmlns:a="http://schemas.openxmlformats.org/drawingml/2006/main" id="5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5572125" y="26289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635E8-48D8-4AF2-A97A-5C38E49D007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686050" y="3571875"/>
            <a:ext cx="14097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A87B6FEE-38DF-49EB-A8FD-DA866E06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องค์ประกอบของ Agent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64CB585-D274-4CD7-8A20-2983D530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70DFF9F-1845-4EFC-8477-E2947CB6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องค์ประกอบแต่ละส่วนทำคนละหน้าที่ การเก็บบริบทไม่ได้ฝึกโมเดลใหม่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21B38004-DB78-4F59-AAA4-7A1525D4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00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คำขอผู้ใช้</a:t>
            </a:r>
          </a:p>
        </p:txBody>
      </p:sp>
      <p:sp>
        <p:nvSpPr>
          <p:cNvPr id="5" name="agent">
            <a:extLst xmlns:a="http://schemas.openxmlformats.org/drawingml/2006/main">
              <a:ext uri="{FF2B5EF4-FFF2-40B4-BE49-F238E27FC236}">
                <a16:creationId xmlns:a16="http://schemas.microsoft.com/office/drawing/2014/main" id="{203BC521-B657-4FE2-AFB3-F7D66FE8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Agent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ประสานการตัดสินใจ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และเรียกใช้เครื่องมือ</a:t>
            </a:r>
          </a:p>
        </p:txBody>
      </p:sp>
      <p:sp>
        <p:nvSpPr>
          <p:cNvPr id="6" name="model">
            <a:extLst xmlns:a="http://schemas.openxmlformats.org/drawingml/2006/main">
              <a:ext uri="{FF2B5EF4-FFF2-40B4-BE49-F238E27FC236}">
                <a16:creationId xmlns:a16="http://schemas.microsoft.com/office/drawing/2014/main" id="{B6A6A6D4-FEF9-4BC5-BC19-9C325115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66900"/>
            <a:ext cx="295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Chat Model / LLM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ตีความและสร้างข้อความ</a:t>
            </a:r>
          </a:p>
        </p:txBody>
      </p:sp>
      <p:sp>
        <p:nvSpPr>
          <p:cNvPr id="7" name="memory">
            <a:extLst xmlns:a="http://schemas.openxmlformats.org/drawingml/2006/main">
              <a:ext uri="{FF2B5EF4-FFF2-40B4-BE49-F238E27FC236}">
                <a16:creationId xmlns:a16="http://schemas.microsoft.com/office/drawing/2014/main" id="{6F55E912-A948-4D65-BAC4-37FB4791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29175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Chat Memory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ประวัติสนทนา</a:t>
            </a:r>
          </a:p>
        </p:txBody>
      </p:sp>
      <p:sp>
        <p:nvSpPr>
          <p:cNvPr id="8" name="tools">
            <a:extLst xmlns:a="http://schemas.openxmlformats.org/drawingml/2006/main">
              <a:ext uri="{FF2B5EF4-FFF2-40B4-BE49-F238E27FC236}">
                <a16:creationId xmlns:a16="http://schemas.microsoft.com/office/drawing/2014/main" id="{481DFE3C-047D-4813-8472-DFE34D12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67050"/>
            <a:ext cx="26955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Tools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ค้นข้อมูล / API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และระบบงาน</a:t>
            </a:r>
          </a:p>
        </p:txBody>
      </p:sp>
      <p:sp>
        <p:nvSpPr>
          <p:cNvPr id="9" name="kb">
            <a:extLst xmlns:a="http://schemas.openxmlformats.org/drawingml/2006/main">
              <a:ext uri="{FF2B5EF4-FFF2-40B4-BE49-F238E27FC236}">
                <a16:creationId xmlns:a16="http://schemas.microsoft.com/office/drawing/2014/main" id="{3E4EBC9E-E0A0-4A92-9519-959CDA97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57750"/>
            <a:ext cx="26955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ฐานความรู้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เอกสาร ตาราง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และข้อมูลบริการ</a:t>
            </a:r>
          </a:p>
        </p:txBody>
      </p:sp>
      <p:sp>
        <p:nvSpPr>
          <p:cNvPr id="15" name="edge-label">
            <a:extLst xmlns:a="http://schemas.openxmlformats.org/drawingml/2006/main">
              <a:ext uri="{FF2B5EF4-FFF2-40B4-BE49-F238E27FC236}">
                <a16:creationId xmlns:a16="http://schemas.microsoft.com/office/drawing/2014/main" id="{52C3C817-2D10-4C4B-8BF0-E85DD341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61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ใช้เครื่องมือ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242E129A-5F36-453E-BAE2-CC0C06C4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910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ค้นข้อมูลอ้างอิง</a:t>
            </a:r>
          </a:p>
        </p:txBody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1C6ECAA3-F939-4189-A7C4-2929FB9C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ผลลัพธ์เป็นคำตอบ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หรือคำสั่งไปยังระบบงาน</a:t>
            </a:r>
          </a:p>
        </p:txBody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0A41CDA2-C1FE-4902-AC9F-E50EB11D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แบบจำลองความสัมพันธ์: ฐานความรู้กับประวัติสนทนาเป็นคนละหน้าที่</a:t>
            </a:r>
          </a:p>
        </p:txBody>
      </p:sp>
    </p:spTree>
    <p:extLst>
      <p:ext uri="{BB962C8B-B14F-4D97-AF65-F5344CB8AC3E}">
        <p14:creationId xmlns:p14="http://schemas.microsoft.com/office/powerpoint/2010/main" val="20476459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F6DF61-C42D-4E1B-B50B-EDB1D9A53C79}"/>
              </a:ext>
            </a:extLst>
          </p:cNvPr>
          <p:cNvCxnSpPr>
            <a:stCxn xmlns:a="http://schemas.openxmlformats.org/drawingml/2006/main" id="22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11496675" y="29241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57C977-F7BC-4EEC-B021-8009B0590A67}"/>
              </a:ext>
            </a:extLst>
          </p:cNvPr>
          <p:cNvCxnSpPr>
            <a:stCxn xmlns:a="http://schemas.openxmlformats.org/drawingml/2006/main" id="21" idx="0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11906250" y="2933700"/>
            <a:ext cx="0" cy="309562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8C57E-2607-4418-B821-0E890C23BBCB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696200" y="6038850"/>
            <a:ext cx="420052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BB061E-510D-4967-A9EC-993E153E5D96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7686675" y="5810250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1B50C-97CC-4996-86FA-07A61F4FC49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86800" y="51911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B117C-27B7-43E0-9D6B-3B839ABC9834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86675" y="401002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47C13-FEA1-4154-ABC0-F82DDD3767F5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7696200" y="4000500"/>
            <a:ext cx="283845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B0A7E-147A-4204-9E81-95DB63830C8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0544175" y="3448050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B28EF-5F69-419E-991D-8F95F062221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86800" y="29241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F46C8-E57C-416E-96C2-C447267AF3F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86425" y="292417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7BADD-FFF2-4038-A539-5E534DF1F39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90800" y="29241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sp>
        <p:nvSpPr>
          <p:cNvPr id="29" name="title">
            <a:extLst xmlns:a="http://schemas.openxmlformats.org/drawingml/2006/main">
              <a:ext uri="{FF2B5EF4-FFF2-40B4-BE49-F238E27FC236}">
                <a16:creationId xmlns:a16="http://schemas.microsoft.com/office/drawing/2014/main" id="{AB590213-880C-4B8F-A4BA-7F4D1056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การแบ่งงานผลิตเนื้อหาให้หลาย Agent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AFE4277-B2F9-43FF-9D1D-8DE7F1F1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6D14D1C-8983-4B1A-93B0-39ECB96B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ตัวอย่างการจัดบทบาทในงานผลิตเนื้อหา พร้อมผลส่งมอบที่ตรวจได้</a:t>
            </a:r>
          </a:p>
        </p:txBody>
      </p:sp>
      <p:sp>
        <p:nvSpPr>
          <p:cNvPr id="4" name="brief">
            <a:extLst xmlns:a="http://schemas.openxmlformats.org/drawingml/2006/main">
              <a:ext uri="{FF2B5EF4-FFF2-40B4-BE49-F238E27FC236}">
                <a16:creationId xmlns:a16="http://schemas.microsoft.com/office/drawing/2014/main" id="{2D6C6B0C-8468-4B18-9D7B-70FD902A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โจทย์เนื้อหา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ผู้อ่านและเป้าหมาย</a:t>
            </a:r>
          </a:p>
        </p:txBody>
      </p:sp>
      <p:sp>
        <p:nvSpPr>
          <p:cNvPr id="5" name="research">
            <a:extLst xmlns:a="http://schemas.openxmlformats.org/drawingml/2006/main">
              <a:ext uri="{FF2B5EF4-FFF2-40B4-BE49-F238E27FC236}">
                <a16:creationId xmlns:a16="http://schemas.microsoft.com/office/drawing/2014/main" id="{58E4BD20-EC9A-4B1C-B1B5-9E359D21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003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Research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ข้อมูลและแหล่งที่มา</a:t>
            </a:r>
          </a:p>
        </p:txBody>
      </p:sp>
      <p:sp>
        <p:nvSpPr>
          <p:cNvPr id="6" name="outline">
            <a:extLst xmlns:a="http://schemas.openxmlformats.org/drawingml/2006/main">
              <a:ext uri="{FF2B5EF4-FFF2-40B4-BE49-F238E27FC236}">
                <a16:creationId xmlns:a16="http://schemas.microsoft.com/office/drawing/2014/main" id="{7983F330-C5BD-42FD-8F5B-18DF729D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003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Outline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หัวข้อและเหตุผล</a:t>
            </a:r>
          </a:p>
        </p:txBody>
      </p:sp>
      <p:sp>
        <p:nvSpPr>
          <p:cNvPr id="7" name="draft">
            <a:extLst xmlns:a="http://schemas.openxmlformats.org/drawingml/2006/main">
              <a:ext uri="{FF2B5EF4-FFF2-40B4-BE49-F238E27FC236}">
                <a16:creationId xmlns:a16="http://schemas.microsoft.com/office/drawing/2014/main" id="{97739D0E-F843-40DF-82A5-33CCDB46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4003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Draft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ร่างตามข้อมูล</a:t>
            </a:r>
          </a:p>
        </p:txBody>
      </p:sp>
      <p:sp>
        <p:nvSpPr>
          <p:cNvPr id="8" name="quality">
            <a:extLst xmlns:a="http://schemas.openxmlformats.org/drawingml/2006/main">
              <a:ext uri="{FF2B5EF4-FFF2-40B4-BE49-F238E27FC236}">
                <a16:creationId xmlns:a16="http://schemas.microsoft.com/office/drawing/2014/main" id="{86039A67-834B-49CD-9133-428CCBE2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7200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คนตรวจคุณภาพ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ข้อเท็จจริง ภาษา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ความเหมาะสม</a:t>
            </a:r>
          </a:p>
        </p:txBody>
      </p:sp>
      <p:sp>
        <p:nvSpPr>
          <p:cNvPr id="9" name="approved">
            <a:extLst xmlns:a="http://schemas.openxmlformats.org/drawingml/2006/main">
              <a:ext uri="{FF2B5EF4-FFF2-40B4-BE49-F238E27FC236}">
                <a16:creationId xmlns:a16="http://schemas.microsoft.com/office/drawing/2014/main" id="{568DE139-CAC0-4CFB-BB9F-63CEF15F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572000"/>
            <a:ext cx="1905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อนุมัติ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พร้อมส่งต่อ</a:t>
            </a:r>
          </a:p>
        </p:txBody>
      </p:sp>
      <p:sp>
        <p:nvSpPr>
          <p:cNvPr id="13" name="event-route-12-0">
            <a:extLst xmlns:a="http://schemas.openxmlformats.org/drawingml/2006/main">
              <a:ext uri="{FF2B5EF4-FFF2-40B4-BE49-F238E27FC236}">
                <a16:creationId xmlns:a16="http://schemas.microsoft.com/office/drawing/2014/main" id="{7D516B38-720C-4CF7-8B51-C5498244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990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event-route-13-1">
            <a:extLst xmlns:a="http://schemas.openxmlformats.org/drawingml/2006/main">
              <a:ext uri="{FF2B5EF4-FFF2-40B4-BE49-F238E27FC236}">
                <a16:creationId xmlns:a16="http://schemas.microsoft.com/office/drawing/2014/main" id="{1DB85528-379B-4B85-9EED-E7260A17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90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edge-label">
            <a:extLst xmlns:a="http://schemas.openxmlformats.org/drawingml/2006/main">
              <a:ext uri="{FF2B5EF4-FFF2-40B4-BE49-F238E27FC236}">
                <a16:creationId xmlns:a16="http://schemas.microsoft.com/office/drawing/2014/main" id="{57CB5956-3019-4444-AA5A-0B9442DA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ร่างพร้อมข้อมูล</a:t>
            </a:r>
          </a:p>
        </p:txBody>
      </p:sp>
      <p:sp>
        <p:nvSpPr>
          <p:cNvPr id="20" name="event-route-19-0">
            <a:extLst xmlns:a="http://schemas.openxmlformats.org/drawingml/2006/main">
              <a:ext uri="{FF2B5EF4-FFF2-40B4-BE49-F238E27FC236}">
                <a16:creationId xmlns:a16="http://schemas.microsoft.com/office/drawing/2014/main" id="{012FE783-D4A9-48E9-9A64-3D0E2CE4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029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event-route-20-1">
            <a:extLst xmlns:a="http://schemas.openxmlformats.org/drawingml/2006/main">
              <a:ext uri="{FF2B5EF4-FFF2-40B4-BE49-F238E27FC236}">
                <a16:creationId xmlns:a16="http://schemas.microsoft.com/office/drawing/2014/main" id="{F132FFF1-1A77-4B80-9E6D-7DFF1122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6029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event-route-21-2">
            <a:extLst xmlns:a="http://schemas.openxmlformats.org/drawingml/2006/main">
              <a:ext uri="{FF2B5EF4-FFF2-40B4-BE49-F238E27FC236}">
                <a16:creationId xmlns:a16="http://schemas.microsoft.com/office/drawing/2014/main" id="{E33D6EA6-A61C-4905-A294-912A555F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2914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body">
            <a:extLst xmlns:a="http://schemas.openxmlformats.org/drawingml/2006/main">
              <a:ext uri="{FF2B5EF4-FFF2-40B4-BE49-F238E27FC236}">
                <a16:creationId xmlns:a16="http://schemas.microsoft.com/office/drawing/2014/main" id="{BB7449AD-B50E-4F49-9ACA-275911B3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ข้อแก้ไขจากคนตรวจกลับไปที่ร่าง</a:t>
            </a:r>
          </a:p>
        </p:txBody>
      </p:sp>
      <p:sp>
        <p:nvSpPr>
          <p:cNvPr id="28" name="body">
            <a:extLst xmlns:a="http://schemas.openxmlformats.org/drawingml/2006/main">
              <a:ext uri="{FF2B5EF4-FFF2-40B4-BE49-F238E27FC236}">
                <a16:creationId xmlns:a16="http://schemas.microsoft.com/office/drawing/2014/main" id="{FBC8A68D-A0DC-41F5-82B3-BB4F6ABE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กำหนดผลส่งมอบของแต่ละบทบาท จำนวน Agent ควรสัมพันธ์กับหน้าที่และภาระตรวจงาน</a:t>
            </a:r>
          </a:p>
        </p:txBody>
      </p:sp>
    </p:spTree>
    <p:extLst>
      <p:ext uri="{BB962C8B-B14F-4D97-AF65-F5344CB8AC3E}">
        <p14:creationId xmlns:p14="http://schemas.microsoft.com/office/powerpoint/2010/main" val="689300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C19763-7575-491D-A01E-9EFC8A573E9C}"/>
              </a:ext>
            </a:extLst>
          </p:cNvPr>
          <p:cNvCxnSpPr>
            <a:stCxn xmlns:a="http://schemas.openxmlformats.org/drawingml/2006/main" id="2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2686050" y="59340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45F231-3D72-445F-8EF0-79A2A8ECDD8D}"/>
              </a:ext>
            </a:extLst>
          </p:cNvPr>
          <p:cNvCxnSpPr>
            <a:stCxn xmlns:a="http://schemas.openxmlformats.org/drawingml/2006/main" id="27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5734050" y="5934075"/>
            <a:ext cx="181927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496CF2-0F56-4E05-BAA0-E5FFCC802AC5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7562850" y="5191125"/>
            <a:ext cx="4763" cy="73342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BCBCB1-375B-40B2-98A8-BE1F8DFCF56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7567613" y="323850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9BEAE-4A8B-4C38-A4FF-0C1DF3854622}"/>
              </a:ext>
            </a:extLst>
          </p:cNvPr>
          <p:cNvCxnSpPr>
            <a:stCxn xmlns:a="http://schemas.openxmlformats.org/drawingml/2006/main" id="12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1685925" y="323850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DDEEF-4ABD-45EF-B85C-A1F01635C00B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2686050" y="46672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A0F112-4638-4485-B9BA-FCA75240D5D9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048000" y="3838575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217CC5-A2A4-4F63-920D-AE153B91F9FE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3057525" y="3829050"/>
            <a:ext cx="159067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C2B55-3AB0-4226-88FB-5CCD452D327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4657725" y="3238500"/>
            <a:ext cx="4763" cy="58102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0B3FE-54AD-4D4F-9E5B-E1040984BB0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39175" y="28289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CAECC-8636-4697-8713-07336AE1D39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34050" y="28289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361AA-460C-40F4-A603-D45C02211CC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86050" y="28289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sp>
        <p:nvSpPr>
          <p:cNvPr id="33" name="title">
            <a:extLst xmlns:a="http://schemas.openxmlformats.org/drawingml/2006/main">
              <a:ext uri="{FF2B5EF4-FFF2-40B4-BE49-F238E27FC236}">
                <a16:creationId xmlns:a16="http://schemas.microsoft.com/office/drawing/2014/main" id="{ADC10170-E105-4E59-8C07-F9D627D0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การอนุมัติงานและการรับมือข้อผิดพลาด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57E0D2B-09F1-47DA-A663-2F863A0E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2084869-50F3-4936-A499-4B423C6E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คนไม่อนุมัติ กับบริการขัดข้อง ต้องจัดการคนละเส้นทาง</a:t>
            </a:r>
          </a:p>
        </p:txBody>
      </p:sp>
      <p:sp>
        <p:nvSpPr>
          <p:cNvPr id="4" name="draft">
            <a:extLst xmlns:a="http://schemas.openxmlformats.org/drawingml/2006/main">
              <a:ext uri="{FF2B5EF4-FFF2-40B4-BE49-F238E27FC236}">
                <a16:creationId xmlns:a16="http://schemas.microsoft.com/office/drawing/2014/main" id="{51AC5779-E701-432F-AFF2-4AD041E5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ร่างข้อความ</a:t>
            </a:r>
          </a:p>
        </p:txBody>
      </p:sp>
      <p:sp>
        <p:nvSpPr>
          <p:cNvPr id="5" name="approval">
            <a:extLst xmlns:a="http://schemas.openxmlformats.org/drawingml/2006/main">
              <a:ext uri="{FF2B5EF4-FFF2-40B4-BE49-F238E27FC236}">
                <a16:creationId xmlns:a16="http://schemas.microsoft.com/office/drawing/2014/main" id="{84A5D984-D905-408D-AE5D-2EE75B5A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19350"/>
            <a:ext cx="2143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คนตรวจ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และตัดสินใจ</a:t>
            </a:r>
          </a:p>
        </p:txBody>
      </p:sp>
      <p:sp>
        <p:nvSpPr>
          <p:cNvPr id="6" name="send">
            <a:extLst xmlns:a="http://schemas.openxmlformats.org/drawingml/2006/main">
              <a:ext uri="{FF2B5EF4-FFF2-40B4-BE49-F238E27FC236}">
                <a16:creationId xmlns:a16="http://schemas.microsoft.com/office/drawing/2014/main" id="{90168D4C-E2E7-4562-BC70-1974BF14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19350"/>
            <a:ext cx="2143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โหนดเรียก API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ส่งข้อความที่อนุมัติ</a:t>
            </a:r>
          </a:p>
        </p:txBody>
      </p:sp>
      <p:sp>
        <p:nvSpPr>
          <p:cNvPr id="7" name="done">
            <a:extLst xmlns:a="http://schemas.openxmlformats.org/drawingml/2006/main">
              <a:ext uri="{FF2B5EF4-FFF2-40B4-BE49-F238E27FC236}">
                <a16:creationId xmlns:a16="http://schemas.microsoft.com/office/drawing/2014/main" id="{CDC82362-E737-41C4-B42D-D6A67102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19350"/>
            <a:ext cx="1857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สำเร็จ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บันทึกผล</a:t>
            </a:r>
          </a:p>
        </p:txBody>
      </p:sp>
      <p:sp>
        <p:nvSpPr>
          <p:cNvPr id="11" name="edge-label">
            <a:extLst xmlns:a="http://schemas.openxmlformats.org/drawingml/2006/main">
              <a:ext uri="{FF2B5EF4-FFF2-40B4-BE49-F238E27FC236}">
                <a16:creationId xmlns:a16="http://schemas.microsoft.com/office/drawing/2014/main" id="{D67D4954-FB49-4A57-9CA7-22C0A28D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478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อนุมัติ</a:t>
            </a:r>
          </a:p>
        </p:txBody>
      </p:sp>
      <p:sp>
        <p:nvSpPr>
          <p:cNvPr id="12" name="revise">
            <a:extLst xmlns:a="http://schemas.openxmlformats.org/drawingml/2006/main">
              <a:ext uri="{FF2B5EF4-FFF2-40B4-BE49-F238E27FC236}">
                <a16:creationId xmlns:a16="http://schemas.microsoft.com/office/drawing/2014/main" id="{97376039-205E-4DC3-A1B8-9C8AE109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9050">
            <a:solidFill>
              <a:srgbClr val="A34D18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รอแก้ไข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เก็บความเห็นผู้ตรวจ</a:t>
            </a:r>
          </a:p>
        </p:txBody>
      </p:sp>
      <p:sp>
        <p:nvSpPr>
          <p:cNvPr id="13" name="event-route-12-0">
            <a:extLst xmlns:a="http://schemas.openxmlformats.org/drawingml/2006/main">
              <a:ext uri="{FF2B5EF4-FFF2-40B4-BE49-F238E27FC236}">
                <a16:creationId xmlns:a16="http://schemas.microsoft.com/office/drawing/2014/main" id="{F18B23E2-9C31-441C-80E7-2F8F8A30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195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event-route-13-1">
            <a:extLst xmlns:a="http://schemas.openxmlformats.org/drawingml/2006/main">
              <a:ext uri="{FF2B5EF4-FFF2-40B4-BE49-F238E27FC236}">
                <a16:creationId xmlns:a16="http://schemas.microsoft.com/office/drawing/2014/main" id="{4F89947C-CB6E-4B2E-A65E-C2679E20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8195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event-route-14-2">
            <a:extLst xmlns:a="http://schemas.openxmlformats.org/drawingml/2006/main">
              <a:ext uri="{FF2B5EF4-FFF2-40B4-BE49-F238E27FC236}">
                <a16:creationId xmlns:a16="http://schemas.microsoft.com/office/drawing/2014/main" id="{71885510-C086-4A82-AF9A-56038AF6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657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edge-label">
            <a:extLst xmlns:a="http://schemas.openxmlformats.org/drawingml/2006/main">
              <a:ext uri="{FF2B5EF4-FFF2-40B4-BE49-F238E27FC236}">
                <a16:creationId xmlns:a16="http://schemas.microsoft.com/office/drawing/2014/main" id="{6DFDDDD9-0C60-4C4F-BF9B-EB3CCEA0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099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ยังไม่อนุมัติ</a:t>
            </a:r>
          </a:p>
        </p:txBody>
      </p:sp>
      <p:sp>
        <p:nvSpPr>
          <p:cNvPr id="22" name="retry">
            <a:extLst xmlns:a="http://schemas.openxmlformats.org/drawingml/2006/main">
              <a:ext uri="{FF2B5EF4-FFF2-40B4-BE49-F238E27FC236}">
                <a16:creationId xmlns:a16="http://schemas.microsoft.com/office/drawing/2014/main" id="{B6E978F6-EFAE-4D77-935F-A624CEB5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91000"/>
            <a:ext cx="2143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Retry On Fail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ลองโหนดเดิม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ตามเงื่อนไขที่กำหนด</a:t>
            </a:r>
          </a:p>
        </p:txBody>
      </p:sp>
      <p:sp>
        <p:nvSpPr>
          <p:cNvPr id="24" name="edge-label">
            <a:extLst xmlns:a="http://schemas.openxmlformats.org/drawingml/2006/main">
              <a:ext uri="{FF2B5EF4-FFF2-40B4-BE49-F238E27FC236}">
                <a16:creationId xmlns:a16="http://schemas.microsoft.com/office/drawing/2014/main" id="{377B459F-E0F4-49F7-B56B-679606B7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0997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ขัดข้อง / ลองใหม่</a:t>
            </a:r>
          </a:p>
        </p:txBody>
      </p:sp>
      <p:sp>
        <p:nvSpPr>
          <p:cNvPr id="25" name="error">
            <a:extLst xmlns:a="http://schemas.openxmlformats.org/drawingml/2006/main">
              <a:ext uri="{FF2B5EF4-FFF2-40B4-BE49-F238E27FC236}">
                <a16:creationId xmlns:a16="http://schemas.microsoft.com/office/drawing/2014/main" id="{C034D65A-F57A-4C2C-9AA1-505B03DD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514975"/>
            <a:ext cx="2143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9050">
            <a:solidFill>
              <a:srgbClr val="A34D18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Execution ล้มเหลว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Error Trigger</a:t>
            </a:r>
          </a:p>
        </p:txBody>
      </p:sp>
      <p:sp>
        <p:nvSpPr>
          <p:cNvPr id="26" name="alert">
            <a:extLst xmlns:a="http://schemas.openxmlformats.org/drawingml/2006/main">
              <a:ext uri="{FF2B5EF4-FFF2-40B4-BE49-F238E27FC236}">
                <a16:creationId xmlns:a16="http://schemas.microsoft.com/office/drawing/2014/main" id="{B5A19AB1-77A1-46D5-96FA-3AF6B005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9050">
            <a:solidFill>
              <a:srgbClr val="A34D18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บันทึก failed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แจ้งผู้รับผิดชอบ</a:t>
            </a:r>
          </a:p>
        </p:txBody>
      </p:sp>
      <p:sp>
        <p:nvSpPr>
          <p:cNvPr id="27" name="event-route-26-0">
            <a:extLst xmlns:a="http://schemas.openxmlformats.org/drawingml/2006/main">
              <a:ext uri="{FF2B5EF4-FFF2-40B4-BE49-F238E27FC236}">
                <a16:creationId xmlns:a16="http://schemas.microsoft.com/office/drawing/2014/main" id="{265EBD23-E18C-4F22-9884-30C35CB8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9245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body">
            <a:extLst xmlns:a="http://schemas.openxmlformats.org/drawingml/2006/main">
              <a:ext uri="{FF2B5EF4-FFF2-40B4-BE49-F238E27FC236}">
                <a16:creationId xmlns:a16="http://schemas.microsoft.com/office/drawing/2014/main" id="{35002699-61B5-4F04-8472-17F3301D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48275"/>
            <a:ext cx="2628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Error Workflow รับเหตุการณ์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ผู้ดูแลเลือกวิธีกู้คืน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และตรวจงานซ้ำ</a:t>
            </a:r>
          </a:p>
        </p:txBody>
      </p:sp>
      <p:sp>
        <p:nvSpPr>
          <p:cNvPr id="32" name="edge-label">
            <a:extLst xmlns:a="http://schemas.openxmlformats.org/drawingml/2006/main">
              <a:ext uri="{FF2B5EF4-FFF2-40B4-BE49-F238E27FC236}">
                <a16:creationId xmlns:a16="http://schemas.microsoft.com/office/drawing/2014/main" id="{6E6938F2-F099-4AAB-8C74-AB6121F9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2925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ยังไม่สำเร็จ</a:t>
            </a:r>
          </a:p>
        </p:txBody>
      </p:sp>
    </p:spTree>
    <p:extLst>
      <p:ext uri="{BB962C8B-B14F-4D97-AF65-F5344CB8AC3E}">
        <p14:creationId xmlns:p14="http://schemas.microsoft.com/office/powerpoint/2010/main" val="882172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1235F-3D2D-4C03-B8F0-8E24ED8775C9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11496675" y="31908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D291B-0298-44EA-A7CA-8628A1E40750}"/>
              </a:ext>
            </a:extLst>
          </p:cNvPr>
          <p:cNvCxnSpPr>
            <a:stCxn xmlns:a="http://schemas.openxmlformats.org/drawingml/2006/main" id="11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12001500" y="3200400"/>
            <a:ext cx="0" cy="215265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FB299-E21A-4082-B1DB-1A1754109C5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1496675" y="5357813"/>
            <a:ext cx="495300" cy="4763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E9E54-4030-46AC-BD0A-77557506184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8067675" y="3905250"/>
            <a:ext cx="1976438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D5CE2-30DD-48F3-A9D7-B60D9626A5C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43800" y="31908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B94FF-79B4-40ED-843A-BDD0E1989FA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590925" y="31908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D848BDD4-47D2-42F4-B920-6CD4A14C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กรอบคิดในการออกแบบระบบ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B68F4B3-314A-46F8-8F95-525D7196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989391-21EE-4C47-A0FA-AEF33008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ลำดับอธิบายบทเรียนที่สังเคราะห์ได้ พร้อมทบทวนเหตุผลของทางเลือก</a:t>
            </a:r>
          </a:p>
        </p:txBody>
      </p:sp>
      <p:sp>
        <p:nvSpPr>
          <p:cNvPr id="4" name="requirements">
            <a:extLst xmlns:a="http://schemas.openxmlformats.org/drawingml/2006/main">
              <a:ext uri="{FF2B5EF4-FFF2-40B4-BE49-F238E27FC236}">
                <a16:creationId xmlns:a16="http://schemas.microsoft.com/office/drawing/2014/main" id="{61B81AB2-3C21-4F6C-938A-CD3E347E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05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ทำโจทย์ให้ชัด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ผู้ใช้ งาน ขอบเขต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และเป้าหมายคุณภาพ</a:t>
            </a:r>
          </a:p>
        </p:txBody>
      </p:sp>
      <p:sp>
        <p:nvSpPr>
          <p:cNvPr id="5" name="data-api">
            <a:extLst xmlns:a="http://schemas.openxmlformats.org/drawingml/2006/main">
              <a:ext uri="{FF2B5EF4-FFF2-40B4-BE49-F238E27FC236}">
                <a16:creationId xmlns:a16="http://schemas.microsoft.com/office/drawing/2014/main" id="{57F2EFD7-9821-4A05-AB92-D317DE41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76500"/>
            <a:ext cx="2905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กำหนดข้อมูลและ API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สิ่งที่เก็บและวิธีติดต่อ</a:t>
            </a:r>
          </a:p>
        </p:txBody>
      </p:sp>
      <p:sp>
        <p:nvSpPr>
          <p:cNvPr id="6" name="architecture">
            <a:extLst xmlns:a="http://schemas.openxmlformats.org/drawingml/2006/main">
              <a:ext uri="{FF2B5EF4-FFF2-40B4-BE49-F238E27FC236}">
                <a16:creationId xmlns:a16="http://schemas.microsoft.com/office/drawing/2014/main" id="{D01D6FDE-A0E3-47A5-85CC-5B12F619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2905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วางสถาปัตยกรรม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ส่วนประกอบและข้อมูล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ที่ไหลผ่าน</a:t>
            </a:r>
          </a:p>
        </p:txBody>
      </p:sp>
      <p:sp>
        <p:nvSpPr>
          <p:cNvPr id="9" name="review">
            <a:extLst xmlns:a="http://schemas.openxmlformats.org/drawingml/2006/main">
              <a:ext uri="{FF2B5EF4-FFF2-40B4-BE49-F238E27FC236}">
                <a16:creationId xmlns:a16="http://schemas.microsoft.com/office/drawing/2014/main" id="{B11DD8F1-93F9-44CE-85C1-F680D062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905375"/>
            <a:ext cx="6858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ทบทวนคอขวด ความล้มเหลว และข้อแลกเปลี่ยน</a:t>
            </a:r>
          </a:p>
        </p:txBody>
      </p:sp>
      <p:sp>
        <p:nvSpPr>
          <p:cNvPr id="11" name="event-route-10-0">
            <a:extLst xmlns:a="http://schemas.openxmlformats.org/drawingml/2006/main">
              <a:ext uri="{FF2B5EF4-FFF2-40B4-BE49-F238E27FC236}">
                <a16:creationId xmlns:a16="http://schemas.microsoft.com/office/drawing/2014/main" id="{7292FF99-DF69-46F8-BC11-8C8A9C1F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5353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event-route-11-1">
            <a:extLst xmlns:a="http://schemas.openxmlformats.org/drawingml/2006/main">
              <a:ext uri="{FF2B5EF4-FFF2-40B4-BE49-F238E27FC236}">
                <a16:creationId xmlns:a16="http://schemas.microsoft.com/office/drawing/2014/main" id="{9203DE14-DDD4-46AB-BD9F-8147FB96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3181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F6BBF210-CEDC-4D2E-AB92-E952B6B0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319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ทุกส่วนต้องอธิบายเหตุผลได้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ก่อนเพิ่มความซับซ้อน</a:t>
            </a:r>
          </a:p>
        </p:txBody>
      </p:sp>
    </p:spTree>
    <p:extLst>
      <p:ext uri="{BB962C8B-B14F-4D97-AF65-F5344CB8AC3E}">
        <p14:creationId xmlns:p14="http://schemas.microsoft.com/office/powerpoint/2010/main" val="17954566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DDBB7-5963-42CA-A679-B59428D4FCA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6686550" y="2619375"/>
            <a:ext cx="228600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718">
            <a:solidFill>
              <a:srgbClr val="087E83"/>
            </a:solidFill>
            <a:prstDash val="dash"/>
            <a:headEnd type="triangle" w="med" len="me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E19F3-DCC8-49FE-9D9A-956F2B6236B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686550" y="3381375"/>
            <a:ext cx="2286000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718">
            <a:solidFill>
              <a:srgbClr val="087E83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3342A-E715-48A7-B732-4E8F2A290B6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76550" y="33813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D73BB58D-E393-4E77-A102-AA3EF22C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สถาปัตยกรรมระบบตัวอย่าง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B6525EC-0921-4AD6-B258-9E939F2A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4C1B1AD-7E67-4719-9359-7B85CDD3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แบบจำลองเพื่ออธิบายแนวคิด โดย Database เป็นที่เก็บข้อมูลหลัก</a:t>
            </a:r>
          </a:p>
        </p:txBody>
      </p:sp>
      <p:sp>
        <p:nvSpPr>
          <p:cNvPr id="4" name="client">
            <a:extLst xmlns:a="http://schemas.openxmlformats.org/drawingml/2006/main">
              <a:ext uri="{FF2B5EF4-FFF2-40B4-BE49-F238E27FC236}">
                <a16:creationId xmlns:a16="http://schemas.microsoft.com/office/drawing/2014/main" id="{D2A0735A-9F76-44E4-97A9-9EB780F8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Client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เว็บ / แอป</a:t>
            </a:r>
          </a:p>
        </p:txBody>
      </p:sp>
      <p:sp>
        <p:nvSpPr>
          <p:cNvPr id="5" name="api">
            <a:extLst xmlns:a="http://schemas.openxmlformats.org/drawingml/2006/main">
              <a:ext uri="{FF2B5EF4-FFF2-40B4-BE49-F238E27FC236}">
                <a16:creationId xmlns:a16="http://schemas.microsoft.com/office/drawing/2014/main" id="{8EB67316-5212-44B4-90DE-433F1825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67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API Service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ตรวจคำขอ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ทำงานตามกฎ</a:t>
            </a:r>
          </a:p>
        </p:txBody>
      </p:sp>
      <p:sp>
        <p:nvSpPr>
          <p:cNvPr id="6" name="db">
            <a:extLst xmlns:a="http://schemas.openxmlformats.org/drawingml/2006/main">
              <a:ext uri="{FF2B5EF4-FFF2-40B4-BE49-F238E27FC236}">
                <a16:creationId xmlns:a16="http://schemas.microsoft.com/office/drawing/2014/main" id="{1A3197FC-8900-44C5-BE2C-5B84377B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00500"/>
            <a:ext cx="25336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ข้อมูลหลัก</a:t>
            </a:r>
          </a:p>
        </p:txBody>
      </p:sp>
      <p:sp>
        <p:nvSpPr>
          <p:cNvPr id="7" name="cache">
            <a:extLst xmlns:a="http://schemas.openxmlformats.org/drawingml/2006/main">
              <a:ext uri="{FF2B5EF4-FFF2-40B4-BE49-F238E27FC236}">
                <a16:creationId xmlns:a16="http://schemas.microsoft.com/office/drawing/2014/main" id="{BFA63DD2-8D6E-46EA-94BB-D889D530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00250"/>
            <a:ext cx="25336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087E83"/>
            </a:solidFill>
            <a:prstDash val="dash"/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Cache (ทางเลือก)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ข้อมูลอ่านบ่อย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กำหนดอายุข้อมูล</a:t>
            </a:r>
          </a:p>
        </p:txBody>
      </p:sp>
      <p:sp>
        <p:nvSpPr>
          <p:cNvPr id="9" name="edge-label">
            <a:extLst xmlns:a="http://schemas.openxmlformats.org/drawingml/2006/main">
              <a:ext uri="{FF2B5EF4-FFF2-40B4-BE49-F238E27FC236}">
                <a16:creationId xmlns:a16="http://schemas.microsoft.com/office/drawing/2014/main" id="{95CD645C-2EAD-47F0-B7D2-1726C78B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76475"/>
            <a:ext cx="233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คำขอและผลตอบกลับ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D294B2DF-ADE5-48FD-A6C0-EE196329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API อ่าน เติม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และปรับสำเนา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78ED9504-7C63-4CC0-BAD7-C00D4181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791075"/>
            <a:ext cx="2638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อ่าน / เขียนข้อมูลหลัก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7759B2BC-2B20-4131-BC14-1296F602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Cache ไม่จำเป็นสำหรับทุกระบบ ต้องกำหนดนโยบายความสดใหม่และวิธีอัปเดตให้ตรงกับงาน</a:t>
            </a:r>
          </a:p>
        </p:txBody>
      </p:sp>
    </p:spTree>
    <p:extLst>
      <p:ext uri="{BB962C8B-B14F-4D97-AF65-F5344CB8AC3E}">
        <p14:creationId xmlns:p14="http://schemas.microsoft.com/office/powerpoint/2010/main" val="18055122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F7DF9-037A-4BA4-AFB0-6AF4856C1418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828800" y="3762375"/>
            <a:ext cx="2695575" cy="1314450"/>
          </a:xfrm>
          <a:prstGeom xmlns:a="http://schemas.openxmlformats.org/drawingml/2006/main" prst="bentConnector5">
            <a:avLst>
              <a:gd name="adj1" fmla="val 0"/>
              <a:gd name="adj2" fmla="val 17391"/>
              <a:gd name="adj3" fmla="val 91519"/>
            </a:avLst>
          </a:prstGeom>
          <a:ln xmlns:a="http://schemas.openxmlformats.org/drawingml/2006/main" w="25718">
            <a:solidFill>
              <a:srgbClr val="087E83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0E20F-EF17-43E9-A252-054FD744A9CE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334250" y="5076825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6C559-186C-4BD9-BF24-7A63BA51D9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34250" y="2790825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577A2-8C19-41FF-8198-625EA53D23F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971800" y="2790825"/>
            <a:ext cx="1552575" cy="4143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718">
            <a:solidFill>
              <a:srgbClr val="087E83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4E705214-1CC1-4871-801A-5C5EA69B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แบบจำลองระบบเพลง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F02ABA8-D5F9-411D-AF59-1D592126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D39B264-F546-4671-AAE2-BA9E76D3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แบบจำลองของผู้จัดทำ ไม่ใช่สถาปัตยกรรมภายในของ Spotify</a:t>
            </a:r>
          </a:p>
        </p:txBody>
      </p:sp>
      <p:sp>
        <p:nvSpPr>
          <p:cNvPr id="4" name="app">
            <a:extLst xmlns:a="http://schemas.openxmlformats.org/drawingml/2006/main">
              <a:ext uri="{FF2B5EF4-FFF2-40B4-BE49-F238E27FC236}">
                <a16:creationId xmlns:a16="http://schemas.microsoft.com/office/drawing/2014/main" id="{B1923914-1A53-45D0-B932-11C02F61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2860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แอปฟังเพลง</a:t>
            </a:r>
          </a:p>
        </p:txBody>
      </p:sp>
      <p:sp>
        <p:nvSpPr>
          <p:cNvPr id="5" name="catalog">
            <a:extLst xmlns:a="http://schemas.openxmlformats.org/drawingml/2006/main">
              <a:ext uri="{FF2B5EF4-FFF2-40B4-BE49-F238E27FC236}">
                <a16:creationId xmlns:a16="http://schemas.microsoft.com/office/drawing/2014/main" id="{7481BCBA-A4F8-4FA5-8D7A-52172D75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2809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Catalog API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ค้นและแสดงรายการ</a:t>
            </a:r>
          </a:p>
        </p:txBody>
      </p:sp>
      <p:sp>
        <p:nvSpPr>
          <p:cNvPr id="6" name="metadata">
            <a:extLst xmlns:a="http://schemas.openxmlformats.org/drawingml/2006/main">
              <a:ext uri="{FF2B5EF4-FFF2-40B4-BE49-F238E27FC236}">
                <a16:creationId xmlns:a16="http://schemas.microsoft.com/office/drawing/2014/main" id="{DE15A67F-7678-4CEF-B590-1A8E4D47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66950"/>
            <a:ext cx="2533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ฐานข้อมูลรายการ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ชื่อเพลง ศิลปิน รายการเล่น</a:t>
            </a:r>
          </a:p>
        </p:txBody>
      </p:sp>
      <p:sp>
        <p:nvSpPr>
          <p:cNvPr id="7" name="delivery">
            <a:extLst xmlns:a="http://schemas.openxmlformats.org/drawingml/2006/main">
              <a:ext uri="{FF2B5EF4-FFF2-40B4-BE49-F238E27FC236}">
                <a16:creationId xmlns:a16="http://schemas.microsoft.com/office/drawing/2014/main" id="{FA509F0F-BE43-4A2D-9703-89BC4B39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52950"/>
            <a:ext cx="2809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การส่งไฟล์สื่อ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พิจารณา CDN ตามโจทย์</a:t>
            </a:r>
          </a:p>
        </p:txBody>
      </p:sp>
      <p:sp>
        <p:nvSpPr>
          <p:cNvPr id="8" name="media">
            <a:extLst xmlns:a="http://schemas.openxmlformats.org/drawingml/2006/main">
              <a:ext uri="{FF2B5EF4-FFF2-40B4-BE49-F238E27FC236}">
                <a16:creationId xmlns:a16="http://schemas.microsoft.com/office/drawing/2014/main" id="{C736B720-F6ED-4A73-9AB0-0318D84D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52950"/>
            <a:ext cx="2533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ที่เก็บไฟล์เสียง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ไฟล์สื่อ</a:t>
            </a:r>
          </a:p>
        </p:txBody>
      </p:sp>
      <p:sp>
        <p:nvSpPr>
          <p:cNvPr id="10" name="edge-label">
            <a:extLst xmlns:a="http://schemas.openxmlformats.org/drawingml/2006/main">
              <a:ext uri="{FF2B5EF4-FFF2-40B4-BE49-F238E27FC236}">
                <a16:creationId xmlns:a16="http://schemas.microsoft.com/office/drawing/2014/main" id="{49FE6D2F-8886-4ACF-B3A7-3833F35E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33575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ค้นและรับข้อมูลเพลง</a:t>
            </a:r>
          </a:p>
        </p:txBody>
      </p:sp>
      <p:sp>
        <p:nvSpPr>
          <p:cNvPr id="12" name="edge-label">
            <a:extLst xmlns:a="http://schemas.openxmlformats.org/drawingml/2006/main">
              <a:ext uri="{FF2B5EF4-FFF2-40B4-BE49-F238E27FC236}">
                <a16:creationId xmlns:a16="http://schemas.microsoft.com/office/drawing/2014/main" id="{6329A806-1918-46B5-8661-3FE0B4BE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14525"/>
            <a:ext cx="161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อ่านข้อมูลรายการ</a:t>
            </a:r>
          </a:p>
        </p:txBody>
      </p:sp>
      <p:sp>
        <p:nvSpPr>
          <p:cNvPr id="14" name="edge-label">
            <a:extLst xmlns:a="http://schemas.openxmlformats.org/drawingml/2006/main">
              <a:ext uri="{FF2B5EF4-FFF2-40B4-BE49-F238E27FC236}">
                <a16:creationId xmlns:a16="http://schemas.microsoft.com/office/drawing/2014/main" id="{19BFCA0A-0BBF-47D3-BC88-114EB767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81475"/>
            <a:ext cx="161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ไฟล์ต้นทาง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2F105382-B77B-4C9A-B55C-24FEF1F8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257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ขอไฟล์สำหรับเล่น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และรับข้อมูลเสียง</a:t>
            </a:r>
          </a:p>
        </p:txBody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9674E475-DD71-473D-B46E-09B4D4A6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ข้อมูลรายการช่วยค้นและเลือกเพลง ส่วนไฟล์เสียงเป็นสื่อที่อุปกรณ์ต้องรับเพื่อเล่นเพลง</a:t>
            </a:r>
          </a:p>
        </p:txBody>
      </p:sp>
    </p:spTree>
    <p:extLst>
      <p:ext uri="{BB962C8B-B14F-4D97-AF65-F5344CB8AC3E}">
        <p14:creationId xmlns:p14="http://schemas.microsoft.com/office/powerpoint/2010/main" val="20394367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B7D9D-536F-4A39-B40D-CA26FA40EF9F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7200900" y="5362575"/>
            <a:ext cx="326707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C30E19-E2A5-4741-9DCE-9FAEADD406F8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200900" y="4791075"/>
            <a:ext cx="326707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267DF-08E7-4035-9CAF-2729F894241B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057650" y="4257675"/>
            <a:ext cx="312420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4FB12-829E-4358-9C30-4F5E8D184C3B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200900" y="3724275"/>
            <a:ext cx="326707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24A0D-8EA6-4338-93BF-1F1046C04F29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485900" y="3171825"/>
            <a:ext cx="569595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sp>
        <p:nvSpPr>
          <p:cNvPr id="35" name="title">
            <a:extLst xmlns:a="http://schemas.openxmlformats.org/drawingml/2006/main">
              <a:ext uri="{FF2B5EF4-FFF2-40B4-BE49-F238E27FC236}">
                <a16:creationId xmlns:a16="http://schemas.microsoft.com/office/drawing/2014/main" id="{70137102-B1D3-4AEC-A496-ED5A1723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คำขอซ้ำและการจองพร้อมกัน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9D83986-1921-4F3D-85A4-4531B9D8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B0120C4-7535-48FA-9BAF-FE8B8F57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แบบจำลองด้วยจำนวนสมมติ 1 หน่วย การตรวจจำนวนและบันทึกต้องอยู่ใน transaction</a:t>
            </a:r>
          </a:p>
        </p:txBody>
      </p:sp>
      <p:sp>
        <p:nvSpPr>
          <p:cNvPr id="4" name="actor-ผู้ใช้ A">
            <a:extLst xmlns:a="http://schemas.openxmlformats.org/drawingml/2006/main">
              <a:ext uri="{FF2B5EF4-FFF2-40B4-BE49-F238E27FC236}">
                <a16:creationId xmlns:a16="http://schemas.microsoft.com/office/drawing/2014/main" id="{67C07BF3-980F-4FC2-A055-22425ED9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ผู้ใช้ A</a:t>
            </a:r>
          </a:p>
        </p:txBody>
      </p:sp>
      <p:sp>
        <p:nvSpPr>
          <p:cNvPr id="5" name="lifeline-ผู้ใช้ A">
            <a:extLst xmlns:a="http://schemas.openxmlformats.org/drawingml/2006/main">
              <a:ext uri="{FF2B5EF4-FFF2-40B4-BE49-F238E27FC236}">
                <a16:creationId xmlns:a16="http://schemas.microsoft.com/office/drawing/2014/main" id="{70F7415C-F6E7-4D68-8972-36E8B493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33675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ADD"/>
            </a:solidFill>
            <a:prstDash val="dash"/>
          </a:ln>
        </p:spPr>
      </p:sp>
      <p:sp>
        <p:nvSpPr>
          <p:cNvPr id="6" name="actor-ผู้ใช้ B">
            <a:extLst xmlns:a="http://schemas.openxmlformats.org/drawingml/2006/main">
              <a:ext uri="{FF2B5EF4-FFF2-40B4-BE49-F238E27FC236}">
                <a16:creationId xmlns:a16="http://schemas.microsoft.com/office/drawing/2014/main" id="{2592FC95-1FEB-4266-B16F-454EE25E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1145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ผู้ใช้ B</a:t>
            </a:r>
          </a:p>
        </p:txBody>
      </p:sp>
      <p:sp>
        <p:nvSpPr>
          <p:cNvPr id="7" name="lifeline-ผู้ใช้ B">
            <a:extLst xmlns:a="http://schemas.openxmlformats.org/drawingml/2006/main">
              <a:ext uri="{FF2B5EF4-FFF2-40B4-BE49-F238E27FC236}">
                <a16:creationId xmlns:a16="http://schemas.microsoft.com/office/drawing/2014/main" id="{CAEFBD03-A358-4E8D-8139-425CF475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33675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ADD"/>
            </a:solidFill>
            <a:prstDash val="dash"/>
          </a:ln>
        </p:spPr>
      </p:sp>
      <p:sp>
        <p:nvSpPr>
          <p:cNvPr id="8" name="actor-บริการจอง">
            <a:extLst xmlns:a="http://schemas.openxmlformats.org/drawingml/2006/main">
              <a:ext uri="{FF2B5EF4-FFF2-40B4-BE49-F238E27FC236}">
                <a16:creationId xmlns:a16="http://schemas.microsoft.com/office/drawing/2014/main" id="{65527066-45B6-46B2-A4DD-59DD67CD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14550"/>
            <a:ext cx="2095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บริการจอง</a:t>
            </a:r>
          </a:p>
        </p:txBody>
      </p:sp>
      <p:sp>
        <p:nvSpPr>
          <p:cNvPr id="9" name="lifeline-บริการจอง">
            <a:extLst xmlns:a="http://schemas.openxmlformats.org/drawingml/2006/main">
              <a:ext uri="{FF2B5EF4-FFF2-40B4-BE49-F238E27FC236}">
                <a16:creationId xmlns:a16="http://schemas.microsoft.com/office/drawing/2014/main" id="{899AC41A-28BE-43F4-B079-1C105377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33675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ADD"/>
            </a:solidFill>
            <a:prstDash val="dash"/>
          </a:ln>
        </p:spPr>
      </p:sp>
      <p:sp>
        <p:nvSpPr>
          <p:cNvPr id="10" name="actor-Inventory DB">
            <a:extLst xmlns:a="http://schemas.openxmlformats.org/drawingml/2006/main">
              <a:ext uri="{FF2B5EF4-FFF2-40B4-BE49-F238E27FC236}">
                <a16:creationId xmlns:a16="http://schemas.microsoft.com/office/drawing/2014/main" id="{AAEFB0A4-FC31-43E5-9972-D4BA5B58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563" y="2114550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Inventory DB</a:t>
            </a:r>
          </a:p>
        </p:txBody>
      </p:sp>
      <p:sp>
        <p:nvSpPr>
          <p:cNvPr id="11" name="lifeline-Inventory DB">
            <a:extLst xmlns:a="http://schemas.openxmlformats.org/drawingml/2006/main">
              <a:ext uri="{FF2B5EF4-FFF2-40B4-BE49-F238E27FC236}">
                <a16:creationId xmlns:a16="http://schemas.microsoft.com/office/drawing/2014/main" id="{0100B2F7-C429-4ED3-93DA-479A8028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33675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ADD"/>
            </a:solidFill>
            <a:prstDash val="dash"/>
          </a:ln>
        </p:spPr>
      </p:sp>
      <p:sp>
        <p:nvSpPr>
          <p:cNvPr id="12" name="event-1. คำขอใหม่ key A-from">
            <a:extLst xmlns:a="http://schemas.openxmlformats.org/drawingml/2006/main">
              <a:ext uri="{FF2B5EF4-FFF2-40B4-BE49-F238E27FC236}">
                <a16:creationId xmlns:a16="http://schemas.microsoft.com/office/drawing/2014/main" id="{F4251660-BA81-4381-ADC7-DCEA54A4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62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event-1. คำขอใหม่ key A-to">
            <a:extLst xmlns:a="http://schemas.openxmlformats.org/drawingml/2006/main">
              <a:ext uri="{FF2B5EF4-FFF2-40B4-BE49-F238E27FC236}">
                <a16:creationId xmlns:a16="http://schemas.microsoft.com/office/drawing/2014/main" id="{8D14DE76-2B2C-49E5-829B-569271F9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62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edge-label">
            <a:extLst xmlns:a="http://schemas.openxmlformats.org/drawingml/2006/main">
              <a:ext uri="{FF2B5EF4-FFF2-40B4-BE49-F238E27FC236}">
                <a16:creationId xmlns:a16="http://schemas.microsoft.com/office/drawing/2014/main" id="{3652E26F-95B1-44A2-85C4-B69CD654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80035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1. คำขอใหม่ key A</a:t>
            </a:r>
          </a:p>
        </p:txBody>
      </p:sp>
      <p:sp>
        <p:nvSpPr>
          <p:cNvPr id="16" name="event-2. A ล็อก / อ่านจำนวน 1-from">
            <a:extLst xmlns:a="http://schemas.openxmlformats.org/drawingml/2006/main">
              <a:ext uri="{FF2B5EF4-FFF2-40B4-BE49-F238E27FC236}">
                <a16:creationId xmlns:a16="http://schemas.microsoft.com/office/drawing/2014/main" id="{D879DD8B-67A7-4D1B-946D-BC410415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147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event-2. A ล็อก / อ่านจำนวน 1-to">
            <a:extLst xmlns:a="http://schemas.openxmlformats.org/drawingml/2006/main">
              <a:ext uri="{FF2B5EF4-FFF2-40B4-BE49-F238E27FC236}">
                <a16:creationId xmlns:a16="http://schemas.microsoft.com/office/drawing/2014/main" id="{EB8A3730-F563-4B7A-ADDA-37D4FF3D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7147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edge-label">
            <a:extLst xmlns:a="http://schemas.openxmlformats.org/drawingml/2006/main">
              <a:ext uri="{FF2B5EF4-FFF2-40B4-BE49-F238E27FC236}">
                <a16:creationId xmlns:a16="http://schemas.microsoft.com/office/drawing/2014/main" id="{3B1EA0D0-D21F-4BE2-AC3C-C644B83F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352800"/>
            <a:ext cx="328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2. A ล็อก / อ่านจำนวน 1</a:t>
            </a:r>
          </a:p>
        </p:txBody>
      </p:sp>
      <p:sp>
        <p:nvSpPr>
          <p:cNvPr id="20" name="event-3. คำขอใหม่ key B-from">
            <a:extLst xmlns:a="http://schemas.openxmlformats.org/drawingml/2006/main">
              <a:ext uri="{FF2B5EF4-FFF2-40B4-BE49-F238E27FC236}">
                <a16:creationId xmlns:a16="http://schemas.microsoft.com/office/drawing/2014/main" id="{1D9A1AE1-DCD9-45F7-A5E5-AF8CCADE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48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event-3. คำขอใหม่ key B-to">
            <a:extLst xmlns:a="http://schemas.openxmlformats.org/drawingml/2006/main">
              <a:ext uri="{FF2B5EF4-FFF2-40B4-BE49-F238E27FC236}">
                <a16:creationId xmlns:a16="http://schemas.microsoft.com/office/drawing/2014/main" id="{F9050FFA-D4E2-48E3-BCD8-8FA2D08C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48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edge-label">
            <a:extLst xmlns:a="http://schemas.openxmlformats.org/drawingml/2006/main">
              <a:ext uri="{FF2B5EF4-FFF2-40B4-BE49-F238E27FC236}">
                <a16:creationId xmlns:a16="http://schemas.microsoft.com/office/drawing/2014/main" id="{195C1E7E-1C77-4F4E-BA55-5B02A161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86200"/>
            <a:ext cx="2981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3. คำขอใหม่ key B</a:t>
            </a:r>
          </a:p>
        </p:txBody>
      </p:sp>
      <p:sp>
        <p:nvSpPr>
          <p:cNvPr id="24" name="event-4. B ขอ lock เดียวกัน จึงรอ-from">
            <a:extLst xmlns:a="http://schemas.openxmlformats.org/drawingml/2006/main">
              <a:ext uri="{FF2B5EF4-FFF2-40B4-BE49-F238E27FC236}">
                <a16:creationId xmlns:a16="http://schemas.microsoft.com/office/drawing/2014/main" id="{0294AAA4-910C-45E7-9CC6-AADFF3DE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815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event-4. B ขอ lock เดียวกัน จึงรอ-to">
            <a:extLst xmlns:a="http://schemas.openxmlformats.org/drawingml/2006/main">
              <a:ext uri="{FF2B5EF4-FFF2-40B4-BE49-F238E27FC236}">
                <a16:creationId xmlns:a16="http://schemas.microsoft.com/office/drawing/2014/main" id="{2EFA8BA7-82FB-4CD5-B814-189DF769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7815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edge-label">
            <a:extLst xmlns:a="http://schemas.openxmlformats.org/drawingml/2006/main">
              <a:ext uri="{FF2B5EF4-FFF2-40B4-BE49-F238E27FC236}">
                <a16:creationId xmlns:a16="http://schemas.microsoft.com/office/drawing/2014/main" id="{1AA5C022-30F2-4E46-9ABE-18F0A5B5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196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4. B ขอ lock เดียวกัน จึงรอ</a:t>
            </a:r>
          </a:p>
        </p:txBody>
      </p:sp>
      <p:sp>
        <p:nvSpPr>
          <p:cNvPr id="28" name="event-5. A ลดเหลือ 0 และ commit-from">
            <a:extLst xmlns:a="http://schemas.openxmlformats.org/drawingml/2006/main">
              <a:ext uri="{FF2B5EF4-FFF2-40B4-BE49-F238E27FC236}">
                <a16:creationId xmlns:a16="http://schemas.microsoft.com/office/drawing/2014/main" id="{7A552439-B701-43C4-B671-9B568BB1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53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event-5. A ลดเหลือ 0 และ commit-to">
            <a:extLst xmlns:a="http://schemas.openxmlformats.org/drawingml/2006/main">
              <a:ext uri="{FF2B5EF4-FFF2-40B4-BE49-F238E27FC236}">
                <a16:creationId xmlns:a16="http://schemas.microsoft.com/office/drawing/2014/main" id="{A72FF3C9-9612-4DF0-BBFA-2281F73C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5353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edge-label">
            <a:extLst xmlns:a="http://schemas.openxmlformats.org/drawingml/2006/main">
              <a:ext uri="{FF2B5EF4-FFF2-40B4-BE49-F238E27FC236}">
                <a16:creationId xmlns:a16="http://schemas.microsoft.com/office/drawing/2014/main" id="{8F15557F-2A02-4231-A18C-359CACCC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9110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5. A ลดเหลือ 0 และ commit</a:t>
            </a:r>
          </a:p>
        </p:txBody>
      </p:sp>
      <p:sp>
        <p:nvSpPr>
          <p:cNvPr id="32" name="body">
            <a:extLst xmlns:a="http://schemas.openxmlformats.org/drawingml/2006/main">
              <a:ext uri="{FF2B5EF4-FFF2-40B4-BE49-F238E27FC236}">
                <a16:creationId xmlns:a16="http://schemas.microsoft.com/office/drawing/2014/main" id="{DB03A289-C0AB-4FB9-8200-17442AE8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B ได้ lock ต่อมาและพบ 0 จึงไม่รับจองเกินจำนวน</a:t>
            </a:r>
          </a:p>
        </p:txBody>
      </p:sp>
      <p:sp>
        <p:nvSpPr>
          <p:cNvPr id="33" name="body">
            <a:extLst xmlns:a="http://schemas.openxmlformats.org/drawingml/2006/main">
              <a:ext uri="{FF2B5EF4-FFF2-40B4-BE49-F238E27FC236}">
                <a16:creationId xmlns:a16="http://schemas.microsoft.com/office/drawing/2014/main" id="{F4CBB979-E65D-4E95-AEB6-A6F1CF34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38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Idempotency: งานเดิมส่งซ้ำ ต้องไม่จองเพิ่ม</a:t>
            </a:r>
          </a:p>
        </p:txBody>
      </p:sp>
      <p:sp>
        <p:nvSpPr>
          <p:cNvPr id="34" name="body">
            <a:extLst xmlns:a="http://schemas.openxmlformats.org/drawingml/2006/main">
              <a:ext uri="{FF2B5EF4-FFF2-40B4-BE49-F238E27FC236}">
                <a16:creationId xmlns:a16="http://schemas.microsoft.com/office/drawing/2014/main" id="{FDF77046-34F5-4FB1-AD3F-B7291605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172200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Transaction / lock: คนละงานแย่งทรัพยากร</a:t>
            </a:r>
          </a:p>
        </p:txBody>
      </p:sp>
    </p:spTree>
    <p:extLst>
      <p:ext uri="{BB962C8B-B14F-4D97-AF65-F5344CB8AC3E}">
        <p14:creationId xmlns:p14="http://schemas.microsoft.com/office/powerpoint/2010/main" val="19925790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78BB18-AEE2-4CFD-B87A-E3F7A28A58AB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4676775" y="5372100"/>
            <a:ext cx="598170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CC3F3F-3AB7-440E-97FD-153E18516BC7}"/>
              </a:ext>
            </a:extLst>
          </p:cNvPr>
          <p:cNvCxnSpPr>
            <a:stCxn xmlns:a="http://schemas.openxmlformats.org/drawingml/2006/main" id="24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4676775" y="4819650"/>
            <a:ext cx="317182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FD9C68-940A-434E-A778-268A107274B2}"/>
              </a:ext>
            </a:extLst>
          </p:cNvPr>
          <p:cNvCxnSpPr>
            <a:stCxn xmlns:a="http://schemas.openxmlformats.org/drawingml/2006/main" id="2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4676775" y="4267200"/>
            <a:ext cx="598170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D45683-B984-4996-ADA7-77B78F169911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676775" y="3714750"/>
            <a:ext cx="317182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AAC4D-4C2D-4613-8D98-A5864A38DC35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485900" y="3162300"/>
            <a:ext cx="317182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sp>
        <p:nvSpPr>
          <p:cNvPr id="34" name="title">
            <a:extLst xmlns:a="http://schemas.openxmlformats.org/drawingml/2006/main">
              <a:ext uri="{FF2B5EF4-FFF2-40B4-BE49-F238E27FC236}">
                <a16:creationId xmlns:a16="http://schemas.microsoft.com/office/drawing/2014/main" id="{B3B739B1-C3F1-4E51-B4D0-041E6765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การส่งข้อความเมื่อผู้รับกลับมาออนไลน์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CB06B97-5787-435D-84CD-ED7E479E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4B78888-194A-4BFC-BC81-CBD723D3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แบบจำลองทั่วไปเพื่ออธิบาย ไม่ใช่สถาปัตยกรรมภายในของ WhatsApp</a:t>
            </a:r>
          </a:p>
        </p:txBody>
      </p:sp>
      <p:sp>
        <p:nvSpPr>
          <p:cNvPr id="4" name="actor-ผู้ส่ง">
            <a:extLst xmlns:a="http://schemas.openxmlformats.org/drawingml/2006/main">
              <a:ext uri="{FF2B5EF4-FFF2-40B4-BE49-F238E27FC236}">
                <a16:creationId xmlns:a16="http://schemas.microsoft.com/office/drawing/2014/main" id="{F7A95B26-8957-450A-85E1-FAD91B89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ผู้ส่ง</a:t>
            </a:r>
          </a:p>
        </p:txBody>
      </p:sp>
      <p:sp>
        <p:nvSpPr>
          <p:cNvPr id="5" name="lifeline-ผู้ส่ง">
            <a:extLst xmlns:a="http://schemas.openxmlformats.org/drawingml/2006/main">
              <a:ext uri="{FF2B5EF4-FFF2-40B4-BE49-F238E27FC236}">
                <a16:creationId xmlns:a16="http://schemas.microsoft.com/office/drawing/2014/main" id="{A549931F-42BE-4737-B1C1-5F0916C1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33675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ADD"/>
            </a:solidFill>
            <a:prstDash val="dash"/>
          </a:ln>
        </p:spPr>
      </p:sp>
      <p:sp>
        <p:nvSpPr>
          <p:cNvPr id="6" name="actor-บริการข้อความ">
            <a:extLst xmlns:a="http://schemas.openxmlformats.org/drawingml/2006/main">
              <a:ext uri="{FF2B5EF4-FFF2-40B4-BE49-F238E27FC236}">
                <a16:creationId xmlns:a16="http://schemas.microsoft.com/office/drawing/2014/main" id="{3C441DB1-CF90-42E0-BEAE-FFF9268D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14550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บริการข้อความ</a:t>
            </a:r>
          </a:p>
        </p:txBody>
      </p:sp>
      <p:sp>
        <p:nvSpPr>
          <p:cNvPr id="7" name="lifeline-บริการข้อความ">
            <a:extLst xmlns:a="http://schemas.openxmlformats.org/drawingml/2006/main">
              <a:ext uri="{FF2B5EF4-FFF2-40B4-BE49-F238E27FC236}">
                <a16:creationId xmlns:a16="http://schemas.microsoft.com/office/drawing/2014/main" id="{F13736BD-1705-4C67-99E7-9958D692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33675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ADD"/>
            </a:solidFill>
            <a:prstDash val="dash"/>
          </a:ln>
        </p:spPr>
      </p:sp>
      <p:sp>
        <p:nvSpPr>
          <p:cNvPr id="8" name="actor-ที่เก็บรอส่ง">
            <a:extLst xmlns:a="http://schemas.openxmlformats.org/drawingml/2006/main">
              <a:ext uri="{FF2B5EF4-FFF2-40B4-BE49-F238E27FC236}">
                <a16:creationId xmlns:a16="http://schemas.microsoft.com/office/drawing/2014/main" id="{13223774-7D6A-41BB-9A6F-5564F3D2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14550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ที่เก็บรอส่ง</a:t>
            </a:r>
          </a:p>
        </p:txBody>
      </p:sp>
      <p:sp>
        <p:nvSpPr>
          <p:cNvPr id="9" name="lifeline-ที่เก็บรอส่ง">
            <a:extLst xmlns:a="http://schemas.openxmlformats.org/drawingml/2006/main">
              <a:ext uri="{FF2B5EF4-FFF2-40B4-BE49-F238E27FC236}">
                <a16:creationId xmlns:a16="http://schemas.microsoft.com/office/drawing/2014/main" id="{AAF151B2-1789-4EDE-91BE-E3F99850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33675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ADD"/>
            </a:solidFill>
            <a:prstDash val="dash"/>
          </a:ln>
        </p:spPr>
      </p:sp>
      <p:sp>
        <p:nvSpPr>
          <p:cNvPr id="10" name="actor-อุปกรณ์ผู้รับ">
            <a:extLst xmlns:a="http://schemas.openxmlformats.org/drawingml/2006/main">
              <a:ext uri="{FF2B5EF4-FFF2-40B4-BE49-F238E27FC236}">
                <a16:creationId xmlns:a16="http://schemas.microsoft.com/office/drawing/2014/main" id="{A08BDAA3-3A8D-481D-A363-C6468C6C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938" y="2114550"/>
            <a:ext cx="1762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อุปกรณ์ผู้รับ</a:t>
            </a:r>
          </a:p>
        </p:txBody>
      </p:sp>
      <p:sp>
        <p:nvSpPr>
          <p:cNvPr id="11" name="lifeline-อุปกรณ์ผู้รับ">
            <a:extLst xmlns:a="http://schemas.openxmlformats.org/drawingml/2006/main">
              <a:ext uri="{FF2B5EF4-FFF2-40B4-BE49-F238E27FC236}">
                <a16:creationId xmlns:a16="http://schemas.microsoft.com/office/drawing/2014/main" id="{1210DD27-2005-44AD-8FFF-5A5B35A3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33675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ADD"/>
            </a:solidFill>
            <a:prstDash val="dash"/>
          </a:ln>
        </p:spPr>
      </p:sp>
      <p:sp>
        <p:nvSpPr>
          <p:cNvPr id="12" name="event-1. ส่งพร้อมรหัสข้อความ-from">
            <a:extLst xmlns:a="http://schemas.openxmlformats.org/drawingml/2006/main">
              <a:ext uri="{FF2B5EF4-FFF2-40B4-BE49-F238E27FC236}">
                <a16:creationId xmlns:a16="http://schemas.microsoft.com/office/drawing/2014/main" id="{05E2F71E-712F-45B5-95D5-8DB94748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52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event-1. ส่งพร้อมรหัสข้อความ-to">
            <a:extLst xmlns:a="http://schemas.openxmlformats.org/drawingml/2006/main">
              <a:ext uri="{FF2B5EF4-FFF2-40B4-BE49-F238E27FC236}">
                <a16:creationId xmlns:a16="http://schemas.microsoft.com/office/drawing/2014/main" id="{72725615-83B6-4A2C-8707-4F03BAED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52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edge-label">
            <a:extLst xmlns:a="http://schemas.openxmlformats.org/drawingml/2006/main">
              <a:ext uri="{FF2B5EF4-FFF2-40B4-BE49-F238E27FC236}">
                <a16:creationId xmlns:a16="http://schemas.microsoft.com/office/drawing/2014/main" id="{821C2BC3-AFF9-41A0-B072-A4D7C1ED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908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1. ส่งพร้อมรหัสข้อความ</a:t>
            </a:r>
          </a:p>
        </p:txBody>
      </p:sp>
      <p:sp>
        <p:nvSpPr>
          <p:cNvPr id="16" name="event-2. เก็บเมื่อผู้รับออฟไลน์-from">
            <a:extLst xmlns:a="http://schemas.openxmlformats.org/drawingml/2006/main">
              <a:ext uri="{FF2B5EF4-FFF2-40B4-BE49-F238E27FC236}">
                <a16:creationId xmlns:a16="http://schemas.microsoft.com/office/drawing/2014/main" id="{63EA1736-9E3E-4486-A6FF-4E197886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05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event-2. เก็บเมื่อผู้รับออฟไลน์-to">
            <a:extLst xmlns:a="http://schemas.openxmlformats.org/drawingml/2006/main">
              <a:ext uri="{FF2B5EF4-FFF2-40B4-BE49-F238E27FC236}">
                <a16:creationId xmlns:a16="http://schemas.microsoft.com/office/drawing/2014/main" id="{A9CD7240-2A68-4B84-8875-3A6B6164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05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edge-label">
            <a:extLst xmlns:a="http://schemas.openxmlformats.org/drawingml/2006/main">
              <a:ext uri="{FF2B5EF4-FFF2-40B4-BE49-F238E27FC236}">
                <a16:creationId xmlns:a16="http://schemas.microsoft.com/office/drawing/2014/main" id="{ABDE0948-F3A4-44AA-BA30-B5CE4273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43275"/>
            <a:ext cx="328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2. เก็บเมื่อผู้รับออฟไลน์</a:t>
            </a:r>
          </a:p>
        </p:txBody>
      </p:sp>
      <p:sp>
        <p:nvSpPr>
          <p:cNvPr id="20" name="event-3. กลับมาออนไลน์และพร้อมรับ-from">
            <a:extLst xmlns:a="http://schemas.openxmlformats.org/drawingml/2006/main">
              <a:ext uri="{FF2B5EF4-FFF2-40B4-BE49-F238E27FC236}">
                <a16:creationId xmlns:a16="http://schemas.microsoft.com/office/drawing/2014/main" id="{E07BEB74-F57F-46C7-940F-C981EFF9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2576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event-3. กลับมาออนไลน์และพร้อมรับ-to">
            <a:extLst xmlns:a="http://schemas.openxmlformats.org/drawingml/2006/main">
              <a:ext uri="{FF2B5EF4-FFF2-40B4-BE49-F238E27FC236}">
                <a16:creationId xmlns:a16="http://schemas.microsoft.com/office/drawing/2014/main" id="{820F394E-BB0D-46B1-94A6-4B183674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576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edge-label">
            <a:extLst xmlns:a="http://schemas.openxmlformats.org/drawingml/2006/main">
              <a:ext uri="{FF2B5EF4-FFF2-40B4-BE49-F238E27FC236}">
                <a16:creationId xmlns:a16="http://schemas.microsoft.com/office/drawing/2014/main" id="{CB6FC4CA-5C49-40E8-AA6C-54D7B92F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95725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3. กลับมาออนไลน์และพร้อมรับ</a:t>
            </a:r>
          </a:p>
        </p:txBody>
      </p:sp>
      <p:sp>
        <p:nvSpPr>
          <p:cNvPr id="24" name="event-4. คืนข้อความที่รอส่ง-from">
            <a:extLst xmlns:a="http://schemas.openxmlformats.org/drawingml/2006/main">
              <a:ext uri="{FF2B5EF4-FFF2-40B4-BE49-F238E27FC236}">
                <a16:creationId xmlns:a16="http://schemas.microsoft.com/office/drawing/2014/main" id="{C682D59E-BCDD-4FAC-98C4-5B4D1426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01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event-4. คืนข้อความที่รอส่ง-to">
            <a:extLst xmlns:a="http://schemas.openxmlformats.org/drawingml/2006/main">
              <a:ext uri="{FF2B5EF4-FFF2-40B4-BE49-F238E27FC236}">
                <a16:creationId xmlns:a16="http://schemas.microsoft.com/office/drawing/2014/main" id="{C78A260E-8456-4F85-89FC-907C0919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101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edge-label">
            <a:extLst xmlns:a="http://schemas.openxmlformats.org/drawingml/2006/main">
              <a:ext uri="{FF2B5EF4-FFF2-40B4-BE49-F238E27FC236}">
                <a16:creationId xmlns:a16="http://schemas.microsoft.com/office/drawing/2014/main" id="{3A0EFBA4-BD74-4FB5-A519-C8A89799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48175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4. คืนข้อความที่รอส่ง</a:t>
            </a:r>
          </a:p>
        </p:txBody>
      </p:sp>
      <p:sp>
        <p:nvSpPr>
          <p:cNvPr id="28" name="event-5. ส่งถึงอุปกรณ์-from">
            <a:extLst xmlns:a="http://schemas.openxmlformats.org/drawingml/2006/main">
              <a:ext uri="{FF2B5EF4-FFF2-40B4-BE49-F238E27FC236}">
                <a16:creationId xmlns:a16="http://schemas.microsoft.com/office/drawing/2014/main" id="{48925B2E-BDFF-4094-8E93-E16BC220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3625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event-5. ส่งถึงอุปกรณ์-to">
            <a:extLst xmlns:a="http://schemas.openxmlformats.org/drawingml/2006/main">
              <a:ext uri="{FF2B5EF4-FFF2-40B4-BE49-F238E27FC236}">
                <a16:creationId xmlns:a16="http://schemas.microsoft.com/office/drawing/2014/main" id="{979D6C67-1C20-4B78-9D36-AFD25D62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53625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edge-label">
            <a:extLst xmlns:a="http://schemas.openxmlformats.org/drawingml/2006/main">
              <a:ext uri="{FF2B5EF4-FFF2-40B4-BE49-F238E27FC236}">
                <a16:creationId xmlns:a16="http://schemas.microsoft.com/office/drawing/2014/main" id="{4BF7C7AF-EEDC-45F5-8FED-ADAA419F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006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5. ส่งถึงอุปกรณ์</a:t>
            </a:r>
          </a:p>
        </p:txBody>
      </p:sp>
      <p:sp>
        <p:nvSpPr>
          <p:cNvPr id="32" name="read">
            <a:extLst xmlns:a="http://schemas.openxmlformats.org/drawingml/2006/main">
              <a:ext uri="{FF2B5EF4-FFF2-40B4-BE49-F238E27FC236}">
                <a16:creationId xmlns:a16="http://schemas.microsoft.com/office/drawing/2014/main" id="{62BE4869-33BE-4479-BCBF-A774F6C9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8905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9050">
            <a:solidFill>
              <a:srgbClr val="A34D18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อ่านแล้ว: ต้องมีเหตุการณ์ผู้ใช้เปิดอ่านหรือกลไกเพิ่มเติม</a:t>
            </a:r>
          </a:p>
        </p:txBody>
      </p:sp>
      <p:sp>
        <p:nvSpPr>
          <p:cNvPr id="33" name="body">
            <a:extLst xmlns:a="http://schemas.openxmlformats.org/drawingml/2006/main">
              <a:ext uri="{FF2B5EF4-FFF2-40B4-BE49-F238E27FC236}">
                <a16:creationId xmlns:a16="http://schemas.microsoft.com/office/drawing/2014/main" id="{D6999B8C-7C89-45E5-97E7-6D37C83C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ที่เก็บรอส่งกับประวัติแชตระยะยาวทำคนละหน้าที่</a:t>
            </a:r>
          </a:p>
        </p:txBody>
      </p:sp>
    </p:spTree>
    <p:extLst>
      <p:ext uri="{BB962C8B-B14F-4D97-AF65-F5344CB8AC3E}">
        <p14:creationId xmlns:p14="http://schemas.microsoft.com/office/powerpoint/2010/main" val="11988622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2BA337F-8E10-44FE-9C63-5279AD4A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เปรียบเทียบกรณีศึกษาทั้งสาม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724B07D-AC45-44FD-AFDD-B4A5C007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7FF32-7D80-4CCF-98C8-6C69470E5031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3381375"/>
                <a:gridCol w="3286125"/>
                <a:gridCol w="3200400"/>
              </a:tblGrid>
              <a:tr h="988219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กรณี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ADD"/>
                      </a:solidFill>
                      <a:prstDash val="solid"/>
                    </a:lnL>
                    <a:lnR w="9525">
                      <a:solidFill>
                        <a:srgbClr val="C9DADD"/>
                      </a:solidFill>
                      <a:prstDash val="solid"/>
                    </a:lnR>
                    <a:lnT w="9525">
                      <a:solidFill>
                        <a:srgbClr val="C9DADD"/>
                      </a:solidFill>
                      <a:prstDash val="solid"/>
                    </a:lnT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102439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ปัญหาและข้อมูลสำคัญ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T w="9525">
                      <a:solidFill>
                        <a:srgbClr val="C9DADD"/>
                      </a:solidFill>
                      <a:prstDash val="solid"/>
                    </a:lnT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102439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กลไกที่พิจารณา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T w="9525">
                      <a:solidFill>
                        <a:srgbClr val="C9DADD"/>
                      </a:solidFill>
                      <a:prstDash val="solid"/>
                    </a:lnT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102439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สิ่งตรวจ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T w="9525">
                      <a:solidFill>
                        <a:srgbClr val="C9DADD"/>
                      </a:solidFill>
                      <a:prstDash val="solid"/>
                    </a:lnT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102439"/>
                    </a:solidFill>
                  </a:tcPr>
                </a:tc>
              </a:tr>
              <a:tr h="988219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087E8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เพลง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ADD"/>
                      </a:solidFill>
                      <a:prstDash val="solid"/>
                    </a:lnL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ค้นรายการและส่งสื่อ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ข้อมูลเพลง / ไฟล์เสียง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API / ที่เก็บสื่อ / cache หรือ CDN ตามโจทย์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ค้นข้อมูลถูก / เปิดสื่อได้ / ข้อมูลอัปเดตตามเกณฑ์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8219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087E8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จอง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ADD"/>
                      </a:solidFill>
                      <a:prstDash val="solid"/>
                    </a:lnL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คำขอซ้ำและแย่งทรัพยากร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จำนวนคงเหลือ / รายการจอง / รหัสงาน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Idempotency / transaction / lock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ไม่สร้างรายการเดิมซ้ำ / ไม่จองเกินจำนวน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8219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087E8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แชต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ADD"/>
                      </a:solidFill>
                      <a:prstDash val="solid"/>
                    </a:lnL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ผู้รับออฟไลน์และหลายสถานะ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ข้อความ / ผู้รับ / สถานะส่ง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ที่เก็บรอส่ง / ส่งใหม่ตามเงื่อนไข / ตรวจข้อความซ้ำ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กลับมาแล้วรับข้อความได้ / แยกส่งถึงกับอ่านแล้ว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ADF1E6A-D4AC-41E4-94C6-BAD07398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เลือกกลไกตามข้อกำหนดและผลที่ต้องตรวจ แต่ละระบบไม่จำเป็นต้องใช้ส่วนประกอบเหมือนกัน</a:t>
            </a:r>
          </a:p>
        </p:txBody>
      </p:sp>
    </p:spTree>
    <p:extLst>
      <p:ext uri="{BB962C8B-B14F-4D97-AF65-F5344CB8AC3E}">
        <p14:creationId xmlns:p14="http://schemas.microsoft.com/office/powerpoint/2010/main" val="2198360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9F2F8B-36EA-4912-8E34-B0770967A16C}"/>
              </a:ext>
            </a:extLst>
          </p:cNvPr>
          <p:cNvCxnSpPr>
            <a:stCxn xmlns:a="http://schemas.openxmlformats.org/drawingml/2006/main" id="42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3128963" y="550545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  <a:tailEnd type="triangle" w="med" len="me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32E378-69ED-4981-B2FF-9692C16714F7}"/>
              </a:ext>
            </a:extLst>
          </p:cNvPr>
          <p:cNvCxnSpPr>
            <a:stCxn xmlns:a="http://schemas.openxmlformats.org/drawingml/2006/main" id="45" idx="1"/>
            <a:endCxn xmlns:a="http://schemas.openxmlformats.org/drawingml/2006/main" id="42" idx="3"/>
          </p:cNvCxnSpPr>
          <p:nvPr/>
        </p:nvCxnSpPr>
        <p:spPr>
          <a:xfrm xmlns:a="http://schemas.openxmlformats.org/drawingml/2006/main" flipH="1">
            <a:off x="5572125" y="6276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  <a:tailEnd type="triangle" w="med" len="me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5E6A99-D31E-42A3-81AE-1A5E849905FA}"/>
              </a:ext>
            </a:extLst>
          </p:cNvPr>
          <p:cNvCxnSpPr>
            <a:stCxn xmlns:a="http://schemas.openxmlformats.org/drawingml/2006/main" id="44" idx="0"/>
            <a:endCxn xmlns:a="http://schemas.openxmlformats.org/drawingml/2006/main" id="45" idx="2"/>
          </p:cNvCxnSpPr>
          <p:nvPr/>
        </p:nvCxnSpPr>
        <p:spPr>
          <a:xfrm xmlns:a="http://schemas.openxmlformats.org/drawingml/2006/main" flipV="1">
            <a:off x="5905500" y="628650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115D98-4122-4D18-BF70-2293F4D26443}"/>
              </a:ext>
            </a:extLst>
          </p:cNvPr>
          <p:cNvCxnSpPr>
            <a:stCxn xmlns:a="http://schemas.openxmlformats.org/drawingml/2006/main" id="43" idx="1"/>
            <a:endCxn xmlns:a="http://schemas.openxmlformats.org/drawingml/2006/main" id="44" idx="3"/>
          </p:cNvCxnSpPr>
          <p:nvPr/>
        </p:nvCxnSpPr>
        <p:spPr>
          <a:xfrm xmlns:a="http://schemas.openxmlformats.org/drawingml/2006/main" flipH="1">
            <a:off x="5915025" y="6705600"/>
            <a:ext cx="460057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49D2A5-FCF1-44DB-B010-0068372F9C1D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10520363" y="5305425"/>
            <a:ext cx="4763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25511D-20EF-4BDC-8AB4-6D24797610FC}"/>
              </a:ext>
            </a:extLst>
          </p:cNvPr>
          <p:cNvCxnSpPr>
            <a:stCxn xmlns:a="http://schemas.openxmlformats.org/drawingml/2006/main" id="37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 flipV="1">
            <a:off x="3128963" y="5505450"/>
            <a:ext cx="4763" cy="15240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B7F3D5-5968-488E-8AD4-B04E8D2CA4B2}"/>
              </a:ext>
            </a:extLst>
          </p:cNvPr>
          <p:cNvCxnSpPr>
            <a:stCxn xmlns:a="http://schemas.openxmlformats.org/drawingml/2006/main" id="36" idx="1"/>
            <a:endCxn xmlns:a="http://schemas.openxmlformats.org/drawingml/2006/main" id="37" idx="3"/>
          </p:cNvCxnSpPr>
          <p:nvPr/>
        </p:nvCxnSpPr>
        <p:spPr>
          <a:xfrm xmlns:a="http://schemas.openxmlformats.org/drawingml/2006/main" flipH="1">
            <a:off x="3143250" y="5667375"/>
            <a:ext cx="737235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63A06D-6338-4F4E-A70B-29DD5398386F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10520363" y="5305425"/>
            <a:ext cx="4763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5F3CAC-937F-46BA-8253-8BCA39CB8DD4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53450" y="4852988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1F9DF8-E784-4C5D-B03C-B12FB45CCB22}"/>
              </a:ext>
            </a:extLst>
          </p:cNvPr>
          <p:cNvCxnSpPr>
            <a:stCxn xmlns:a="http://schemas.openxmlformats.org/drawingml/2006/main" id="28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10515600" y="3248025"/>
            <a:ext cx="4763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  <a:tailEnd type="triangle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4037C8-20C2-4A5D-9021-4DAABA65DD30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200775" y="3571875"/>
            <a:ext cx="430530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1AB024-BF5E-4AFE-A1E7-70AE4C3B3132}"/>
              </a:ext>
            </a:extLst>
          </p:cNvPr>
          <p:cNvCxnSpPr>
            <a:stCxn xmlns:a="http://schemas.openxmlformats.org/drawingml/2006/main" id="26" idx="0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V="1">
            <a:off x="6191250" y="3581400"/>
            <a:ext cx="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4F165C-CF28-409F-9FE1-4CA3D81972D3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 flipV="1">
            <a:off x="6200775" y="4848225"/>
            <a:ext cx="352425" cy="4763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34D18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3EED38-E2DB-4DB3-9B3F-AC1F1252C993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553325" y="3819525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6BA22A-5A6A-4AC3-B91D-54492B93FC62}"/>
              </a:ext>
            </a:extLst>
          </p:cNvPr>
          <p:cNvCxnSpPr>
            <a:stCxn xmlns:a="http://schemas.openxmlformats.org/drawingml/2006/main" id="2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7562850" y="3810000"/>
            <a:ext cx="294322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6DFEC-2C5B-47DA-B62F-88897DB8B9D5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10515600" y="3248025"/>
            <a:ext cx="4763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517BD-D1DD-4F8F-8CE4-E4D4D24E6B06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3128963" y="3895725"/>
            <a:ext cx="4763" cy="50482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003029-0632-45D1-A829-03745A912F9F}"/>
              </a:ext>
            </a:extLst>
          </p:cNvPr>
          <p:cNvCxnSpPr>
            <a:stCxn xmlns:a="http://schemas.openxmlformats.org/drawingml/2006/main" id="14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3143250" y="3886200"/>
            <a:ext cx="135255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CAD6D-E7A9-408C-A0CB-F3D4E712790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4500563" y="3248025"/>
            <a:ext cx="4763" cy="62865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B8B28-8E18-411F-BDAF-4421A585E8F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553450" y="2795588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2809F-2399-4B0C-9A56-F4B9FDBC412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572125" y="2795588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DC3D2-4991-4099-94D8-2B67F75A57F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447925" y="2795588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087E83"/>
            </a:solidFill>
            <a:prstDash val="solid"/>
            <a:tailEnd type="triangle" w="med" len="med"/>
          </a:ln>
        </p:spPr>
      </p:cxnSp>
      <p:sp>
        <p:nvSpPr>
          <p:cNvPr id="52" name="title">
            <a:extLst xmlns:a="http://schemas.openxmlformats.org/drawingml/2006/main">
              <a:ext uri="{FF2B5EF4-FFF2-40B4-BE49-F238E27FC236}">
                <a16:creationId xmlns:a16="http://schemas.microsoft.com/office/drawing/2014/main" id="{A599167C-FBFE-48BF-BD0B-54C35573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ตัวอย่างระบบรับลูกค้าจากเว็บไซต์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C464120-6C07-4257-B073-E6AD5531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14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7D09CFB-CDA0-4EA5-A626-32120752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ข้อเสนอของผู้จัดทำจากบทเรียนทั้งสองคลิป</a:t>
            </a:r>
          </a:p>
        </p:txBody>
      </p:sp>
      <p:sp>
        <p:nvSpPr>
          <p:cNvPr id="4" name="form">
            <a:extLst xmlns:a="http://schemas.openxmlformats.org/drawingml/2006/main">
              <a:ext uri="{FF2B5EF4-FFF2-40B4-BE49-F238E27FC236}">
                <a16:creationId xmlns:a16="http://schemas.microsoft.com/office/drawing/2014/main" id="{005B1285-B1EF-4980-A105-0A5577DB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762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ฟอร์มเว็บไซต์</a:t>
            </a:r>
          </a:p>
        </p:txBody>
      </p:sp>
      <p:sp>
        <p:nvSpPr>
          <p:cNvPr id="5" name="api">
            <a:extLst xmlns:a="http://schemas.openxmlformats.org/drawingml/2006/main">
              <a:ext uri="{FF2B5EF4-FFF2-40B4-BE49-F238E27FC236}">
                <a16:creationId xmlns:a16="http://schemas.microsoft.com/office/drawing/2014/main" id="{F90420DC-700D-4420-B6EC-0D21BD15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2143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API รับคำขอ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ตรวจข้อมูล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และกฎตรวจซ้ำ</a:t>
            </a:r>
          </a:p>
        </p:txBody>
      </p:sp>
      <p:sp>
        <p:nvSpPr>
          <p:cNvPr id="6" name="n8n">
            <a:extLst xmlns:a="http://schemas.openxmlformats.org/drawingml/2006/main">
              <a:ext uri="{FF2B5EF4-FFF2-40B4-BE49-F238E27FC236}">
                <a16:creationId xmlns:a16="http://schemas.microsoft.com/office/drawing/2014/main" id="{4CF60579-3C78-4950-9EE4-A0831E24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2000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n8n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ประสานขั้นตอน</a:t>
            </a:r>
          </a:p>
        </p:txBody>
      </p:sp>
      <p:sp>
        <p:nvSpPr>
          <p:cNvPr id="7" name="ai">
            <a:extLst xmlns:a="http://schemas.openxmlformats.org/drawingml/2006/main">
              <a:ext uri="{FF2B5EF4-FFF2-40B4-BE49-F238E27FC236}">
                <a16:creationId xmlns:a16="http://schemas.microsoft.com/office/drawing/2014/main" id="{7E2519F9-1E92-4523-93BC-964C8843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43150"/>
            <a:ext cx="1952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AI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จัดหมวดและร่าง</a:t>
            </a:r>
          </a:p>
        </p:txBody>
      </p:sp>
      <p:sp>
        <p:nvSpPr>
          <p:cNvPr id="11" name="db">
            <a:extLst xmlns:a="http://schemas.openxmlformats.org/drawingml/2006/main">
              <a:ext uri="{FF2B5EF4-FFF2-40B4-BE49-F238E27FC236}">
                <a16:creationId xmlns:a16="http://schemas.microsoft.com/office/drawing/2014/main" id="{D7F4567A-CFE8-432B-9C89-F7F6056A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8863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9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ที่เก็บข้อมูลหลัก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request ID ลูกค้า สถานะ send log</a:t>
            </a:r>
          </a:p>
        </p:txBody>
      </p:sp>
      <p:sp>
        <p:nvSpPr>
          <p:cNvPr id="12" name="human">
            <a:extLst xmlns:a="http://schemas.openxmlformats.org/drawingml/2006/main">
              <a:ext uri="{FF2B5EF4-FFF2-40B4-BE49-F238E27FC236}">
                <a16:creationId xmlns:a16="http://schemas.microsoft.com/office/drawing/2014/main" id="{596F776E-B83B-4912-98C4-E032E61C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00550"/>
            <a:ext cx="2000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คนตรวจอนุมัติ</a:t>
            </a:r>
          </a:p>
        </p:txBody>
      </p:sp>
      <p:sp>
        <p:nvSpPr>
          <p:cNvPr id="13" name="send">
            <a:extLst xmlns:a="http://schemas.openxmlformats.org/drawingml/2006/main">
              <a:ext uri="{FF2B5EF4-FFF2-40B4-BE49-F238E27FC236}">
                <a16:creationId xmlns:a16="http://schemas.microsoft.com/office/drawing/2014/main" id="{B9D04DFD-A70E-48EA-89EE-F2804D26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00550"/>
            <a:ext cx="1952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ช่องทางตอบกลับ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ส่งข้อความ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ที่อนุมัติ</a:t>
            </a:r>
          </a:p>
        </p:txBody>
      </p:sp>
      <p:sp>
        <p:nvSpPr>
          <p:cNvPr id="14" name="event-route-13-0">
            <a:extLst xmlns:a="http://schemas.openxmlformats.org/drawingml/2006/main">
              <a:ext uri="{FF2B5EF4-FFF2-40B4-BE49-F238E27FC236}">
                <a16:creationId xmlns:a16="http://schemas.microsoft.com/office/drawing/2014/main" id="{D7F19949-2EFF-4657-A972-778E1FC6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766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event-route-14-1">
            <a:extLst xmlns:a="http://schemas.openxmlformats.org/drawingml/2006/main">
              <a:ext uri="{FF2B5EF4-FFF2-40B4-BE49-F238E27FC236}">
                <a16:creationId xmlns:a16="http://schemas.microsoft.com/office/drawing/2014/main" id="{46832D2C-0CD7-4A21-992C-2402BDEB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766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edge-label">
            <a:extLst xmlns:a="http://schemas.openxmlformats.org/drawingml/2006/main">
              <a:ext uri="{FF2B5EF4-FFF2-40B4-BE49-F238E27FC236}">
                <a16:creationId xmlns:a16="http://schemas.microsoft.com/office/drawing/2014/main" id="{8A7B93DF-915C-4296-BD56-342D444B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บันทึกก่อนประมวลผล</a:t>
            </a:r>
          </a:p>
        </p:txBody>
      </p:sp>
      <p:sp>
        <p:nvSpPr>
          <p:cNvPr id="20" name="event-route-19-0">
            <a:extLst xmlns:a="http://schemas.openxmlformats.org/drawingml/2006/main">
              <a:ext uri="{FF2B5EF4-FFF2-40B4-BE49-F238E27FC236}">
                <a16:creationId xmlns:a16="http://schemas.microsoft.com/office/drawing/2014/main" id="{EFAEDBAA-7FC3-4B01-9098-118C5462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800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event-route-20-1">
            <a:extLst xmlns:a="http://schemas.openxmlformats.org/drawingml/2006/main">
              <a:ext uri="{FF2B5EF4-FFF2-40B4-BE49-F238E27FC236}">
                <a16:creationId xmlns:a16="http://schemas.microsoft.com/office/drawing/2014/main" id="{BB69551F-30C9-47C1-A1F8-589FE098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00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edge-label">
            <a:extLst xmlns:a="http://schemas.openxmlformats.org/drawingml/2006/main">
              <a:ext uri="{FF2B5EF4-FFF2-40B4-BE49-F238E27FC236}">
                <a16:creationId xmlns:a16="http://schemas.microsoft.com/office/drawing/2014/main" id="{52F7EE56-922D-4215-A575-D85BD25A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24300"/>
            <a:ext cx="2228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ร่างพร้อมข้อมูล</a:t>
            </a:r>
          </a:p>
        </p:txBody>
      </p:sp>
      <p:sp>
        <p:nvSpPr>
          <p:cNvPr id="26" name="event-route-25-0">
            <a:extLst xmlns:a="http://schemas.openxmlformats.org/drawingml/2006/main">
              <a:ext uri="{FF2B5EF4-FFF2-40B4-BE49-F238E27FC236}">
                <a16:creationId xmlns:a16="http://schemas.microsoft.com/office/drawing/2014/main" id="{8B2BED79-46A8-40AB-8089-2421D082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8387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event-route-26-1">
            <a:extLst xmlns:a="http://schemas.openxmlformats.org/drawingml/2006/main">
              <a:ext uri="{FF2B5EF4-FFF2-40B4-BE49-F238E27FC236}">
                <a16:creationId xmlns:a16="http://schemas.microsoft.com/office/drawing/2014/main" id="{F0325620-0D02-413C-8DB3-47D43E19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562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event-route-27-2">
            <a:extLst xmlns:a="http://schemas.openxmlformats.org/drawingml/2006/main">
              <a:ext uri="{FF2B5EF4-FFF2-40B4-BE49-F238E27FC236}">
                <a16:creationId xmlns:a16="http://schemas.microsoft.com/office/drawing/2014/main" id="{1E9881F8-E12E-4F78-93A8-A4B31D75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562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edge-label">
            <a:extLst xmlns:a="http://schemas.openxmlformats.org/drawingml/2006/main">
              <a:ext uri="{FF2B5EF4-FFF2-40B4-BE49-F238E27FC236}">
                <a16:creationId xmlns:a16="http://schemas.microsoft.com/office/drawing/2014/main" id="{B5AE6A5F-7987-4C7F-A376-85EAEA2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28975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ขอแก้ไขร่าง</a:t>
            </a:r>
          </a:p>
        </p:txBody>
      </p:sp>
      <p:sp>
        <p:nvSpPr>
          <p:cNvPr id="35" name="edge-label">
            <a:extLst xmlns:a="http://schemas.openxmlformats.org/drawingml/2006/main">
              <a:ext uri="{FF2B5EF4-FFF2-40B4-BE49-F238E27FC236}">
                <a16:creationId xmlns:a16="http://schemas.microsoft.com/office/drawing/2014/main" id="{070F73A3-5330-4AA8-AD54-E4957E9B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81500"/>
            <a:ext cx="914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อนุมัติ</a:t>
            </a:r>
          </a:p>
        </p:txBody>
      </p:sp>
      <p:sp>
        <p:nvSpPr>
          <p:cNvPr id="36" name="event-route-35-0">
            <a:extLst xmlns:a="http://schemas.openxmlformats.org/drawingml/2006/main">
              <a:ext uri="{FF2B5EF4-FFF2-40B4-BE49-F238E27FC236}">
                <a16:creationId xmlns:a16="http://schemas.microsoft.com/office/drawing/2014/main" id="{42D8BFCB-4B34-4F80-B4E7-909146CF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657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event-route-36-1">
            <a:extLst xmlns:a="http://schemas.openxmlformats.org/drawingml/2006/main">
              <a:ext uri="{FF2B5EF4-FFF2-40B4-BE49-F238E27FC236}">
                <a16:creationId xmlns:a16="http://schemas.microsoft.com/office/drawing/2014/main" id="{C2BC8F3D-1FBC-4614-B8E5-AFF1C31C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657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body">
            <a:extLst xmlns:a="http://schemas.openxmlformats.org/drawingml/2006/main">
              <a:ext uri="{FF2B5EF4-FFF2-40B4-BE49-F238E27FC236}">
                <a16:creationId xmlns:a16="http://schemas.microsoft.com/office/drawing/2014/main" id="{0610428E-BF10-4BE2-A1EF-C288AEFB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435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บันทึกผลการส่งและประวัติ</a:t>
            </a:r>
          </a:p>
        </p:txBody>
      </p:sp>
      <p:sp>
        <p:nvSpPr>
          <p:cNvPr id="42" name="failed">
            <a:extLst xmlns:a="http://schemas.openxmlformats.org/drawingml/2006/main">
              <a:ext uri="{FF2B5EF4-FFF2-40B4-BE49-F238E27FC236}">
                <a16:creationId xmlns:a16="http://schemas.microsoft.com/office/drawing/2014/main" id="{9B8782C5-812D-4FD4-9E2D-045BD9BD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48863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9050">
            <a:solidFill>
              <a:srgbClr val="A34D18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ส่งไม่สำเร็จ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A34D18"/>
                </a:solidFill>
                <a:latin typeface="Leelawadee UI"/>
                <a:ea typeface="Leelawadee UI"/>
                <a:cs typeface="Leelawadee UI"/>
              </a:rPr>
              <a:t>บันทึก failed และแจ้งคน</a:t>
            </a:r>
          </a:p>
        </p:txBody>
      </p:sp>
      <p:sp>
        <p:nvSpPr>
          <p:cNvPr id="43" name="event-route-42-0">
            <a:extLst xmlns:a="http://schemas.openxmlformats.org/drawingml/2006/main">
              <a:ext uri="{FF2B5EF4-FFF2-40B4-BE49-F238E27FC236}">
                <a16:creationId xmlns:a16="http://schemas.microsoft.com/office/drawing/2014/main" id="{7AC7ECEC-516B-45AA-B188-13401B57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6960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event-route-43-1">
            <a:extLst xmlns:a="http://schemas.openxmlformats.org/drawingml/2006/main">
              <a:ext uri="{FF2B5EF4-FFF2-40B4-BE49-F238E27FC236}">
                <a16:creationId xmlns:a16="http://schemas.microsoft.com/office/drawing/2014/main" id="{F4F37FD2-BD18-4A16-B8CE-9191427F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66960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event-route-44-2">
            <a:extLst xmlns:a="http://schemas.openxmlformats.org/drawingml/2006/main">
              <a:ext uri="{FF2B5EF4-FFF2-40B4-BE49-F238E27FC236}">
                <a16:creationId xmlns:a16="http://schemas.microsoft.com/office/drawing/2014/main" id="{E6ECCDE6-34FA-4B48-A54C-261DE94A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62674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body">
            <a:extLst xmlns:a="http://schemas.openxmlformats.org/drawingml/2006/main">
              <a:ext uri="{FF2B5EF4-FFF2-40B4-BE49-F238E27FC236}">
                <a16:creationId xmlns:a16="http://schemas.microsoft.com/office/drawing/2014/main" id="{A7769C4C-3E9F-4C26-9AAE-BA7BCB74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94360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7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7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7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7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7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7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7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7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7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request ID ช่วยตามงาน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กันซ้ำด้วยกฎตรวจและที่เก็บผล</a:t>
            </a:r>
          </a:p>
        </p:txBody>
      </p:sp>
    </p:spTree>
    <p:extLst>
      <p:ext uri="{BB962C8B-B14F-4D97-AF65-F5344CB8AC3E}">
        <p14:creationId xmlns:p14="http://schemas.microsoft.com/office/powerpoint/2010/main" val="975489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12D28E7-6A33-4DBB-994D-9D51C400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โครงการต่อยอดและเกณฑ์วัดผล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700DF02-330C-4042-9E51-85A2A56F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15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F6C7E70-DA40-465F-A2BA-8EB5B744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526A7A"/>
                </a:solidFill>
                <a:latin typeface="Leelawadee UI"/>
                <a:ea typeface="Leelawadee UI"/>
                <a:cs typeface="Leelawadee UI"/>
              </a:rPr>
              <a:t>ผลที่แสดงควรมาจากการวัดจริง พร้อมระบุขอบเขตงานที่ประเมิน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9DEEC-F90A-4C4A-99F7-5DE49CDF53EB}"/>
              </a:ext>
            </a:extLst>
          </p:cNvPr>
          <p:cNvGraphicFramePr/>
          <p:nvPr/>
        </p:nvGraphicFramePr>
        <p:xfrm>
          <a:off xmlns:a="http://schemas.openxmlformats.org/drawingml/2006/main" x="685800" y="224790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191000"/>
                <a:gridCol w="4533900"/>
              </a:tblGrid>
              <a:tr h="80962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โครงการ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ADD"/>
                      </a:solidFill>
                      <a:prstDash val="solid"/>
                    </a:lnL>
                    <a:lnR w="9525">
                      <a:solidFill>
                        <a:srgbClr val="C9DADD"/>
                      </a:solidFill>
                      <a:prstDash val="solid"/>
                    </a:lnR>
                    <a:lnT w="9525">
                      <a:solidFill>
                        <a:srgbClr val="C9DADD"/>
                      </a:solidFill>
                      <a:prstDash val="solid"/>
                    </a:lnT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102439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ผลส่งมอบ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T w="9525">
                      <a:solidFill>
                        <a:srgbClr val="C9DADD"/>
                      </a:solidFill>
                      <a:prstDash val="solid"/>
                    </a:lnT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102439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สิ่งที่ควรวัด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T w="9525">
                      <a:solidFill>
                        <a:srgbClr val="C9DADD"/>
                      </a:solidFill>
                      <a:prstDash val="solid"/>
                    </a:lnT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102439"/>
                    </a:solidFill>
                  </a:tcPr>
                </a:tc>
              </a:tr>
              <a:tr h="80962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087E8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อ่านเอกสาร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ADD"/>
                      </a:solidFill>
                      <a:prstDash val="solid"/>
                    </a:lnL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ข้อมูลเป็นช่อง + รายการรอตรวจ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ความถูกต้องรายช่อง / เวลาตรวจต่อเอกสาร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087E8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เตรียมเนื้อหา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ADD"/>
                      </a:solidFill>
                      <a:prstDash val="solid"/>
                    </a:lnL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ร่างพร้อมข้อมูลประกอบและผลตรวจ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เวลารวม / รอบแก้ / ข้อเท็จจริงที่ต้องแก้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1">
                          <a:solidFill>
                            <a:srgbClr val="087E83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Portfolio / บริการ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ADD"/>
                      </a:solidFill>
                      <a:prstDash val="solid"/>
                    </a:lnL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ต้นแบบ + แผนภาพ + เหตุผลและข้อจำกัด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950" b="0">
                          <a:solidFill>
                            <a:srgbClr val="183247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ผลทดสอบคำขอซ้ำ / การกู้คืน / คุณค่าต่องานจริง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ADD"/>
                      </a:solidFill>
                      <a:prstDash val="solid"/>
                    </a:lnR>
                    <a:lnB w="9525">
                      <a:solidFill>
                        <a:srgbClr val="C9D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3CC57FB-7977-4E0C-8CC4-72C2AB04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02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02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02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02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02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02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02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02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02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รวมเวลาที่คนใช้ตรวจแก้ เมื่อประเมินเวลาที่ประหยัดได้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087E83"/>
                </a:solidFill>
                <a:latin typeface="Leelawadee UI"/>
                <a:ea typeface="Leelawadee UI"/>
                <a:cs typeface="Leelawadee UI"/>
              </a:rPr>
              <a:t>ติดตามความถูกต้อง งานซ้ำ และรายการที่ยังค้าง</a:t>
            </a:r>
          </a:p>
        </p:txBody>
      </p:sp>
    </p:spTree>
    <p:extLst>
      <p:ext uri="{BB962C8B-B14F-4D97-AF65-F5344CB8AC3E}">
        <p14:creationId xmlns:p14="http://schemas.microsoft.com/office/powerpoint/2010/main" val="21347082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4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FDF55-969C-4470-AC18-C7844C65052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43800" y="33718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79D3CF"/>
            </a:solidFill>
            <a:prstDash val="solid"/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91117-86C3-4F98-B8E8-751DD167463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590925" y="33718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79D3CF"/>
            </a:solidFill>
            <a:prstDash val="solid"/>
            <a:tailEnd type="triangle" w="med" len="med"/>
          </a:ln>
        </p:spPr>
      </p:cxnSp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F731B594-C38A-4A22-A3AC-49E6EB55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บทสรุปและแนวทางประยุกต์ใช้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83E40CC-06DF-45AD-A0E4-166DBD6D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rPr>
              <a:t>16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34D686-A0D3-4AF6-8F51-859A9C02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79D3CF"/>
                </a:solidFill>
                <a:latin typeface="Leelawadee UI"/>
                <a:ea typeface="Leelawadee UI"/>
                <a:cs typeface="Leelawadee UI"/>
              </a:rPr>
              <a:t>n8n และ AI เชื่อมกระบวนการ ส่วน System Design ช่วยอธิบายโครงสร้าง</a:t>
            </a:r>
          </a:p>
        </p:txBody>
      </p:sp>
      <p:sp>
        <p:nvSpPr>
          <p:cNvPr id="4" name="problem">
            <a:extLst xmlns:a="http://schemas.openxmlformats.org/drawingml/2006/main">
              <a:ext uri="{FF2B5EF4-FFF2-40B4-BE49-F238E27FC236}">
                <a16:creationId xmlns:a16="http://schemas.microsoft.com/office/drawing/2014/main" id="{497B1CAB-39DA-4D6F-8CD9-187FEFC4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2905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เลือกโจทย์ชัด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ข้อมูลเข้า ผลลัพธ์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และผู้รับผิดชอบ</a:t>
            </a:r>
          </a:p>
        </p:txBody>
      </p:sp>
      <p:sp>
        <p:nvSpPr>
          <p:cNvPr id="5" name="connect">
            <a:extLst xmlns:a="http://schemas.openxmlformats.org/drawingml/2006/main">
              <a:ext uri="{FF2B5EF4-FFF2-40B4-BE49-F238E27FC236}">
                <a16:creationId xmlns:a16="http://schemas.microsoft.com/office/drawing/2014/main" id="{4DC0BFE2-5E08-4877-8213-AB01927A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57475"/>
            <a:ext cx="2905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เชื่อมงาน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เครื่องมือ AI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และจุดตรวจคุณภาพ</a:t>
            </a:r>
          </a:p>
        </p:txBody>
      </p:sp>
      <p:sp>
        <p:nvSpPr>
          <p:cNvPr id="6" name="correct">
            <a:extLst xmlns:a="http://schemas.openxmlformats.org/drawingml/2006/main">
              <a:ext uri="{FF2B5EF4-FFF2-40B4-BE49-F238E27FC236}">
                <a16:creationId xmlns:a16="http://schemas.microsoft.com/office/drawing/2014/main" id="{AD286300-2E1F-46D3-9343-0F54ABA8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57475"/>
            <a:ext cx="2905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4"/>
          </a:solidFill>
          <a:ln xmlns:a="http://schemas.openxmlformats.org/drawingml/2006/main" w="19050">
            <a:solidFill>
              <a:srgbClr val="C9DADD"/>
            </a:solidFill>
          </a:ln>
        </p:spPr>
        <p:txBody>
          <a:bodyPr xmlns:a="http://schemas.openxmlformats.org/drawingml/2006/main" wrap="square" lIns="114300" tIns="95250" rIns="114300" bIns="9525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รักษาความถูกต้อง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สถานะ งานซ้ำ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0">
                <a:solidFill>
                  <a:srgbClr val="102439"/>
                </a:solidFill>
                <a:latin typeface="Leelawadee UI"/>
                <a:ea typeface="Leelawadee UI"/>
                <a:cs typeface="Leelawadee UI"/>
              </a:rPr>
              <a:t>และข้อผิดพลาด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BF5D2CF0-3BBE-4F0C-81D8-65941D8C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00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00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00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00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00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00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00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00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00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79D3CF"/>
                </a:solidFill>
                <a:latin typeface="Leelawadee UI"/>
                <a:ea typeface="Leelawadee UI"/>
                <a:cs typeface="Leelawadee UI"/>
              </a:rPr>
              <a:t>ประเมินด้วยคุณค่าที่วัดจริง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40775972-FB62-4FCD-BBBB-444414CF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217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217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217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217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217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217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217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217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217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rPr>
              <a:t>รวมเวลาตรวจแก้และภาระดูแล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0">
                <a:solidFill>
                  <a:srgbClr val="DBECEE"/>
                </a:solidFill>
                <a:latin typeface="Leelawadee UI"/>
                <a:ea typeface="Leelawadee UI"/>
                <a:cs typeface="Leelawadee UI"/>
              </a:rPr>
              <a:t>ขยายเมื่ออธิบายคุณค่าและข้อจำกัดที่พบได้</a:t>
            </a:r>
          </a:p>
        </p:txBody>
      </p:sp>
    </p:spTree>
    <p:extLst>
      <p:ext uri="{BB962C8B-B14F-4D97-AF65-F5344CB8AC3E}">
        <p14:creationId xmlns:p14="http://schemas.microsoft.com/office/powerpoint/2010/main" val="961897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2026-10-19T04:20:08.7640000Z</dcterms:created>
  <dcterms:modified xsi:type="dcterms:W3CDTF">2026-10-19T04:20:08.7640000Z</dcterms:modified>
</coreProperties>
</file>