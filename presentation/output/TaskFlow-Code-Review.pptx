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0258d1f9a24462" /><Relationship Type="http://schemas.openxmlformats.org/officeDocument/2006/relationships/extended-properties" Target="/docProps/app.xml" Id="Rd1f029bad7394570" /><Relationship Type="http://schemas.openxmlformats.org/officeDocument/2006/relationships/officeDocument" Target="/ppt/presentation.xml" Id="Rae1141e514cf4291" /></Relationships>
</file>

<file path=ppt/presentation.xml><?xml version="1.0" encoding="utf-8"?>
<p:presentation xmlns:p="http://schemas.openxmlformats.org/presentationml/2006/main">
  <p:sldMasterIdLst>
    <p:sldMasterId xmlns:r="http://schemas.openxmlformats.org/officeDocument/2006/relationships" id="2147483648" r:id="R62b90a593241405c"/>
  </p:sldMasterIdLst>
  <p:notesMasterIdLst>
    <p:notesMasterId xmlns:r="http://schemas.openxmlformats.org/officeDocument/2006/relationships" r:id="Rfee72f0f637d402e"/>
  </p:notesMasterIdLst>
  <p:sldIdLst>
    <p:sldId xmlns:r="http://schemas.openxmlformats.org/officeDocument/2006/relationships" id="256" r:id="R8c1a2d94d6834573"/>
    <p:sldId xmlns:r="http://schemas.openxmlformats.org/officeDocument/2006/relationships" id="257" r:id="Rf52abc6ff214451a"/>
    <p:sldId xmlns:r="http://schemas.openxmlformats.org/officeDocument/2006/relationships" id="258" r:id="R657f4257da864881"/>
    <p:sldId xmlns:r="http://schemas.openxmlformats.org/officeDocument/2006/relationships" id="259" r:id="R7f0c158d24f749fa"/>
    <p:sldId xmlns:r="http://schemas.openxmlformats.org/officeDocument/2006/relationships" id="260" r:id="R179d1fee5bd34f9f"/>
    <p:sldId xmlns:r="http://schemas.openxmlformats.org/officeDocument/2006/relationships" id="261" r:id="R6de9d55b39114d87"/>
    <p:sldId xmlns:r="http://schemas.openxmlformats.org/officeDocument/2006/relationships" id="262" r:id="R7d3c1ac7c9d94398"/>
    <p:sldId xmlns:r="http://schemas.openxmlformats.org/officeDocument/2006/relationships" id="263" r:id="R0dd57f7fe88f4b2d"/>
    <p:sldId xmlns:r="http://schemas.openxmlformats.org/officeDocument/2006/relationships" id="264" r:id="R861b7a4a7670433b"/>
    <p:sldId xmlns:r="http://schemas.openxmlformats.org/officeDocument/2006/relationships" id="265" r:id="Rdfb2440470f04a18"/>
    <p:sldId xmlns:r="http://schemas.openxmlformats.org/officeDocument/2006/relationships" id="266" r:id="Rdc380b5cc5a14720"/>
    <p:sldId xmlns:r="http://schemas.openxmlformats.org/officeDocument/2006/relationships" id="267" r:id="Rd3a3d092fd46497c"/>
    <p:sldId xmlns:r="http://schemas.openxmlformats.org/officeDocument/2006/relationships" id="268" r:id="R5e936d7c3b6840be"/>
    <p:sldId xmlns:r="http://schemas.openxmlformats.org/officeDocument/2006/relationships" id="269" r:id="R4cadc260d0944ac0"/>
    <p:sldId xmlns:r="http://schemas.openxmlformats.org/officeDocument/2006/relationships" id="270" r:id="R4a1289260437471f"/>
    <p:sldId xmlns:r="http://schemas.openxmlformats.org/officeDocument/2006/relationships" id="271" r:id="R090a34b45fea4079"/>
    <p:sldId xmlns:r="http://schemas.openxmlformats.org/officeDocument/2006/relationships" id="272" r:id="R197d1941bdaf4bee"/>
    <p:sldId xmlns:r="http://schemas.openxmlformats.org/officeDocument/2006/relationships" id="273" r:id="R5353a676c6b74edc"/>
    <p:sldId xmlns:r="http://schemas.openxmlformats.org/officeDocument/2006/relationships" id="274" r:id="R9a1733389b9940fe"/>
    <p:sldId xmlns:r="http://schemas.openxmlformats.org/officeDocument/2006/relationships" id="275" r:id="Rd9ee89cfd4cf4f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55a5086bf1448b" /><Relationship Type="http://schemas.openxmlformats.org/officeDocument/2006/relationships/slideMaster" Target="/ppt/slideMasters/slideMaster1.xml" Id="R62b90a593241405c" /><Relationship Type="http://schemas.openxmlformats.org/officeDocument/2006/relationships/notesMaster" Target="/ppt/notesMasters/notesMaster1.xml" Id="Rfee72f0f637d402e" /><Relationship Type="http://schemas.openxmlformats.org/officeDocument/2006/relationships/presProps" Target="/ppt/presProps.xml" Id="Rb51671cefaf749b1" /><Relationship Type="http://schemas.openxmlformats.org/officeDocument/2006/relationships/tableStyles" Target="/ppt/tableStyles.xml" Id="R18a1eb10513e4938" /><Relationship Type="http://schemas.openxmlformats.org/officeDocument/2006/relationships/slide" Target="/ppt/slides/slide1.xml" Id="R8c1a2d94d6834573" /><Relationship Type="http://schemas.openxmlformats.org/officeDocument/2006/relationships/slide" Target="/ppt/slides/slide2.xml" Id="Rf52abc6ff214451a" /><Relationship Type="http://schemas.openxmlformats.org/officeDocument/2006/relationships/slide" Target="/ppt/slides/slide3.xml" Id="R657f4257da864881" /><Relationship Type="http://schemas.openxmlformats.org/officeDocument/2006/relationships/slide" Target="/ppt/slides/slide4.xml" Id="R7f0c158d24f749fa" /><Relationship Type="http://schemas.openxmlformats.org/officeDocument/2006/relationships/slide" Target="/ppt/slides/slide5.xml" Id="R179d1fee5bd34f9f" /><Relationship Type="http://schemas.openxmlformats.org/officeDocument/2006/relationships/slide" Target="/ppt/slides/slide6.xml" Id="R6de9d55b39114d87" /><Relationship Type="http://schemas.openxmlformats.org/officeDocument/2006/relationships/slide" Target="/ppt/slides/slide7.xml" Id="R7d3c1ac7c9d94398" /><Relationship Type="http://schemas.openxmlformats.org/officeDocument/2006/relationships/slide" Target="/ppt/slides/slide8.xml" Id="R0dd57f7fe88f4b2d" /><Relationship Type="http://schemas.openxmlformats.org/officeDocument/2006/relationships/slide" Target="/ppt/slides/slide9.xml" Id="R861b7a4a7670433b" /><Relationship Type="http://schemas.openxmlformats.org/officeDocument/2006/relationships/slide" Target="/ppt/slides/slide10.xml" Id="Rdfb2440470f04a18" /><Relationship Type="http://schemas.openxmlformats.org/officeDocument/2006/relationships/slide" Target="/ppt/slides/slide11.xml" Id="Rdc380b5cc5a14720" /><Relationship Type="http://schemas.openxmlformats.org/officeDocument/2006/relationships/slide" Target="/ppt/slides/slide12.xml" Id="Rd3a3d092fd46497c" /><Relationship Type="http://schemas.openxmlformats.org/officeDocument/2006/relationships/slide" Target="/ppt/slides/slide13.xml" Id="R5e936d7c3b6840be" /><Relationship Type="http://schemas.openxmlformats.org/officeDocument/2006/relationships/slide" Target="/ppt/slides/slide14.xml" Id="R4cadc260d0944ac0" /><Relationship Type="http://schemas.openxmlformats.org/officeDocument/2006/relationships/slide" Target="/ppt/slides/slide15.xml" Id="R4a1289260437471f" /><Relationship Type="http://schemas.openxmlformats.org/officeDocument/2006/relationships/slide" Target="/ppt/slides/slide16.xml" Id="R090a34b45fea4079" /><Relationship Type="http://schemas.openxmlformats.org/officeDocument/2006/relationships/slide" Target="/ppt/slides/slide17.xml" Id="R197d1941bdaf4bee" /><Relationship Type="http://schemas.openxmlformats.org/officeDocument/2006/relationships/slide" Target="/ppt/slides/slide18.xml" Id="R5353a676c6b74edc" /><Relationship Type="http://schemas.openxmlformats.org/officeDocument/2006/relationships/slide" Target="/ppt/slides/slide19.xml" Id="R9a1733389b9940fe" /><Relationship Type="http://schemas.openxmlformats.org/officeDocument/2006/relationships/slide" Target="/ppt/slides/slide20.xml" Id="Rd9ee89cfd4cf4f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5f060aebd9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6e3d2a39344711" /><Relationship Type="http://schemas.openxmlformats.org/officeDocument/2006/relationships/notesMaster" Target="/ppt/notesMasters/notesMaster1.xml" Id="R204ad85ebff54c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4d652d9fad4182" /><Relationship Type="http://schemas.openxmlformats.org/officeDocument/2006/relationships/notesMaster" Target="/ppt/notesMasters/notesMaster1.xml" Id="Rc6ecb00212b048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068e118614b9f" /><Relationship Type="http://schemas.openxmlformats.org/officeDocument/2006/relationships/notesMaster" Target="/ppt/notesMasters/notesMaster1.xml" Id="Re155381f8b7144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5760c87f0d4288" /><Relationship Type="http://schemas.openxmlformats.org/officeDocument/2006/relationships/notesMaster" Target="/ppt/notesMasters/notesMaster1.xml" Id="Re5e97a2f415243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03090fbfa2444d" /><Relationship Type="http://schemas.openxmlformats.org/officeDocument/2006/relationships/notesMaster" Target="/ppt/notesMasters/notesMaster1.xml" Id="R5597452ae9fa49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6bca3dd5674c1f" /><Relationship Type="http://schemas.openxmlformats.org/officeDocument/2006/relationships/notesMaster" Target="/ppt/notesMasters/notesMaster1.xml" Id="Rf48d044fbc6c40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ce53e1853c49c5" /><Relationship Type="http://schemas.openxmlformats.org/officeDocument/2006/relationships/notesMaster" Target="/ppt/notesMasters/notesMaster1.xml" Id="R91021d55785145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47ac20002b4a11" /><Relationship Type="http://schemas.openxmlformats.org/officeDocument/2006/relationships/notesMaster" Target="/ppt/notesMasters/notesMaster1.xml" Id="R80e53d73efdb4d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e325539c934e6e" /><Relationship Type="http://schemas.openxmlformats.org/officeDocument/2006/relationships/notesMaster" Target="/ppt/notesMasters/notesMaster1.xml" Id="R89d34d5421df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421986658f4996" /><Relationship Type="http://schemas.openxmlformats.org/officeDocument/2006/relationships/notesMaster" Target="/ppt/notesMasters/notesMaster1.xml" Id="Rc8c912b73ef74e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aa84cbdc494e43" /><Relationship Type="http://schemas.openxmlformats.org/officeDocument/2006/relationships/notesMaster" Target="/ppt/notesMasters/notesMaster1.xml" Id="R98e09f2dc28440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73388587b6457d" /><Relationship Type="http://schemas.openxmlformats.org/officeDocument/2006/relationships/notesMaster" Target="/ppt/notesMasters/notesMaster1.xml" Id="Ra841fd915a7a44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b9d889e2b741f1" /><Relationship Type="http://schemas.openxmlformats.org/officeDocument/2006/relationships/notesMaster" Target="/ppt/notesMasters/notesMaster1.xml" Id="R69f45b4ba2644e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feabc41db64857" /><Relationship Type="http://schemas.openxmlformats.org/officeDocument/2006/relationships/notesMaster" Target="/ppt/notesMasters/notesMaster1.xml" Id="R06a73223a98649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c2af884fe84ed5" /><Relationship Type="http://schemas.openxmlformats.org/officeDocument/2006/relationships/notesMaster" Target="/ppt/notesMasters/notesMaster1.xml" Id="R3050378702c74d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41576958cc4baf" /><Relationship Type="http://schemas.openxmlformats.org/officeDocument/2006/relationships/notesMaster" Target="/ppt/notesMasters/notesMaster1.xml" Id="Re84babf29d6447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7ed86b2bd24eda" /><Relationship Type="http://schemas.openxmlformats.org/officeDocument/2006/relationships/notesMaster" Target="/ppt/notesMasters/notesMaster1.xml" Id="Raa07045cbb1d43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304b5263444a33" /><Relationship Type="http://schemas.openxmlformats.org/officeDocument/2006/relationships/notesMaster" Target="/ppt/notesMasters/notesMaster1.xml" Id="Ra92cc75d5b62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12e4c0bddc439d" /><Relationship Type="http://schemas.openxmlformats.org/officeDocument/2006/relationships/notesMaster" Target="/ppt/notesMasters/notesMaster1.xml" Id="R5677ffb18e6541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3d4823591e4352" /><Relationship Type="http://schemas.openxmlformats.org/officeDocument/2006/relationships/notesMaster" Target="/ppt/notesMasters/notesMaster1.xml" Id="Rf8c70ee239c14c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ใช้เปิดการนำเสนอ: TaskFlow เป็นระบบจัดการงานส่วนตัว ผู้ใช้สมัครบัญชีและจัดการเฉพาะงานของตัวเอง มี frontend, backend และ SQL ที่เชื่อมกันจริง เป้าหมายคือเข้าใจเส้นทางของข้อมูลและอธิบายเหตุผลของโค้ดแต่ละชั้นได้ ใช้แนวคิด API authentication กับ monorepo จากบทเรียนมาเลือกขอบเขตที่เล็กพอสำหรับ code review</a:t>
            </a:r>
          </a:p>
          <a:p xmlns:a="http://schemas.openxmlformats.org/drawingml/2006/main">
            <a:r>
              <a:t/>
            </a:r>
          </a:p>
          <a:p xmlns:a="http://schemas.openxmlformats.org/drawingml/2006/main">
            <a:r>
              <a:t>หัวใจหลัก: งานหนึ่งรายการต้องมีเจ้าของ และ backend ตรวจเจ้าของทุกครั้งที่อ่านหรือแก้ไข</a:t>
            </a:r>
          </a:p>
          <a:p xmlns:a="http://schemas.openxmlformats.org/drawingml/2006/main">
            <a:r>
              <a:t/>
            </a:r>
          </a:p>
          <a:p xmlns:a="http://schemas.openxmlformats.org/drawingml/2006/main">
            <a:r>
              <a:t>ถาม: พร้อม production ทันทีหรือไม่? ตอบ: เป็นพื้นฐานสำหรับเรียนรู้ที่มีการทดสอบด้านความปลอดภัย ต้องเพิ่มงานปฏิบัติการและตรวจระบบจริงก่อนเปิดใช้กับคนภายนอก</a:t>
            </a:r>
          </a:p>
          <a:p xmlns:a="http://schemas.openxmlformats.org/drawingml/2006/main">
            <a:r>
              <a:t/>
            </a:r>
          </a:p>
          <a:p xmlns:a="http://schemas.openxmlformats.org/drawingml/2006/main">
            <a:r>
              <a:t>แหล่งอ้างอิง</a:t>
            </a:r>
          </a:p>
          <a:p xmlns:a="http://schemas.openxmlformats.org/drawingml/2006/main">
            <a:r>
              <a:t>https://www.youtube.com/watch?v=U_D14T5TYuk</a:t>
            </a:r>
          </a:p>
          <a:p xmlns:a="http://schemas.openxmlformats.org/drawingml/2006/main">
            <a:r>
              <a:t>https://syntax.fm/videos/syntax-side-dish-explainers/monorepos-what-why-when-and-how-or-full-stack-react-hono-example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โจทย์: งานส่วนตัวอยู่หลายที่และไม่เห็นว่างานใดค้างหรือครบกำหนด TaskFlow รวมรายการไว้หน้าเดียว ให้ค้นหา กรองตามสถานะและความสำคัญ และดูจำนวนงาน</a:t>
            </a:r>
          </a:p>
          <a:p xmlns:a="http://schemas.openxmlformats.org/drawingml/2006/main">
            <a:r>
              <a:t/>
            </a:r>
          </a:p>
          <a:p xmlns:a="http://schemas.openxmlformats.org/drawingml/2006/main">
            <a:r>
              <a:t>ใช้ทำอะไร: CRUD ย่อจาก Create, Read, Update, Delete คือสร้าง อ่าน แก้ไข ลบงาน ผู้ใช้กำหนดสถานะ ความสำคัญ และวันครบกำหนดที่อาจเว้นว่างได้</a:t>
            </a:r>
          </a:p>
          <a:p xmlns:a="http://schemas.openxmlformats.org/drawingml/2006/main">
            <a:r>
              <a:t/>
            </a:r>
          </a:p>
          <a:p xmlns:a="http://schemas.openxmlformats.org/drawingml/2006/main">
            <a:r>
              <a:t>หัวใจหลัก: มีผู้ใช้ประเภทเดียว ทุกคนเข้าถึงเฉพาะงานตัวเอง จึงไม่เพิ่มระบบแอดมินหรือการมอบหมายทีมที่เกินโจทย์</a:t>
            </a:r>
          </a:p>
          <a:p xmlns:a="http://schemas.openxmlformats.org/drawingml/2006/main">
            <a:r>
              <a:t/>
            </a:r>
          </a:p>
          <a:p xmlns:a="http://schemas.openxmlformats.org/drawingml/2006/main">
            <a:r>
              <a:t>ถาม: เหตุใดเลือก To-do? ตอบ: ทำให้ตรวจ authentication, ownership, validation, SQL และ integration ได้ในเรื่องที่เข้าใจง่าย</a:t>
            </a:r>
          </a:p>
          <a:p xmlns:a="http://schemas.openxmlformats.org/drawingml/2006/main">
            <a:r>
              <a:t/>
            </a:r>
          </a:p>
          <a:p xmlns:a="http://schemas.openxmlformats.org/drawingml/2006/main">
            <a:r>
              <a:t>จุดชี้โค้ด: apps/api/src/tasks.ts และ packages/shared/src/index.ts</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ขอบเขตการศึกษาอย่างตรงไปตรงมา: วิดีโอ Auth ได้อ่านคำบรรยายภาษาอังกฤษอัตโนมัติทั้งหมด 3,450 บรรทัดถึงเวลา 1:44:21 และศึกษาโค้ดของผู้สอน คำบรรยายอัตโนมัติอาจถอดคำผิด จึงตรวจสาระกับ repository และเอกสารหลัก วิดีโอ Monorepo ไม่มี transcript ที่ดึงได้ ศึกษาหน้าผู้สอน ลำดับหัวข้อ และตัวอย่าง repository จึงไม่อ้างว่ารับชมภาพและเสียงครบทั้งสองวิดีโอ</a:t>
            </a:r>
          </a:p>
          <a:p xmlns:a="http://schemas.openxmlformats.org/drawingml/2006/main">
            <a:r>
              <a:t/>
            </a:r>
          </a:p>
          <a:p xmlns:a="http://schemas.openxmlformats.org/drawingml/2006/main">
            <a:r>
              <a:t>วิดีโอแรกสอน Hono CRUD, scrypt พร้อม salt, JWT, การสร้าง API key แบบสุ่มแล้วเก็บ SHA-256 digest และการตรวจเจ้าของข้อมูล วิดีโอสองอธิบาย workspace และ package ที่แชร์ config/types ระหว่าง React กับ Hono</a:t>
            </a:r>
          </a:p>
          <a:p xmlns:a="http://schemas.openxmlformats.org/drawingml/2006/main">
            <a:r>
              <a:t/>
            </a:r>
          </a:p>
          <a:p xmlns:a="http://schemas.openxmlformats.org/drawingml/2006/main">
            <a:r>
              <a:t>TaskFlow เลือกต่างจากตัวอย่าง: SQLite แทน PostgreSQL/ORM, npm workspaces แทน pnpm, JWT ใน cookie อายุ 30 นาทีและ SQL session สำหรับเพิกถอน, ไม่มี admin, API key เฉพาะ reminders และเพิ่ม n8n แบบ optional</a:t>
            </a:r>
          </a:p>
          <a:p xmlns:a="http://schemas.openxmlformats.org/drawingml/2006/main">
            <a:r>
              <a:t/>
            </a:r>
          </a:p>
          <a:p xmlns:a="http://schemas.openxmlformats.org/drawingml/2006/main">
            <a:r>
              <a:t>ถาม: ทำตามทุกบรรทัดหรือไม่? ตอบ: นำหลักการมาใช้และบอกเหตุผลของความต่าง ไม่อ้างว่าระบบเหมือน tutorial ทุกส่วน</a:t>
            </a:r>
          </a:p>
          <a:p xmlns:a="http://schemas.openxmlformats.org/drawingml/2006/main">
            <a:r>
              <a:t/>
            </a:r>
          </a:p>
          <a:p xmlns:a="http://schemas.openxmlformats.org/drawingml/2006/main">
            <a:r>
              <a:t>แหล่งอ้างอิง</a:t>
            </a:r>
          </a:p>
          <a:p xmlns:a="http://schemas.openxmlformats.org/drawingml/2006/main">
            <a:r>
              <a:t>https://www.youtube.com/watch?v=U_D14T5TYuk</a:t>
            </a:r>
          </a:p>
          <a:p xmlns:a="http://schemas.openxmlformats.org/drawingml/2006/main">
            <a:r>
              <a:t>https://github.com/WebDevSimplified/hono-api-with-auth-crash-course</a:t>
            </a:r>
          </a:p>
          <a:p xmlns:a="http://schemas.openxmlformats.org/drawingml/2006/main">
            <a:r>
              <a:t>https://syntax.fm/videos/syntax-side-dish-explainers/monorepos-what-why-when-and-how-or-full-stack-react-hono-example</a:t>
            </a:r>
          </a:p>
          <a:p xmlns:a="http://schemas.openxmlformats.org/drawingml/2006/main">
            <a:r>
              <a:t>https://github.com/w3cj/monorepo-example-tasks-app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ภาพเป็น screenshot จาก TaskFlow ที่รันจริง ไม่ใช่ mockup ตัวอย่างบัญชีมีงาน 5 รายการ ภาพด้านซ้ายแสดงหน้าจอมือถือ ส่วนคำอธิบายด้านขวาให้พูดต่อโดยไม่ต้องอ่านข้อความเล็กในภาพ</a:t>
            </a:r>
          </a:p>
          <a:p xmlns:a="http://schemas.openxmlformats.org/drawingml/2006/main">
            <a:r>
              <a:t/>
            </a:r>
          </a:p>
          <a:p xmlns:a="http://schemas.openxmlformats.org/drawingml/2006/main">
            <a:r>
              <a:t>ใช้ทำอะไร: React จัดหน้าจอและสถานะของ UI เช่น modal เพิ่มงาน การค้นหา ตัวกรอง และแสดงผล API Tailwind CSS ใช้ utility classes สำหรับระยะห่าง สี และ responsive layout</a:t>
            </a:r>
          </a:p>
          <a:p xmlns:a="http://schemas.openxmlformats.org/drawingml/2006/main">
            <a:r>
              <a:t/>
            </a:r>
          </a:p>
          <a:p xmlns:a="http://schemas.openxmlformats.org/drawingml/2006/main">
            <a:r>
              <a:t>หัวใจหลัก: หน้าจอช่วยผู้ใช้ทำงาน แต่ backend เป็นผู้ตัดสินสิทธิ์และความถูกต้องของข้อมูล</a:t>
            </a:r>
          </a:p>
          <a:p xmlns:a="http://schemas.openxmlformats.org/drawingml/2006/main">
            <a:r>
              <a:t/>
            </a:r>
          </a:p>
          <a:p xmlns:a="http://schemas.openxmlformats.org/drawingml/2006/main">
            <a:r>
              <a:t>หลักฐานที่ตรวจแล้ว: สมัครบัญชีใหม่และเห็นรายการว่าง เข้าสู่ระบบ เพิ่ม แก้ไขวันครบกำหนด เปลี่ยนสถานะ ค้นหา ลบ สร้าง key แสดง secret ครั้งเดียว เพิกถอน และออกจากระบบ ตรวจหน้าจอ desktop 1440 และ mobile 390 ไม่มี page overflow แนวนอน</a:t>
            </a:r>
          </a:p>
          <a:p xmlns:a="http://schemas.openxmlformats.org/drawingml/2006/main">
            <a:r>
              <a:t/>
            </a:r>
          </a:p>
          <a:p xmlns:a="http://schemas.openxmlformats.org/drawingml/2006/main">
            <a:r>
              <a:t>ถาม: การซ่อนปุ่มเพียงพอหรือไม่? ตอบ: ไม่พอ ผู้ใช้เรียก API เองได้ จึงต้องตรวจสิทธิ์ที่ API</a:t>
            </a:r>
          </a:p>
          <a:p xmlns:a="http://schemas.openxmlformats.org/drawingml/2006/main">
            <a:r>
              <a:t/>
            </a:r>
          </a:p>
          <a:p xmlns:a="http://schemas.openxmlformats.org/drawingml/2006/main">
            <a:r>
              <a:t>จุดชี้โค้ด: apps/web/src</a:t>
            </a:r>
          </a:p>
          <a:p xmlns:a="http://schemas.openxmlformats.org/drawingml/2006/main">
            <a:r>
              <a:t/>
            </a:r>
          </a:p>
          <a:p xmlns:a="http://schemas.openxmlformats.org/drawingml/2006/main">
            <a:r>
              <a:t>แหล่งอ้างอิง</a:t>
            </a:r>
          </a:p>
          <a:p xmlns:a="http://schemas.openxmlformats.org/drawingml/2006/main">
            <a:r>
              <a:t>https://tailwindcss.com/docs/styling-with-utility-classes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อ่าน diagram จากซ้ายไปขวา: browser โหลด React และส่ง HTTP request ไป Hono API จากนั้น API ใช้ prepared SQL กับ SQLite งานและบัญชีเก็บในไฟล์ฐานข้อมูลจริง หลัง build Hono เสิร์ฟทั้งเว็บและ API จาก origin เดียว ใน development Vite proxy ส่ง /api ไป backend</a:t>
            </a:r>
          </a:p>
          <a:p xmlns:a="http://schemas.openxmlformats.org/drawingml/2006/main">
            <a:r>
              <a:t/>
            </a:r>
          </a:p>
          <a:p xmlns:a="http://schemas.openxmlformats.org/drawingml/2006/main">
            <a:r>
              <a:t>ใช้ทำอะไร: React เป็น UI, Hono รับ HTTP จัด middleware และ route, SQLite เป็น relational database บนเครื่องเดียว ส่วน n8n เป็นโปรแกรมภายนอกที่เรียก API โดยไม่แตะ SQL โดยตรง</a:t>
            </a:r>
          </a:p>
          <a:p xmlns:a="http://schemas.openxmlformats.org/drawingml/2006/main">
            <a:r>
              <a:t/>
            </a:r>
          </a:p>
          <a:p xmlns:a="http://schemas.openxmlformats.org/drawingml/2006/main">
            <a:r>
              <a:t>หัวใจหลัก: มี backend หนึ่งตัวและ database หนึ่งตัว การตรวจ identity กับ ownership เกิดที่ API เสมอ</a:t>
            </a:r>
          </a:p>
          <a:p xmlns:a="http://schemas.openxmlformats.org/drawingml/2006/main">
            <a:r>
              <a:t/>
            </a:r>
          </a:p>
          <a:p xmlns:a="http://schemas.openxmlformats.org/drawingml/2006/main">
            <a:r>
              <a:t>ถาม: Monorepo ทำให้เป็น microservices หรือไม่? ตอบ: ไม่เกี่ยวกัน Monorepo บอกวิธีจัด code ใน repo ระบบนี้มี API หนึ่ง process</a:t>
            </a:r>
          </a:p>
          <a:p xmlns:a="http://schemas.openxmlformats.org/drawingml/2006/main">
            <a:r>
              <a:t/>
            </a:r>
          </a:p>
          <a:p xmlns:a="http://schemas.openxmlformats.org/drawingml/2006/main">
            <a:r>
              <a:t>ถาม: เหตุใดเลือก SQLite? ตอบ: ตั้งค่าง่าย เห็น SQL จริง และเหมาะกับงานเล็กบน instance เดียว ข้อจำกัดคือไฟล์ local กับการเขียนพร้อมกัน ต้องทบทวนก่อนขยายระบบ</a:t>
            </a:r>
          </a:p>
          <a:p xmlns:a="http://schemas.openxmlformats.org/drawingml/2006/main">
            <a:r>
              <a:t/>
            </a:r>
          </a:p>
          <a:p xmlns:a="http://schemas.openxmlformats.org/drawingml/2006/main">
            <a:r>
              <a:t>แหล่งอ้างอิง</a:t>
            </a:r>
          </a:p>
          <a:p xmlns:a="http://schemas.openxmlformats.org/drawingml/2006/main">
            <a:r>
              <a:t>https://hono.dev/docs/</a:t>
            </a:r>
          </a:p>
          <a:p xmlns:a="http://schemas.openxmlformats.org/drawingml/2006/main">
            <a:r>
              <a:t>https://nodejs.org/api/sqlite.html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npm workspaces รวม package ที่เกี่ยวข้องไว้ใน repository เดียวและเชื่อม dependency ที่ประกาศไว้อย่างชัดเจน apps/web ใช้ React และ Tailwind apps/api ใช้ Hono และ node:sqlite packages/shared เก็บ Zod schema กับ TypeScript types</a:t>
            </a:r>
          </a:p>
          <a:p xmlns:a="http://schemas.openxmlformats.org/drawingml/2006/main">
            <a:r>
              <a:t/>
            </a:r>
          </a:p>
          <a:p xmlns:a="http://schemas.openxmlformats.org/drawingml/2006/main">
            <a:r>
              <a:t>ใช้ทำอะไร: schema ที่ frontend ใช้ตรวจฟอร์มและ backend ใช้ตรวจ request มาจากแหล่งเดียว ลดการกำหนดชื่อ field หรือ enum ไม่ตรงกัน</a:t>
            </a:r>
          </a:p>
          <a:p xmlns:a="http://schemas.openxmlformats.org/drawingml/2006/main">
            <a:r>
              <a:t/>
            </a:r>
          </a:p>
          <a:p xmlns:a="http://schemas.openxmlformats.org/drawingml/2006/main">
            <a:r>
              <a:t>หัวใจหลัก: แชร์เฉพาะ contract ที่ทั้งสองฝั่งต้องรู้ ไม่แชร์ database connection หรือ secret ไป frontend เพราะโค้ดเว็บถูกส่งถึง browser</a:t>
            </a:r>
          </a:p>
          <a:p xmlns:a="http://schemas.openxmlformats.org/drawingml/2006/main">
            <a:r>
              <a:t/>
            </a:r>
          </a:p>
          <a:p xmlns:a="http://schemas.openxmlformats.org/drawingml/2006/main">
            <a:r>
              <a:t>ถาม: Monorepo เหมาะทุกระบบหรือไม่? ตอบ: เหมาะเมื่อทีมและ release เกี่ยวข้องกัน แต่ repo โตขึ้นต้องดูเวลา build การแบ่งสิทธิ์และ dependency นี่เป็นงานเล็กจึงไม่ต้องเพิ่ม Turborepo หรือระบบ build ซับซ้อน</a:t>
            </a:r>
          </a:p>
          <a:p xmlns:a="http://schemas.openxmlformats.org/drawingml/2006/main">
            <a:r>
              <a:t/>
            </a:r>
          </a:p>
          <a:p xmlns:a="http://schemas.openxmlformats.org/drawingml/2006/main">
            <a:r>
              <a:t>ถาม: TypeScript เพียงพอตรวจ request หรือไม่? ตอบ: type หายไประหว่างรันและ client ภายนอกส่งข้อมูลอะไรก็ได้ ต้องตรวจ Zod ที่ backend</a:t>
            </a:r>
          </a:p>
          <a:p xmlns:a="http://schemas.openxmlformats.org/drawingml/2006/main">
            <a:r>
              <a:t/>
            </a:r>
          </a:p>
          <a:p xmlns:a="http://schemas.openxmlformats.org/drawingml/2006/main">
            <a:r>
              <a:t>จุดชี้โค้ด: package.json workspaces และ packages/shared/src/index.ts</a:t>
            </a:r>
          </a:p>
          <a:p xmlns:a="http://schemas.openxmlformats.org/drawingml/2006/main">
            <a:r>
              <a:t/>
            </a:r>
          </a:p>
          <a:p xmlns:a="http://schemas.openxmlformats.org/drawingml/2006/main">
            <a:r>
              <a:t>แหล่งอ้างอิง</a:t>
            </a:r>
          </a:p>
          <a:p xmlns:a="http://schemas.openxmlformats.org/drawingml/2006/main">
            <a:r>
              <a:t>https://syntax.fm/videos/syntax-side-dish-explainers/monorepos-what-why-when-and-how-or-full-stack-react-hono-example</a:t>
            </a:r>
          </a:p>
          <a:p xmlns:a="http://schemas.openxmlformats.org/drawingml/2006/main">
            <a:r>
              <a:t>https://docs.npmjs.com/cli/using-npm/workspaces</a:t>
            </a:r>
          </a:p>
          <a:p xmlns:a="http://schemas.openxmlformats.org/drawingml/2006/main">
            <a:r>
              <a:t>https://zod.dev/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Zod เป็น runtime validator รับข้อมูลที่ยังไม่เชื่อถือ แล้วตรวจรูปแบบและข้อจำกัดก่อนนำไปใช้ taskFields กำหนด title ยาว 3 ถึง 120 ตัวอักษร status เป็น enum และ due_date เป็นวันที่จริงหรือ null</a:t>
            </a:r>
          </a:p>
          <a:p xmlns:a="http://schemas.openxmlformats.org/drawingml/2006/main">
            <a:r>
              <a:t/>
            </a:r>
          </a:p>
          <a:p xmlns:a="http://schemas.openxmlformats.org/drawingml/2006/main">
            <a:r>
              <a:t>ใช้ทำอะไร: frontend แจ้งข้อผิดพลาดได้ไว ส่วน backend ปฏิเสธ request ที่ผิดแม้ client ข้ามหน้าเว็บ TypeScript type ช่วยระหว่างพัฒนา แต่ Zod ทำงานเมื่อ request มาถึงจริง</a:t>
            </a:r>
          </a:p>
          <a:p xmlns:a="http://schemas.openxmlformats.org/drawingml/2006/main">
            <a:r>
              <a:t/>
            </a:r>
          </a:p>
          <a:p xmlns:a="http://schemas.openxmlformats.org/drawingml/2006/main">
            <a:r>
              <a:t>หัวใจหลัก: create schema มี defaults เช่น pending และ medium แต่ PATCH schema ใช้ partial โดยไม่รับ defaults ของ create การละ field ต้องรักษาค่าเดิม</a:t>
            </a:r>
          </a:p>
          <a:p xmlns:a="http://schemas.openxmlformats.org/drawingml/2006/main">
            <a:r>
              <a:t/>
            </a:r>
          </a:p>
          <a:p xmlns:a="http://schemas.openxmlformats.org/drawingml/2006/main">
            <a:r>
              <a:t>ข้อผิดพลาดที่ test พบ: การใช้ create schema พร้อม partial เคยเติม default ใน field ที่ไม่ได้ส่ง ทำให้ PATCH เปลี่ยนค่าที่ไม่ตั้งใจ จึงแยก taskUpdateSchema จาก field definitions</a:t>
            </a:r>
          </a:p>
          <a:p xmlns:a="http://schemas.openxmlformats.org/drawingml/2006/main">
            <a:r>
              <a:t/>
            </a:r>
          </a:p>
          <a:p xmlns:a="http://schemas.openxmlformats.org/drawingml/2006/main">
            <a:r>
              <a:t>ถาม: due_date เป็น YYYY-MM-DD ก็พอหรือไม่? ตอบ: regex ตรวจรูปแบบ แต่วันที่เช่น 2026-02-30 ยังผิด จึง refine เทียบวันจริงอีกครั้ง SQL เก็บ TEXT และไม่ได้ตรวจปฏิทินเอง</a:t>
            </a:r>
          </a:p>
          <a:p xmlns:a="http://schemas.openxmlformats.org/drawingml/2006/main">
            <a:r>
              <a:t/>
            </a:r>
          </a:p>
          <a:p xmlns:a="http://schemas.openxmlformats.org/drawingml/2006/main">
            <a:r>
              <a:t>จุดชี้โค้ด: packages/shared/src/index.ts</a:t>
            </a:r>
          </a:p>
          <a:p xmlns:a="http://schemas.openxmlformats.org/drawingml/2006/main">
            <a:r>
              <a:t/>
            </a:r>
          </a:p>
          <a:p xmlns:a="http://schemas.openxmlformats.org/drawingml/2006/main">
            <a:r>
              <a:t>แหล่งอ้างอิง</a:t>
            </a:r>
          </a:p>
          <a:p xmlns:a="http://schemas.openxmlformats.org/drawingml/2006/main">
            <a:r>
              <a:t>https://zod.dev/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 diagram อธิบายความสัมพันธ์ระหว่าง entity ระบบนี้มี 5 ตาราง users เป็นเจ้าของ tasks, auth_sessions, api_keys และ reminder_deliveries แต่ละ task มีบันทึกแจ้งเตือนได้หลายวัน</a:t>
            </a:r>
          </a:p>
          <a:p xmlns:a="http://schemas.openxmlformats.org/drawingml/2006/main">
            <a:r>
              <a:t/>
            </a:r>
          </a:p>
          <a:p xmlns:a="http://schemas.openxmlformats.org/drawingml/2006/main">
            <a:r>
              <a:t>PK หรือ primary key ระบุ row อย่างไม่ซ้ำ FK หรือ foreign key อ้างถึง row ในอีกตาราง ช่วยป้องกันข้อมูลที่อ้าง user หรือ task ที่ไม่มีอยู่</a:t>
            </a:r>
          </a:p>
          <a:p xmlns:a="http://schemas.openxmlformats.org/drawingml/2006/main">
            <a:r>
              <a:t/>
            </a:r>
          </a:p>
          <a:p xmlns:a="http://schemas.openxmlformats.org/drawingml/2006/main">
            <a:r>
              <a:t>หัวใจหลัก: FK ช่วยรักษาความสัมพันธ์ แต่ไม่ได้ตรวจว่าผู้เรียกมีสิทธิ์ อ่านหรือแก้ไขยังต้องมี WHERE user_id ที่ API และกรณีบันทึก reminders ต้องตรวจ task ทุกตัวว่าเป็นของ key owner</a:t>
            </a:r>
          </a:p>
          <a:p xmlns:a="http://schemas.openxmlformats.org/drawingml/2006/main">
            <a:r>
              <a:t/>
            </a:r>
          </a:p>
          <a:p xmlns:a="http://schemas.openxmlformats.org/drawingml/2006/main">
            <a:r>
              <a:t>UNIQUE(user_id, task_id, notification_date, channel) ให้ฐานข้อมูลป้องกันบันทึกแจ้งซ้ำในวันเดียวกัน ส่วน CHECK จำกัด enum สถานะ ความสำคัญ และ channel</a:t>
            </a:r>
          </a:p>
          <a:p xmlns:a="http://schemas.openxmlformats.org/drawingml/2006/main">
            <a:r>
              <a:t/>
            </a:r>
          </a:p>
          <a:p xmlns:a="http://schemas.openxmlformats.org/drawingml/2006/main">
            <a:r>
              <a:t>ถาม: เหตุใดไม่มีตาราง roles? ตอบ: ผู้ใช้ทุกคนมีสิทธิ์แบบเดียวกัน ขอบเขตนี้ไม่ต้องมี admin</a:t>
            </a:r>
          </a:p>
          <a:p xmlns:a="http://schemas.openxmlformats.org/drawingml/2006/main">
            <a:r>
              <a:t/>
            </a:r>
          </a:p>
          <a:p xmlns:a="http://schemas.openxmlformats.org/drawingml/2006/main">
            <a:r>
              <a:t>จุดชี้โค้ด: apps/api/src/schema.sql</a:t>
            </a:r>
          </a:p>
          <a:p xmlns:a="http://schemas.openxmlformats.org/drawingml/2006/main">
            <a:r>
              <a:t/>
            </a:r>
          </a:p>
          <a:p xmlns:a="http://schemas.openxmlformats.org/drawingml/2006/main">
            <a:r>
              <a:t>แหล่งอ้างอิง</a:t>
            </a:r>
          </a:p>
          <a:p xmlns:a="http://schemas.openxmlformats.org/drawingml/2006/main">
            <a:r>
              <a:t>https://nodejs.org/api/sqlite.html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ตัวอย่างมาจาก route อ่านงานตาม id ใน apps/api/src/tasks.ts ใช้ WHERE id=? AND user_id=? และ bind ค่า id กับ user.id จาก session ที่ backend ตรวจแล้ว ไม่อ่าน user_id จาก request body</a:t>
            </a:r>
          </a:p>
          <a:p xmlns:a="http://schemas.openxmlformats.org/drawingml/2006/main">
            <a:r>
              <a:t/>
            </a:r>
          </a:p>
          <a:p xmlns:a="http://schemas.openxmlformats.org/drawingml/2006/main">
            <a:r>
              <a:t>ใช้ทำอะไร: prepared query แยก SQL structure ออกจากค่าที่ผู้ใช้ส่งมา เครื่องหมาย ? เป็นตำแหน่งของค่า จึงไม่ต้องต่อ string input เข้า SQL</a:t>
            </a:r>
          </a:p>
          <a:p xmlns:a="http://schemas.openxmlformats.org/drawingml/2006/main">
            <a:r>
              <a:t/>
            </a:r>
          </a:p>
          <a:p xmlns:a="http://schemas.openxmlformats.org/drawingml/2006/main">
            <a:r>
              <a:t>หัวใจหลัก: การรู้ task id ไม่ให้สิทธิ์เข้าถึง ข้อมูลจะคืนก็ต่อเมื่อเจ้าของตรงกับ identity ปัจจุบัน ถ้างานไม่มีหรือเป็นของผู้อื่น API คืน 404 เหมือนกัน</a:t>
            </a:r>
          </a:p>
          <a:p xmlns:a="http://schemas.openxmlformats.org/drawingml/2006/main">
            <a:r>
              <a:t/>
            </a:r>
          </a:p>
          <a:p xmlns:a="http://schemas.openxmlformats.org/drawingml/2006/main">
            <a:r>
              <a:t>ถาม: ใช้ UUID แล้วต้องตรวจเจ้าของหรือไม่? ตอบ: ต้องตรวจ UUID เป็น identifier ไม่ใช่ authorization</a:t>
            </a:r>
          </a:p>
          <a:p xmlns:a="http://schemas.openxmlformats.org/drawingml/2006/main">
            <a:r>
              <a:t/>
            </a:r>
          </a:p>
          <a:p xmlns:a="http://schemas.openxmlformats.org/drawingml/2006/main">
            <a:r>
              <a:t>ถาม: prepared query ป้องกันทุกอย่างหรือไม่? ตอบ: ป้องกันการแทรกค่าลง query แต่ยังต้องตรวจ enum, ความยาว และ ownership รวมถึง whitelist เมื่อเลือกชื่อ column แบบ dynamic</a:t>
            </a:r>
          </a:p>
          <a:p xmlns:a="http://schemas.openxmlformats.org/drawingml/2006/main">
            <a:r>
              <a:t/>
            </a:r>
          </a:p>
          <a:p xmlns:a="http://schemas.openxmlformats.org/drawingml/2006/main">
            <a:r>
              <a:t>จุดชี้โค้ด: tasks.ts สำหรับ SELECT, UPDATE และ DELETE ที่มี user_id ทุกกรณี</a:t>
            </a:r>
          </a:p>
          <a:p xmlns:a="http://schemas.openxmlformats.org/drawingml/2006/main">
            <a:r>
              <a:t/>
            </a:r>
          </a:p>
          <a:p xmlns:a="http://schemas.openxmlformats.org/drawingml/2006/main">
            <a:r>
              <a:t>แหล่งอ้างอิง</a:t>
            </a:r>
          </a:p>
          <a:p xmlns:a="http://schemas.openxmlformats.org/drawingml/2006/main">
            <a:r>
              <a:t>https://nodejs.org/api/sqlite.html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Sequence diagram แสดงเหตุการณ์ตามเวลา จากบนลงล่าง Browser ส่ง email/password ไป /api/auth/login จากนั้น Hono ตรวจ Zod schema อ่านผู้ใช้ด้วย prepared query และคำนวณ scrypt เพื่อตรวจรหัสผ่าน</a:t>
            </a:r>
          </a:p>
          <a:p xmlns:a="http://schemas.openxmlformats.org/drawingml/2006/main">
            <a:r>
              <a:t/>
            </a:r>
          </a:p>
          <a:p xmlns:a="http://schemas.openxmlformats.org/drawingml/2006/main">
            <a:r>
              <a:t>ถ้าถูกต้อง API สร้าง auth_sessions row อายุ 30 นาที แล้วเซ็น JWT ที่มี sub=userId และ sid=sessionId ส่งกลับใน cookie พร้อมข้อมูล user ที่ไม่มี password hash ถ้าผิดคืนข้อความเดียวกันสำหรับอีเมลที่ไม่พบและ password ผิด</a:t>
            </a:r>
          </a:p>
          <a:p xmlns:a="http://schemas.openxmlformats.org/drawingml/2006/main">
            <a:r>
              <a:t/>
            </a:r>
          </a:p>
          <a:p xmlns:a="http://schemas.openxmlformats.org/drawingml/2006/main">
            <a:r>
              <a:t>ใช้ทำอะไร: session row ทำให้เพิกถอนการเข้าสู่ระบบได้ JWT ลายเซ็นช่วยตรวจว่าข้อมูลไม่ได้ถูกแก้โดย client</a:t>
            </a:r>
          </a:p>
          <a:p xmlns:a="http://schemas.openxmlformats.org/drawingml/2006/main">
            <a:r>
              <a:t/>
            </a:r>
          </a:p>
          <a:p xmlns:a="http://schemas.openxmlformats.org/drawingml/2006/main">
            <a:r>
              <a:t>หัวใจหลัก: server เป็นผู้สร้าง identity และ browser เก็บ cookie โดย JavaScript อ่านไม่ได้เพราะ HttpOnly</a:t>
            </a:r>
          </a:p>
          <a:p xmlns:a="http://schemas.openxmlformats.org/drawingml/2006/main">
            <a:r>
              <a:t/>
            </a:r>
          </a:p>
          <a:p xmlns:a="http://schemas.openxmlformats.org/drawingml/2006/main">
            <a:r>
              <a:t>ถาม: ใช้ session พร้อม JWT ทำให้เสีย stateless หรือไม่? ตอบ: ใช่ ระบบนี้เลือกตรวจ SQL ทุก request เพื่อ logout มีผลทันที แลกกับ database lookup หนึ่งครั้ง</a:t>
            </a:r>
          </a:p>
          <a:p xmlns:a="http://schemas.openxmlformats.org/drawingml/2006/main">
            <a:r>
              <a:t/>
            </a:r>
          </a:p>
          <a:p xmlns:a="http://schemas.openxmlformats.org/drawingml/2006/main">
            <a:r>
              <a:t>จุดชี้โค้ด: apps/api/src/auth.ts และ security.ts</a:t>
            </a:r>
          </a:p>
          <a:p xmlns:a="http://schemas.openxmlformats.org/drawingml/2006/main">
            <a:r>
              <a:t/>
            </a:r>
          </a:p>
          <a:p xmlns:a="http://schemas.openxmlformats.org/drawingml/2006/main">
            <a:r>
              <a:t>แหล่งอ้างอิง</a:t>
            </a:r>
          </a:p>
          <a:p xmlns:a="http://schemas.openxmlformats.org/drawingml/2006/main">
            <a:r>
              <a:t>https://github.com/panva/jose</a:t>
            </a:r>
          </a:p>
          <a:p xmlns:a="http://schemas.openxmlformats.org/drawingml/2006/main">
            <a:r>
              <a:t>https://nodejs.org/api/crypto.html</a:t>
            </a:r>
          </a:p>
          <a:p xmlns:a="http://schemas.openxmlformats.org/drawingml/2006/main">
            <a:r>
              <a:t>https://hono.dev/docs/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JWT คือ JSON Web Token ระบบนี้ใช้ signed token แบบ HS256 มีส่วน header, payload, signature โดย payload อ่านได้ จึงใส่เฉพาะ sub, sid, iat, exp, iss, aud ไม่ใส่ password หรือ secret</a:t>
            </a:r>
          </a:p>
          <a:p xmlns:a="http://schemas.openxmlformats.org/drawingml/2006/main">
            <a:r>
              <a:t/>
            </a:r>
          </a:p>
          <a:p xmlns:a="http://schemas.openxmlformats.org/drawingml/2006/main">
            <a:r>
              <a:t>ใช้ทำอะไร: verify ตรวจ signature พร้อม allowlist algorithm=HS256, วันหมดอายุ, issuer=taskflow และ audience=taskflow-web จากนั้น join users กับ auth_sessions เพื่อตรวจ owner, expiry และ revoked_at</a:t>
            </a:r>
          </a:p>
          <a:p xmlns:a="http://schemas.openxmlformats.org/drawingml/2006/main">
            <a:r>
              <a:t/>
            </a:r>
          </a:p>
          <a:p xmlns:a="http://schemas.openxmlformats.org/drawingml/2006/main">
            <a:r>
              <a:t>หัวใจหลัก: JWT ยังไม่หมดอายุก็ใช้ไม่ได้ถ้า session ถูก revoke logout ทั้งแก้ revoked_at และลบ cookie จึงป้องกัน replay cookie เก่าหลัง logout</a:t>
            </a:r>
          </a:p>
          <a:p xmlns:a="http://schemas.openxmlformats.org/drawingml/2006/main">
            <a:r>
              <a:t/>
            </a:r>
          </a:p>
          <a:p xmlns:a="http://schemas.openxmlformats.org/drawingml/2006/main">
            <a:r>
              <a:t>Cookie HttpOnly จำกัดการอ่าน cookie ด้วย JavaScript SameSite=Lax ลดการส่ง cookie ในบางคำขอข้ามไซต์ Secure บังคับ HTTPS ใน production และ Origin guard ปฏิเสธ mutation จาก origin ที่ไม่อนุญาต การควบคุมเหล่านี้ยังไม่ทำให้ XSS หมดไป จึงต้องไม่ render HTML ที่ผู้ใช้ส่งโดยไม่ควบคุม</a:t>
            </a:r>
          </a:p>
          <a:p xmlns:a="http://schemas.openxmlformats.org/drawingml/2006/main">
            <a:r>
              <a:t/>
            </a:r>
          </a:p>
          <a:p xmlns:a="http://schemas.openxmlformats.org/drawingml/2006/main">
            <a:r>
              <a:t>ถาม: ทำไมอายุ 30 นาที? ตอบ: เป็น tradeoff สำหรับ demo ระหว่างการใช้งานกับช่วงเวลาของ token ที่รั่ว ไม่มี refresh token หมดอายุแล้ว login ใหม่</a:t>
            </a:r>
          </a:p>
          <a:p xmlns:a="http://schemas.openxmlformats.org/drawingml/2006/main">
            <a:r>
              <a:t/>
            </a:r>
          </a:p>
          <a:p xmlns:a="http://schemas.openxmlformats.org/drawingml/2006/main">
            <a:r>
              <a:t>จุดชี้โค้ด: security.ts, sessionMiddleware และ logout ใน auth.ts</a:t>
            </a:r>
          </a:p>
          <a:p xmlns:a="http://schemas.openxmlformats.org/drawingml/2006/main">
            <a:r>
              <a:t/>
            </a:r>
          </a:p>
          <a:p xmlns:a="http://schemas.openxmlformats.org/drawingml/2006/main">
            <a:r>
              <a:t>แหล่งอ้างอิง</a:t>
            </a:r>
          </a:p>
          <a:p xmlns:a="http://schemas.openxmlformats.org/drawingml/2006/main">
            <a:r>
              <a:t>https://github.com/panva/jose</a:t>
            </a:r>
          </a:p>
          <a:p xmlns:a="http://schemas.openxmlformats.org/drawingml/2006/main">
            <a:r>
              <a:t>https://cheatsheetseries.owasp.org/cheatsheets/Session_Management_Cheat_Sheet.html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Password เป็นความลับที่คนเลือก อาจเดาได้ง่าย จึงใช้ scrypt ซึ่งใช้ทรัพยากรในการคำนวณพร้อม random salt 16 bytes แต่ละบัญชี การตรวจเปรียบเทียบ digest ใช้ timingSafeEqual salt ไม่จำเป็นต้องเป็นความลับ</a:t>
            </a:r>
          </a:p>
          <a:p xmlns:a="http://schemas.openxmlformats.org/drawingml/2006/main">
            <a:r>
              <a:t/>
            </a:r>
          </a:p>
          <a:p xmlns:a="http://schemas.openxmlformats.org/drawingml/2006/main">
            <a:r>
              <a:t>API key สร้างจาก randomBytes(32) เป็นความลับสุ่มที่มี entropy สูง เก็บ SHA-256 digest ใน SQL และคืน raw secret เฉพาะ response ตอนสร้าง Prefix ใช้ให้ผู้ใช้ระบุ key โดยไม่เปิด secret</a:t>
            </a:r>
          </a:p>
          <a:p xmlns:a="http://schemas.openxmlformats.org/drawingml/2006/main">
            <a:r>
              <a:t/>
            </a:r>
          </a:p>
          <a:p xmlns:a="http://schemas.openxmlformats.org/drawingml/2006/main">
            <a:r>
              <a:t>หัวใจหลัก: JWT cookie ใช้แทนผู้ใช้บนเว็บ API key scope reminders ใช้แทนโปรแกรมภายนอกและผูก user_id เจ้าของ key ไม่ให้สร้างหรือแก้ไข tasks</a:t>
            </a:r>
          </a:p>
          <a:p xmlns:a="http://schemas.openxmlformats.org/drawingml/2006/main">
            <a:r>
              <a:t/>
            </a:r>
          </a:p>
          <a:p xmlns:a="http://schemas.openxmlformats.org/drawingml/2006/main">
            <a:r>
              <a:t>Key มีอายุ 30 วันและเพิกถอนได้ผ่านหน้า integrations จำกัด key ที่ยังใช้ได้สูงสุด 5 รายการ เมื่อสูญหายให้ revoke และสร้างใหม่ ไม่สามารถกู้ secret จาก digest</a:t>
            </a:r>
          </a:p>
          <a:p xmlns:a="http://schemas.openxmlformats.org/drawingml/2006/main">
            <a:r>
              <a:t/>
            </a:r>
          </a:p>
          <a:p xmlns:a="http://schemas.openxmlformats.org/drawingml/2006/main">
            <a:r>
              <a:t>ถาม: ทำไม key ใช้ SHA-256 แต่ password ใช้ scrypt? ตอบ: password มีโอกาสเดาง่าย ต้องใช้ hashing ช้า key สุ่ม 32 bytes ทำให้ brute force ไม่สมเหตุผลจึงใช้ digest lookup เร็วได้</a:t>
            </a:r>
          </a:p>
          <a:p xmlns:a="http://schemas.openxmlformats.org/drawingml/2006/main">
            <a:r>
              <a:t/>
            </a:r>
          </a:p>
          <a:p xmlns:a="http://schemas.openxmlformats.org/drawingml/2006/main">
            <a:r>
              <a:t>จุดชี้โค้ด: security.ts และ integrations.ts</a:t>
            </a:r>
          </a:p>
          <a:p xmlns:a="http://schemas.openxmlformats.org/drawingml/2006/main">
            <a:r>
              <a:t/>
            </a:r>
          </a:p>
          <a:p xmlns:a="http://schemas.openxmlformats.org/drawingml/2006/main">
            <a:r>
              <a:t>แหล่งอ้างอิง</a:t>
            </a:r>
          </a:p>
          <a:p xmlns:a="http://schemas.openxmlformats.org/drawingml/2006/main">
            <a:r>
              <a:t>https://nodejs.org/api/crypto.html</a:t>
            </a:r>
          </a:p>
          <a:p xmlns:a="http://schemas.openxmlformats.org/drawingml/2006/main">
            <a:r>
              <a:t>https://github.com/WebDevSimplified/hono-api-with-auth-crash-course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แสดงเส้นทาง mutation ปกติ เช่น POST /api/tasks ทุก request ได้ request_id และ secure response headers จากนั้น /api ตรวจ body limit 16KB และ Origin/Sec-Fetch-Site ก่อน route</a:t>
            </a:r>
          </a:p>
          <a:p xmlns:a="http://schemas.openxmlformats.org/drawingml/2006/main">
            <a:r>
              <a:t/>
            </a:r>
          </a:p>
          <a:p xmlns:a="http://schemas.openxmlformats.org/drawingml/2006/main">
            <a:r>
              <a:t>Login กับ register เพิ่ม in-memory limiter 20 attempts ต่อ 15 นาทีต่อ client identity ใน local จะรวมเป็น local bucket Protected web routes ตรวจ JWT และ session หนึ่งครั้ง Integration routes ใช้ API key แทน session</a:t>
            </a:r>
          </a:p>
          <a:p xmlns:a="http://schemas.openxmlformats.org/drawingml/2006/main">
            <a:r>
              <a:t/>
            </a:r>
          </a:p>
          <a:p xmlns:a="http://schemas.openxmlformats.org/drawingml/2006/main">
            <a:r>
              <a:t>Route ตรวจ JSON media type แบบตรงตัวและ Zod ก่อน query ตรวจเจ้าของใน SQL แล้วส่ง JSON response ถ้า error รูปแบบสม่ำเสมอคือ error.code, error.message, error.request_id และ server ไม่คืนรายละเอียด internal error</a:t>
            </a:r>
          </a:p>
          <a:p xmlns:a="http://schemas.openxmlformats.org/drawingml/2006/main">
            <a:r>
              <a:t/>
            </a:r>
          </a:p>
          <a:p xmlns:a="http://schemas.openxmlformats.org/drawingml/2006/main">
            <a:r>
              <a:t>หัวใจหลัก: validation, authentication และ authorization เป็นคนละขั้น ตรวจรูปแบบดีไม่ได้แปลว่าได้สิทธิ์</a:t>
            </a:r>
          </a:p>
          <a:p xmlns:a="http://schemas.openxmlformats.org/drawingml/2006/main">
            <a:r>
              <a:t/>
            </a:r>
          </a:p>
          <a:p xmlns:a="http://schemas.openxmlformats.org/drawingml/2006/main">
            <a:r>
              <a:t>ถาม: ใส่ rate limit กับทุก route หรือไม่? ตอบ: ตอนนี้เฉพาะ login/register เพื่อควบคุมการลอง credentials limiter อยู่ใน memory และเป็น process เดียว ต้องวางแผน distributed store และ trusted proxy ก่อนขยาย deployment</a:t>
            </a:r>
          </a:p>
          <a:p xmlns:a="http://schemas.openxmlformats.org/drawingml/2006/main">
            <a:r>
              <a:t/>
            </a:r>
          </a:p>
          <a:p xmlns:a="http://schemas.openxmlformats.org/drawingml/2006/main">
            <a:r>
              <a:t>จุดชี้โค้ด: app.ts, context.ts และ route files</a:t>
            </a:r>
          </a:p>
          <a:p xmlns:a="http://schemas.openxmlformats.org/drawingml/2006/main">
            <a:r>
              <a:t/>
            </a:r>
          </a:p>
          <a:p xmlns:a="http://schemas.openxmlformats.org/drawingml/2006/main">
            <a:r>
              <a:t>แหล่งอ้างอิง</a:t>
            </a:r>
          </a:p>
          <a:p xmlns:a="http://schemas.openxmlformats.org/drawingml/2006/main">
            <a:r>
              <a:t>https://hono.dev/docs/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Permission matrix ระบุว่า session user จัดการได้เฉพาะ tasks ของตัวเอง และสร้างหรือ revoke keys ของตัวเอง API key เรียกได้เฉพาะ due-tasks กับ reminders เมื่อขาด credential จะได้ 401 และ task ของผู้อื่นจะได้ 404</a:t>
            </a:r>
          </a:p>
          <a:p xmlns:a="http://schemas.openxmlformats.org/drawingml/2006/main">
            <a:r>
              <a:t/>
            </a:r>
          </a:p>
          <a:p xmlns:a="http://schemas.openxmlformats.org/drawingml/2006/main">
            <a:r>
              <a:t>สถานะเป็น pending, in_progress, completed ผู้ใช้เลือกเปลี่ยนสถานะของงานตัวเองได้ ไม่มี workflow approval หรือ transition constraint เพราะนี่คือ personal To-do ต้องการให้เปลี่ยนกลับได้ง่าย ความสำคัญมี low, medium, high</a:t>
            </a:r>
          </a:p>
          <a:p xmlns:a="http://schemas.openxmlformats.org/drawingml/2006/main">
            <a:r>
              <a:t/>
            </a:r>
          </a:p>
          <a:p xmlns:a="http://schemas.openxmlformats.org/drawingml/2006/main">
            <a:r>
              <a:t>หัวใจหลัก: API key ถูกจำกัดทาง route และ scope ไม่ใช่บัตรผ่านทุก endpoint ใช้ session เพื่อออก key และใช้ key เพื่อ integration</a:t>
            </a:r>
          </a:p>
          <a:p xmlns:a="http://schemas.openxmlformats.org/drawingml/2006/main">
            <a:r>
              <a:t/>
            </a:r>
          </a:p>
          <a:p xmlns:a="http://schemas.openxmlformats.org/drawingml/2006/main">
            <a:r>
              <a:t>ถาม: ต้องมี role หรือไม่? ตอบ: role จำเป็นเมื่อผู้ใช้มีชุดสิทธิ์ต่างกัน งานนี้มีสิทธิ์แบบเดียว จึงใช้ owner check ให้เห็นหลักการชัด</a:t>
            </a:r>
          </a:p>
          <a:p xmlns:a="http://schemas.openxmlformats.org/drawingml/2006/main">
            <a:r>
              <a:t/>
            </a:r>
          </a:p>
          <a:p xmlns:a="http://schemas.openxmlformats.org/drawingml/2006/main">
            <a:r>
              <a:t>ถาม: completed งานยังแจ้งเตือนหรือไม่? ตอบ: due query ตัด completed ออก รวมงานครบกำหนดและงานค้างที่ due_date&lt;=วันที่เลือก</a:t>
            </a:r>
          </a:p>
          <a:p xmlns:a="http://schemas.openxmlformats.org/drawingml/2006/main">
            <a:r>
              <a:t/>
            </a:r>
          </a:p>
          <a:p xmlns:a="http://schemas.openxmlformats.org/drawingml/2006/main">
            <a:r>
              <a:t>จุดชี้โค้ด: tasks.ts และ integrations.ts</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contract บอก method, path, credential, request และ response ที่ทั้ง frontend กับ backend ต้องตกลงกัน CRUD ใช้ POST สร้าง คืน 201 GET อ่าน PATCH แก้บาง field และ DELETE ลบ คืน 204</a:t>
            </a:r>
          </a:p>
          <a:p xmlns:a="http://schemas.openxmlformats.org/drawingml/2006/main">
            <a:r>
              <a:t/>
            </a:r>
          </a:p>
          <a:p xmlns:a="http://schemas.openxmlformats.org/drawingml/2006/main">
            <a:r>
              <a:t>Auth มี register/login/me/logout Keys มี list/create/revoke Integration มี GET due-tasks และ POST reminders ยังมี summary และ reminders สำหรับหน้าเว็บ รวมถึง health ตรวจ SQL SELECT 1</a:t>
            </a:r>
          </a:p>
          <a:p xmlns:a="http://schemas.openxmlformats.org/drawingml/2006/main">
            <a:r>
              <a:t/>
            </a:r>
          </a:p>
          <a:p xmlns:a="http://schemas.openxmlformats.org/drawingml/2006/main">
            <a:r>
              <a:t>Error schema ใช้ code, message, request_id สถานะ 400 คือ input หรือ JSON ที่ผิด 401 คือ credential ไม่ผ่าน 403 คือ Origin guard 404 คืองานไม่พบหรือเจ้าของไม่ตรง 409 คือ email ซ้ำหรือ key เกิน limit 413 คือ body ใหญ่กว่า 16KB 429 คือ auth rate limit และ 500 คืนข้อความทั่วไป</a:t>
            </a:r>
          </a:p>
          <a:p xmlns:a="http://schemas.openxmlformats.org/drawingml/2006/main">
            <a:r>
              <a:t/>
            </a:r>
          </a:p>
          <a:p xmlns:a="http://schemas.openxmlformats.org/drawingml/2006/main">
            <a:r>
              <a:t>หัวใจหลัก: 401 กับ 403 มีความหมายต่างกัน และ 404 ใช้ไม่เปิดเผยการมีอยู่ของ task ผู้อื่น</a:t>
            </a:r>
          </a:p>
          <a:p xmlns:a="http://schemas.openxmlformats.org/drawingml/2006/main">
            <a:r>
              <a:t/>
            </a:r>
          </a:p>
          <a:p xmlns:a="http://schemas.openxmlformats.org/drawingml/2006/main">
            <a:r>
              <a:t>ถาม: POST reminders ส่งอีเมลหรือไม่? ตอบ: บันทึก delivery receipt เท่านั้น n8n SMTP node เป็นตัวส่ง</a:t>
            </a:r>
          </a:p>
          <a:p xmlns:a="http://schemas.openxmlformats.org/drawingml/2006/main">
            <a:r>
              <a:t/>
            </a:r>
          </a:p>
          <a:p xmlns:a="http://schemas.openxmlformats.org/drawingml/2006/main">
            <a:r>
              <a:t>จุดชี้โค้ด: app.ts, auth.ts, tasks.ts, integrations.ts</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n8n เป็น workflow automation แบบเชื่อม node ใช้ Schedule Trigger ตั้ง 07:30 ใน Asia/Bangkok แล้ว HTTP GET /api/integrations/due-tasks ด้วย x-api-key หาก tasks.length&gt;0 จึงสร้างอีเมลรวมและส่ง SMTP ไป response.user.email จากนั้น POST /api/integrations/reminders ด้วย task_ids, date และ channel=email</a:t>
            </a:r>
          </a:p>
          <a:p xmlns:a="http://schemas.openxmlformats.org/drawingml/2006/main">
            <a:r>
              <a:t/>
            </a:r>
          </a:p>
          <a:p xmlns:a="http://schemas.openxmlformats.org/drawingml/2006/main">
            <a:r>
              <a:t>ใช้ทำอะไร: ทดลองให้โปรแกรมภายนอกเรียก API โดยไม่ฝังการส่งอีเมลใน backend และไม่ให้ n8n เข้าฐานข้อมูลโดยตรง API key เป็นของผู้ใช้หนึ่งคน จึงส่งข้อมูลเฉพาะเจ้าของ key</a:t>
            </a:r>
          </a:p>
          <a:p xmlns:a="http://schemas.openxmlformats.org/drawingml/2006/main">
            <a:r>
              <a:t/>
            </a:r>
          </a:p>
          <a:p xmlns:a="http://schemas.openxmlformats.org/drawingml/2006/main">
            <a:r>
              <a:t>หัวใจหลัก: ถ้าไม่มีงานก็ไม่ส่ง และ record หลัง SMTP node สำเร็จ ใช้ date จาก GET response snapshot เดิมใน POST เพื่อไม่เปลี่ยนวันระหว่าง workflow</a:t>
            </a:r>
          </a:p>
          <a:p xmlns:a="http://schemas.openxmlformats.org/drawingml/2006/main">
            <a:r>
              <a:t/>
            </a:r>
          </a:p>
          <a:p xmlns:a="http://schemas.openxmlformats.org/drawingml/2006/main">
            <a:r>
              <a:t>ส่วนนี้เป็น optional ไฟล์ workflow นำเข้าได้และตรวจ JSON/expression กับ docker compose config แล้ว แต่ยังไม่ได้ import ใน n8n จริงหรือส่ง SMTP เพราะต้องใส่ credential ของผู้ใช้ workflow ยังไม่ activate อัตโนมัติ</a:t>
            </a:r>
          </a:p>
          <a:p xmlns:a="http://schemas.openxmlformats.org/drawingml/2006/main">
            <a:r>
              <a:t/>
            </a:r>
          </a:p>
          <a:p xmlns:a="http://schemas.openxmlformats.org/drawingml/2006/main">
            <a:r>
              <a:t>ถาม: API อยู่ localhost Docker เห็นหรือไม่? ตอบ: Docker ใช้ host.docker.internal และ backend ต้อง bind 0.0.0.0 อย่างตั้งใจ ถ้ารัน n8n บน host ใช้ localhost ได้</a:t>
            </a:r>
          </a:p>
          <a:p xmlns:a="http://schemas.openxmlformats.org/drawingml/2006/main">
            <a:r>
              <a:t/>
            </a:r>
          </a:p>
          <a:p xmlns:a="http://schemas.openxmlformats.org/drawingml/2006/main">
            <a:r>
              <a:t>จุดชี้โค้ด: n8n/workflow JSON และ docs/n8n-guide.md</a:t>
            </a:r>
          </a:p>
          <a:p xmlns:a="http://schemas.openxmlformats.org/drawingml/2006/main">
            <a:r>
              <a:t/>
            </a:r>
          </a:p>
          <a:p xmlns:a="http://schemas.openxmlformats.org/drawingml/2006/main">
            <a:r>
              <a:t>แหล่งอ้างอิง</a:t>
            </a:r>
          </a:p>
          <a:p xmlns:a="http://schemas.openxmlformats.org/drawingml/2006/main">
            <a:r>
              <a:t>https://docs.n8n.io/integrations/builtin/core-nodes/n8n-nodes-base.scheduletrigger/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 UNIQUE(user_id,task_id,notification_date,channel) ป้องกัน receipt ซ้ำในวันเดียวกัน GET due-tasks เลือกงานเจ้าของ key ที่ยังไม่ completed, due_date&lt;=date และไม่มี receipt ของวันนั้น จำกัดรอบละ 100 tasks</a:t>
            </a:r>
          </a:p>
          <a:p xmlns:a="http://schemas.openxmlformats.org/drawingml/2006/main">
            <a:r>
              <a:t/>
            </a:r>
          </a:p>
          <a:p xmlns:a="http://schemas.openxmlformats.org/drawingml/2006/main">
            <a:r>
              <a:t>POST reminders ตรวจ task ทุก id ว่าเป็นของ key owner ภายใน SQL transaction ก่อน insert ถ้ามี task ผิดเจ้าของจะ rollback ทั้ง batch INSERT OR IGNORE ทำให้ POST ซ้ำไม่เพิ่ม row ซ้ำ</a:t>
            </a:r>
          </a:p>
          <a:p xmlns:a="http://schemas.openxmlformats.org/drawingml/2006/main">
            <a:r>
              <a:t/>
            </a:r>
          </a:p>
          <a:p xmlns:a="http://schemas.openxmlformats.org/drawingml/2006/main">
            <a:r>
              <a:t>หัวใจหลัก: SQL receipt ช่วยลดการส่งซ้ำ แต่ SMTP กับ SQL อยู่คนละระบบ จึงไม่ใช่ exactly-once ถ้าส่ง email แล้ว process crash ก่อน POST record รอบถัดไปอาจส่งซ้ำ workflow สองตัวรันพร้อมกันอาจ GET งานเดียวกันก่อนบันทึก</a:t>
            </a:r>
          </a:p>
          <a:p xmlns:a="http://schemas.openxmlformats.org/drawingml/2006/main">
            <a:r>
              <a:t/>
            </a:r>
          </a:p>
          <a:p xmlns:a="http://schemas.openxmlformats.org/drawingml/2006/main">
            <a:r>
              <a:t>แนวปฏิบัติขอบเขตนี้: ใช้ workflow เดียว หลีกเลี่ยง concurrent runs ตรวจ failed execution และทบทวนว่ารอบละ 100 งานเพียงพอ หากต้องการ reliability มากขึ้นต้องออกแบบ queue/outbox และ provider idempotency เพิ่ม</a:t>
            </a:r>
          </a:p>
          <a:p xmlns:a="http://schemas.openxmlformats.org/drawingml/2006/main">
            <a:r>
              <a:t/>
            </a:r>
          </a:p>
          <a:p xmlns:a="http://schemas.openxmlformats.org/drawingml/2006/main">
            <a:r>
              <a:t>ถาม: receipt พิสูจน์ผู้ใช้ได้อ่าน email หรือไม่? ตอบ: ไม่ได้ SMTP success หมายถึงขั้นตอนส่งยอมรับคำขอ ไม่พิสูจน์ inbox หรือการอ่าน</a:t>
            </a:r>
          </a:p>
          <a:p xmlns:a="http://schemas.openxmlformats.org/drawingml/2006/main">
            <a:r>
              <a:t/>
            </a:r>
          </a:p>
          <a:p xmlns:a="http://schemas.openxmlformats.org/drawingml/2006/main">
            <a:r>
              <a:t>จุดชี้โค้ด: integrations.ts และ schema.sql</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ผลจากการรันสุดท้าย: npm test ผ่าน 35 จาก 35 API tests โดยเรียก Hono จริงกับ SQLite in-memory ไม่ใช้ database mock npm run build ผ่านทั้ง TypeScript และ frontend production build</a:t>
            </a:r>
          </a:p>
          <a:p xmlns:a="http://schemas.openxmlformats.org/drawingml/2006/main">
            <a:r>
              <a:t/>
            </a:r>
          </a:p>
          <a:p xmlns:a="http://schemas.openxmlformats.org/drawingml/2006/main">
            <a:r>
              <a:t>API tests ครอบคลุม cross-owner CRUD คืน404 JWT หมดอายุ issuer/audience/algorithm ผิด logout replay, Secure cookie, invalid calendar/enums/empty PATCH, body413, Origin403, auth429, SQL constraints และ injection, key เก็บ digest/แสดงครั้งเดียว/scoped/revoked/expired, due filter และ duplicate receipts กับ transaction rollback</a:t>
            </a:r>
          </a:p>
          <a:p xmlns:a="http://schemas.openxmlformats.org/drawingml/2006/main">
            <a:r>
              <a:t/>
            </a:r>
          </a:p>
          <a:p xmlns:a="http://schemas.openxmlformats.org/drawingml/2006/main">
            <a:r>
              <a:t>Test พบและแก้ 2 bug ที่มีความหมาย: PATCH เคย reset field ที่ไม่ส่งเพราะ create defaults และ JSON media type เคยยอมรับ jsonp ด้วย prefix matching เพิ่ม regression checks หลังแก้</a:t>
            </a:r>
          </a:p>
          <a:p xmlns:a="http://schemas.openxmlformats.org/drawingml/2006/main">
            <a:r>
              <a:t/>
            </a:r>
          </a:p>
          <a:p xmlns:a="http://schemas.openxmlformats.org/drawingml/2006/main">
            <a:r>
              <a:t>Browser QA ตรวจสมัครบัญชี รายการว่าง login create edit date status search delete keys one-time/revoke logout และ responsive desktop/mobile ไม่มี JavaScript console errors ที่พบ</a:t>
            </a:r>
          </a:p>
          <a:p xmlns:a="http://schemas.openxmlformats.org/drawingml/2006/main">
            <a:r>
              <a:t/>
            </a:r>
          </a:p>
          <a:p xmlns:a="http://schemas.openxmlformats.org/drawingml/2006/main">
            <a:r>
              <a:t>n8n ผ่าน static workflow validation กับ compose config แต่ยังไม่มี live import และ SMTP test</a:t>
            </a:r>
          </a:p>
          <a:p xmlns:a="http://schemas.openxmlformats.org/drawingml/2006/main">
            <a:r>
              <a:t/>
            </a:r>
          </a:p>
          <a:p xmlns:a="http://schemas.openxmlformats.org/drawingml/2006/main">
            <a:r>
              <a:t>หัวใจหลัก: ผลผ่านเป็นหลักฐานตามขอบเขตที่ทดสอบ ไม่ใช่คำรับรองว่าไม่มี bug หรือพร้อมเปิด production ทุกเงื่อนไข</a:t>
            </a:r>
          </a:p>
          <a:p xmlns:a="http://schemas.openxmlformats.org/drawingml/2006/main">
            <a:r>
              <a:t/>
            </a:r>
          </a:p>
          <a:p xmlns:a="http://schemas.openxmlformats.org/drawingml/2006/main">
            <a:r>
              <a:t>จุดชี้โค้ด: apps/api/test และ docs/testing.md</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แนะนำ 5-7 นาที: รัน npm run setup, npm run seed, npm run dev ตาม README จากนั้น login demo@taskflow.local ด้วย TaskFlow!2026 เพิ่มงานครบกำหนดวันนี้ แก้ความสำคัญและสถานะ ค้นหาและกรอง เปิด integrations สร้าง API key แล้วเรียก due-tasks แสดงว่าคีย์ใช้กับ tasks CRUD ไม่ได้ และ revoke key</a:t>
            </a:r>
          </a:p>
          <a:p xmlns:a="http://schemas.openxmlformats.org/drawingml/2006/main">
            <a:r>
              <a:t/>
            </a:r>
          </a:p>
          <a:p xmlns:a="http://schemas.openxmlformats.org/drawingml/2006/main">
            <a:r>
              <a:t>อย่าส่งอีเมลระหว่าง demo โดยไม่ได้ตั้งใจ ให้แสดงไฟล์ workflow และ curl GET ก่อน ส่วน SMTP ให้ user ตั้ง credentials และ activate workflowเอง สำรอง key ที่สร้างครั้งแรกลง credential ไม่บันทึกใน Git</a:t>
            </a:r>
          </a:p>
          <a:p xmlns:a="http://schemas.openxmlformats.org/drawingml/2006/main">
            <a:r>
              <a:t/>
            </a:r>
          </a:p>
          <a:p xmlns:a="http://schemas.openxmlformats.org/drawingml/2006/main">
            <a:r>
              <a:t>ก่อนใช้งานภายนอก: HTTPS/reverse proxy ที่ถูกต้อง JWT_SECRET สุ่มและจัดการ rotation, trusted client IP สำหรับ limiter, rate-limit store ที่คงอยู่หากมีหลาย instance, SQLite persistent volume และ backup ที่ลอง restore, migration แบบมี version, monitoring/logs โดยไม่เก็บ secret, mail delivery/retry และ load test</a:t>
            </a:r>
          </a:p>
          <a:p xmlns:a="http://schemas.openxmlformats.org/drawingml/2006/main">
            <a:r>
              <a:t/>
            </a:r>
          </a:p>
          <a:p xmlns:a="http://schemas.openxmlformats.org/drawingml/2006/main">
            <a:r>
              <a:t>หัวใจหลัก: ระบบนี้มีการป้องกันและการทดสอบที่อธิบายได้ แต่ยังเป็น educational foundation บน process เดียว SQLite DatabaseSync บล็อก event loop ระหว่าง SQL ระยะสั้น จึงต้องวัดโหลดจริงก่อนขยาย</a:t>
            </a:r>
          </a:p>
          <a:p xmlns:a="http://schemas.openxmlformats.org/drawingml/2006/main">
            <a:r>
              <a:t/>
            </a:r>
          </a:p>
          <a:p xmlns:a="http://schemas.openxmlformats.org/drawingml/2006/main">
            <a:r>
              <a:t>ถาม: เปลี่ยน PostgreSQL ต้องทำเมื่อไร? ตอบ: เมื่อข้อกำหนด concurrent writes, หลาย instance หรือ operational requirements เกินขอบเขตไฟล์ local แล้วประเมินจากภาระงานจริง</a:t>
            </a:r>
          </a:p>
          <a:p xmlns:a="http://schemas.openxmlformats.org/drawingml/2006/main">
            <a:r>
              <a:t/>
            </a:r>
          </a:p>
          <a:p xmlns:a="http://schemas.openxmlformats.org/drawingml/2006/main">
            <a:r>
              <a:t>แหล่งอ้างอิง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สรุปด้วยสิ่งที่ตอบได้: identity คือใครมาจาก JWT/session หรือ API key ownership คือทำกับข้อมูลของใคร runtime validation คือ request ถูกต้องหรือไม่ SQL constraint ป้องกันข้อมูลผิดบางชนิด ส่วน monorepo รักษา contract ให้ frontend/backend ตรงกัน</a:t>
            </a:r>
          </a:p>
          <a:p xmlns:a="http://schemas.openxmlformats.org/drawingml/2006/main">
            <a:r>
              <a:t/>
            </a:r>
          </a:p>
          <a:p xmlns:a="http://schemas.openxmlformats.org/drawingml/2006/main">
            <a:r>
              <a:t>คำถาม reviewer ที่สำคัญ: ทำไม JWT พร้อม SQL session? เพื่อ revoke ทันทีแลก DB lookup ทำไม password ใช้ scrypt แต่ key ใช้ SHA-256? password เดาง่ายแต่ key สุ่ม entropy สูง ทำไมคืน404ข้ามowner? เพื่อตรวจสิทธิ์และไม่เปิดเผยการมีอยู่ของข้อมูล ทำไมแชร์ schema แล้วยังตรวจ backend? client ข้าม frontendได้ ทำไม n8n อาจส่งซ้ำ? SMTP กับ SQL ไม่มี transactionร่วมกัน</a:t>
            </a:r>
          </a:p>
          <a:p xmlns:a="http://schemas.openxmlformats.org/drawingml/2006/main">
            <a:r>
              <a:t/>
            </a:r>
          </a:p>
          <a:p xmlns:a="http://schemas.openxmlformats.org/drawingml/2006/main">
            <a:r>
              <a:t>แหล่งศึกษา: Auth video และ repository ของ Web Dev Simplified อ่าน full autogenerated captions แต่ไม่ได้อ้างรับชม audiovisual ทั้งหมด Monorepo video หน้า Syntax และ repo ของ CJ ศึกษาหัวข้อ/โค้ดเนื่องจากไม่มี transcript เอกสารหลัก Hono, Zod, Node SQLite/Crypto, jose, npm workspaces, Tailwind และ n8n</a:t>
            </a:r>
          </a:p>
          <a:p xmlns:a="http://schemas.openxmlformats.org/drawingml/2006/main">
            <a:r>
              <a:t/>
            </a:r>
          </a:p>
          <a:p xmlns:a="http://schemas.openxmlformats.org/drawingml/2006/main">
            <a:r>
              <a:t>ข้อเสนอสำหรับนำเสนอ: ถ้ายังอธิบาย keyword ไม่ได้ ให้เปิด glossary อ่านหัวใจและตัวอย่าง แล้วลองชี้ตำแหน่งโค้ดจริงก่อนใช้คำนั้นตอบ</a:t>
            </a:r>
          </a:p>
          <a:p xmlns:a="http://schemas.openxmlformats.org/drawingml/2006/main">
            <a:r>
              <a:t/>
            </a:r>
          </a:p>
          <a:p xmlns:a="http://schemas.openxmlformats.org/drawingml/2006/main">
            <a:r>
              <a:t>ขอบเขต: ทุกแนวคิดและ tradeoff ใน TaskFlow เป็นการเลือกสำหรับโจทย์นี้ ต่างจาก tutorial บางส่วน</a:t>
            </a:r>
          </a:p>
          <a:p xmlns:a="http://schemas.openxmlformats.org/drawingml/2006/main">
            <a:r>
              <a:t/>
            </a:r>
          </a:p>
          <a:p xmlns:a="http://schemas.openxmlformats.org/drawingml/2006/main">
            <a:r>
              <a:t>แหล่งอ้างอิง</a:t>
            </a:r>
          </a:p>
          <a:p xmlns:a="http://schemas.openxmlformats.org/drawingml/2006/main">
            <a:r>
              <a:t>https://www.youtube.com/watch?v=U_D14T5TYuk</a:t>
            </a:r>
          </a:p>
          <a:p xmlns:a="http://schemas.openxmlformats.org/drawingml/2006/main">
            <a:r>
              <a:t>https://github.com/WebDevSimplified/hono-api-with-auth-crash-course</a:t>
            </a:r>
          </a:p>
          <a:p xmlns:a="http://schemas.openxmlformats.org/drawingml/2006/main">
            <a:r>
              <a:t>https://syntax.fm/videos/syntax-side-dish-explainers/monorepos-what-why-when-and-how-or-full-stack-react-hono-example</a:t>
            </a:r>
          </a:p>
          <a:p xmlns:a="http://schemas.openxmlformats.org/drawingml/2006/main">
            <a:r>
              <a:t>https://github.com/w3cj/monorepo-example-tasks-app</a:t>
            </a:r>
          </a:p>
          <a:p xmlns:a="http://schemas.openxmlformats.org/drawingml/2006/main">
            <a:r>
              <a:t>https://hono.dev/docs/</a:t>
            </a:r>
          </a:p>
          <a:p xmlns:a="http://schemas.openxmlformats.org/drawingml/2006/main">
            <a:r>
              <a:t>https://zod.dev/</a:t>
            </a:r>
          </a:p>
          <a:p xmlns:a="http://schemas.openxmlformats.org/drawingml/2006/main">
            <a:r>
              <a:t>https://nodejs.org/api/sqlite.html</a:t>
            </a:r>
          </a:p>
          <a:p xmlns:a="http://schemas.openxmlformats.org/drawingml/2006/main">
            <a:r>
              <a:t>https://nodejs.org/api/crypto.html</a:t>
            </a:r>
          </a:p>
          <a:p xmlns:a="http://schemas.openxmlformats.org/drawingml/2006/main">
            <a:r>
              <a:t>https://github.com/panva/jose</a:t>
            </a:r>
          </a:p>
          <a:p xmlns:a="http://schemas.openxmlformats.org/drawingml/2006/main">
            <a:r>
              <a:t>https://docs.npmjs.com/cli/using-npm/workspaces</a:t>
            </a:r>
          </a:p>
          <a:p xmlns:a="http://schemas.openxmlformats.org/drawingml/2006/main">
            <a:r>
              <a:t>https://tailwindcss.com/docs/styling-with-utility-classes</a:t>
            </a:r>
          </a:p>
          <a:p xmlns:a="http://schemas.openxmlformats.org/drawingml/2006/main">
            <a:r>
              <a:t>https://docs.n8n.io/integrations/builtin/core-nodes/n8n-nodes-base.scheduletrigger/</a:t>
            </a:r>
          </a:p>
          <a:p xmlns:a="http://schemas.openxmlformats.org/drawingml/2006/main">
            <a:r>
              <a:t>https://cheatsheetseries.owasp.org/cheatsheets/Session_Management_Cheat_Sheet.html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060994b1ce4f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e6f0a3863d41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ba61440ca743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7ab42d79db47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2c5476071a4f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02b0765c514f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61E5D1-46C4-4AE4-9085-A30C3F3BDC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710D0F-DD99-43D2-B973-E590EFE847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6D7BD6-9D5D-4087-9AE9-36294244A3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877D8-BECD-4E4C-9CDB-F639D1AAC7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1D7E83-79C6-46EA-AA94-9F0E805489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0B531B-B051-4A5D-A0BD-495704BFA6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64F388-1101-4F1E-9CF8-77CA7974A3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4CF73E-D278-4D73-AC55-02B585027C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2FE349-9728-48A6-9688-1FB2B524BA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0FE0F4-04AC-4AA3-A7B9-E07645315A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2730aa1e554dc4" /><Relationship Type="http://schemas.openxmlformats.org/officeDocument/2006/relationships/slideLayout" Target="/ppt/slideLayouts/slideLayout1.xml" Id="R01ab2e8ef7564eb6" /><Relationship Type="http://schemas.openxmlformats.org/officeDocument/2006/relationships/slideLayout" Target="/ppt/slideLayouts/slideLayout2.xml" Id="R67ef76588c0c4019" /><Relationship Type="http://schemas.openxmlformats.org/officeDocument/2006/relationships/slideLayout" Target="/ppt/slideLayouts/slideLayout3.xml" Id="R091a3881347f4078" /><Relationship Type="http://schemas.openxmlformats.org/officeDocument/2006/relationships/slideLayout" Target="/ppt/slideLayouts/slideLayout4.xml" Id="Rb103947573844791" /><Relationship Type="http://schemas.openxmlformats.org/officeDocument/2006/relationships/slideLayout" Target="/ppt/slideLayouts/slideLayout5.xml" Id="Rdba8d78ad7ff433f" /><Relationship Type="http://schemas.openxmlformats.org/officeDocument/2006/relationships/slideLayout" Target="/ppt/slideLayouts/slideLayout6.xml" Id="R4b51de635a1645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ab2e8ef7564eb6"/>
    <p:sldLayoutId xmlns:r="http://schemas.openxmlformats.org/officeDocument/2006/relationships" id="2147483650" r:id="R67ef76588c0c4019"/>
    <p:sldLayoutId xmlns:r="http://schemas.openxmlformats.org/officeDocument/2006/relationships" id="2147483651" r:id="R091a3881347f4078"/>
    <p:sldLayoutId xmlns:r="http://schemas.openxmlformats.org/officeDocument/2006/relationships" id="2147483652" r:id="Rb103947573844791"/>
    <p:sldLayoutId xmlns:r="http://schemas.openxmlformats.org/officeDocument/2006/relationships" id="2147483653" r:id="Rdba8d78ad7ff433f"/>
    <p:sldLayoutId xmlns:r="http://schemas.openxmlformats.org/officeDocument/2006/relationships" id="2147483654" r:id="R4b51de635a1645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a2e355103d4dfa" /><Relationship Type="http://schemas.openxmlformats.org/officeDocument/2006/relationships/notesSlide" Target="/ppt/notesSlides/notesSlide1.xml" Id="R6be0a5b02f1e4e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ca5ce538f94214" /><Relationship Type="http://schemas.openxmlformats.org/officeDocument/2006/relationships/notesSlide" Target="/ppt/notesSlides/notesSlide2.xml" Id="R0ccbc76bf20e45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ea7020e91a427c" /><Relationship Type="http://schemas.openxmlformats.org/officeDocument/2006/relationships/notesSlide" Target="/ppt/notesSlides/notesSlide3.xml" Id="Ra082c6b3648b4f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e11f5e882442fc" /><Relationship Type="http://schemas.openxmlformats.org/officeDocument/2006/relationships/image" Target="/ppt/media/image.jpeg" Id="Rdfcda5a409284ff6" /><Relationship Type="http://schemas.openxmlformats.org/officeDocument/2006/relationships/notesSlide" Target="/ppt/notesSlides/notesSlide4.xml" Id="Rb19ddc930472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473142bdbf46f6" /><Relationship Type="http://schemas.openxmlformats.org/officeDocument/2006/relationships/notesSlide" Target="/ppt/notesSlides/notesSlide5.xml" Id="Ra8de1eea626d48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d88639b4c34044" /><Relationship Type="http://schemas.openxmlformats.org/officeDocument/2006/relationships/notesSlide" Target="/ppt/notesSlides/notesSlide6.xml" Id="Rec1c8430c4a140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24a90e973e485b" /><Relationship Type="http://schemas.openxmlformats.org/officeDocument/2006/relationships/notesSlide" Target="/ppt/notesSlides/notesSlide7.xml" Id="Ref8d70d505f74f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ea73c1f4104f33" /><Relationship Type="http://schemas.openxmlformats.org/officeDocument/2006/relationships/notesSlide" Target="/ppt/notesSlides/notesSlide8.xml" Id="R1424bea464df4a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44b2b2b68e4ca1" /><Relationship Type="http://schemas.openxmlformats.org/officeDocument/2006/relationships/notesSlide" Target="/ppt/notesSlides/notesSlide9.xml" Id="R147411d72e354a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b4422167514f0a" /><Relationship Type="http://schemas.openxmlformats.org/officeDocument/2006/relationships/notesSlide" Target="/ppt/notesSlides/notesSlide10.xml" Id="Rfc1ce70e0ef84f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535ef7bfae4905" /><Relationship Type="http://schemas.openxmlformats.org/officeDocument/2006/relationships/notesSlide" Target="/ppt/notesSlides/notesSlide11.xml" Id="Ra88e460f38c54f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c5a9fbe3484d5b" /><Relationship Type="http://schemas.openxmlformats.org/officeDocument/2006/relationships/notesSlide" Target="/ppt/notesSlides/notesSlide12.xml" Id="R03c5bd4c254045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8a9a2bbf1a4e83" /><Relationship Type="http://schemas.openxmlformats.org/officeDocument/2006/relationships/notesSlide" Target="/ppt/notesSlides/notesSlide13.xml" Id="Rcdf74247d07840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a7640caf97b46b9" /><Relationship Type="http://schemas.openxmlformats.org/officeDocument/2006/relationships/notesSlide" Target="/ppt/notesSlides/notesSlide14.xml" Id="R81b197251ec84a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8b4b4495a8475d" /><Relationship Type="http://schemas.openxmlformats.org/officeDocument/2006/relationships/notesSlide" Target="/ppt/notesSlides/notesSlide15.xml" Id="R6929bdd9e4ee4b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f20b18d32f41ad" /><Relationship Type="http://schemas.openxmlformats.org/officeDocument/2006/relationships/notesSlide" Target="/ppt/notesSlides/notesSlide16.xml" Id="Rbc362202bbc743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161889f1b8401a" /><Relationship Type="http://schemas.openxmlformats.org/officeDocument/2006/relationships/notesSlide" Target="/ppt/notesSlides/notesSlide17.xml" Id="R336f33c7218a4c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9a19ee6997341cb" /><Relationship Type="http://schemas.openxmlformats.org/officeDocument/2006/relationships/notesSlide" Target="/ppt/notesSlides/notesSlide18.xml" Id="R400ce209cad34b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1c5783518fc40b6" /><Relationship Type="http://schemas.openxmlformats.org/officeDocument/2006/relationships/notesSlide" Target="/ppt/notesSlides/notesSlide19.xml" Id="R05f7c444e42047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c39e68858584020" /><Relationship Type="http://schemas.openxmlformats.org/officeDocument/2006/relationships/notesSlide" Target="/ppt/notesSlides/notesSlide20.xml" Id="R7f3a77c7f9844c61" /></Relationships>
</file>

<file path=ppt/slides/slide1.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049CD6B-3DB1-459D-934F-7D6EA288FC4A}"/>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TaskFlow</a:t>
            </a:r>
          </a:p>
        </p:txBody>
      </p:sp>
      <p:sp>
        <p:nvSpPr>
          <p:cNvPr id="2" name="">
            <a:extLst xmlns:a="http://schemas.openxmlformats.org/drawingml/2006/main">
              <a:ext uri="{FF2B5EF4-FFF2-40B4-BE49-F238E27FC236}">
                <a16:creationId xmlns:a16="http://schemas.microsoft.com/office/drawing/2014/main" id="{B451936D-3D10-40D7-BB1C-BB15452B6E7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09153A05-CA93-4FFE-88D1-BC8D195F14CB}"/>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01</a:t>
            </a:r>
          </a:p>
        </p:txBody>
      </p:sp>
      <p:sp>
        <p:nvSpPr>
          <p:cNvPr id="4" name="text-3">
            <a:extLst xmlns:a="http://schemas.openxmlformats.org/drawingml/2006/main">
              <a:ext uri="{FF2B5EF4-FFF2-40B4-BE49-F238E27FC236}">
                <a16:creationId xmlns:a16="http://schemas.microsoft.com/office/drawing/2014/main" id="{D1163803-ADD7-43C3-B301-ECA932638901}"/>
              </a:ext>
            </a:extLst>
          </p:cNvPr>
          <p:cNvSpPr>
            <a:spLocks xmlns:a="http://schemas.openxmlformats.org/drawingml/2006/main" noGrp="1"/>
          </p:cNvSpPr>
          <p:nvPr/>
        </p:nvSpPr>
        <p:spPr>
          <a:xfrm xmlns:a="http://schemas.openxmlformats.org/drawingml/2006/main">
            <a:off x="609600" y="179070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0B8C82"/>
                </a:solidFill>
                <a:latin typeface="Tahoma"/>
                <a:ea typeface="Tahoma"/>
                <a:cs typeface="Tahoma"/>
              </a:defRPr>
            </a:defPPr>
          </a:lstStyle>
          <a:p xmlns:a="http://schemas.openxmlformats.org/drawingml/2006/main">
            <a:pPr algn="l">
              <a:defRPr sz="4050" b="1">
                <a:solidFill>
                  <a:srgbClr val="0B8C82"/>
                </a:solidFill>
                <a:latin typeface="Tahoma"/>
                <a:ea typeface="Tahoma"/>
                <a:cs typeface="Tahoma"/>
              </a:defRPr>
            </a:pPr>
            <a:r>
              <a:rPr sz="4050" b="1">
                <a:solidFill>
                  <a:srgbClr val="0B8C82"/>
                </a:solidFill>
                <a:latin typeface="Tahoma"/>
                <a:ea typeface="Tahoma"/>
                <a:cs typeface="Tahoma"/>
              </a:rPr>
              <a:t>ระบบจัดการงานส่วนตัว</a:t>
            </a:r>
          </a:p>
        </p:txBody>
      </p:sp>
      <p:sp>
        <p:nvSpPr>
          <p:cNvPr id="5" name="text-4">
            <a:extLst xmlns:a="http://schemas.openxmlformats.org/drawingml/2006/main">
              <a:ext uri="{FF2B5EF4-FFF2-40B4-BE49-F238E27FC236}">
                <a16:creationId xmlns:a16="http://schemas.microsoft.com/office/drawing/2014/main" id="{EDD27544-2573-45CF-8BC2-9225102A07E9}"/>
              </a:ext>
            </a:extLst>
          </p:cNvPr>
          <p:cNvSpPr>
            <a:spLocks xmlns:a="http://schemas.openxmlformats.org/drawingml/2006/main" noGrp="1"/>
          </p:cNvSpPr>
          <p:nvPr/>
        </p:nvSpPr>
        <p:spPr>
          <a:xfrm xmlns:a="http://schemas.openxmlformats.org/drawingml/2006/main">
            <a:off x="609600" y="28384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26473"/>
                </a:solidFill>
                <a:latin typeface="Tahoma"/>
                <a:ea typeface="Tahoma"/>
                <a:cs typeface="Tahoma"/>
              </a:defRPr>
            </a:defPPr>
          </a:lstStyle>
          <a:p xmlns:a="http://schemas.openxmlformats.org/drawingml/2006/main">
            <a:pPr algn="l">
              <a:defRPr sz="2400" b="0">
                <a:solidFill>
                  <a:srgbClr val="526473"/>
                </a:solidFill>
                <a:latin typeface="Tahoma"/>
                <a:ea typeface="Tahoma"/>
                <a:cs typeface="Tahoma"/>
              </a:defRPr>
            </a:pPr>
            <a:r>
              <a:rPr sz="2400" b="0">
                <a:solidFill>
                  <a:srgbClr val="526473"/>
                </a:solidFill>
                <a:latin typeface="Tahoma"/>
                <a:ea typeface="Tahoma"/>
                <a:cs typeface="Tahoma"/>
              </a:rPr>
              <a:t>React + Tailwind CSS  /  Hono  /  SQLite</a:t>
            </a:r>
          </a:p>
        </p:txBody>
      </p:sp>
      <p:sp>
        <p:nvSpPr>
          <p:cNvPr id="6" name="text-5">
            <a:extLst xmlns:a="http://schemas.openxmlformats.org/drawingml/2006/main">
              <a:ext uri="{FF2B5EF4-FFF2-40B4-BE49-F238E27FC236}">
                <a16:creationId xmlns:a16="http://schemas.microsoft.com/office/drawing/2014/main" id="{FBC33E17-1693-4728-8A47-0B5B7A306A28}"/>
              </a:ext>
            </a:extLst>
          </p:cNvPr>
          <p:cNvSpPr>
            <a:spLocks xmlns:a="http://schemas.openxmlformats.org/drawingml/2006/main" noGrp="1"/>
          </p:cNvSpPr>
          <p:nvPr/>
        </p:nvSpPr>
        <p:spPr>
          <a:xfrm xmlns:a="http://schemas.openxmlformats.org/drawingml/2006/main">
            <a:off x="609600" y="38100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2202B"/>
                </a:solidFill>
                <a:latin typeface="Tahoma"/>
                <a:ea typeface="Tahoma"/>
                <a:cs typeface="Tahoma"/>
              </a:defRPr>
            </a:defPPr>
          </a:lstStyle>
          <a:p xmlns:a="http://schemas.openxmlformats.org/drawingml/2006/main">
            <a:pPr algn="l">
              <a:defRPr sz="2625" b="0">
                <a:solidFill>
                  <a:srgbClr val="12202B"/>
                </a:solidFill>
                <a:latin typeface="Tahoma"/>
                <a:ea typeface="Tahoma"/>
                <a:cs typeface="Tahoma"/>
              </a:defRPr>
            </a:pPr>
            <a:r>
              <a:rPr sz="2625" b="0">
                <a:solidFill>
                  <a:srgbClr val="12202B"/>
                </a:solidFill>
                <a:latin typeface="Tahoma"/>
                <a:ea typeface="Tahoma"/>
                <a:cs typeface="Tahoma"/>
              </a:rPr>
              <a:t>Code review ที่อธิบายได้ตั้งแต่หน้าจอถึง SQL</a:t>
            </a:r>
          </a:p>
        </p:txBody>
      </p:sp>
      <p:sp>
        <p:nvSpPr>
          <p:cNvPr id="7" name="text-6">
            <a:extLst xmlns:a="http://schemas.openxmlformats.org/drawingml/2006/main">
              <a:ext uri="{FF2B5EF4-FFF2-40B4-BE49-F238E27FC236}">
                <a16:creationId xmlns:a16="http://schemas.microsoft.com/office/drawing/2014/main" id="{39C5324A-4DDD-4579-90D5-B4E995637B34}"/>
              </a:ext>
            </a:extLst>
          </p:cNvPr>
          <p:cNvSpPr>
            <a:spLocks xmlns:a="http://schemas.openxmlformats.org/drawingml/2006/main" noGrp="1"/>
          </p:cNvSpPr>
          <p:nvPr/>
        </p:nvSpPr>
        <p:spPr>
          <a:xfrm xmlns:a="http://schemas.openxmlformats.org/drawingml/2006/main">
            <a:off x="609600" y="52197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473"/>
                </a:solidFill>
                <a:latin typeface="Tahoma"/>
                <a:ea typeface="Tahoma"/>
                <a:cs typeface="Tahoma"/>
              </a:defRPr>
            </a:defPPr>
          </a:lstStyle>
          <a:p xmlns:a="http://schemas.openxmlformats.org/drawingml/2006/main">
            <a:pPr algn="l">
              <a:defRPr sz="1950" b="0">
                <a:solidFill>
                  <a:srgbClr val="526473"/>
                </a:solidFill>
                <a:latin typeface="Tahoma"/>
                <a:ea typeface="Tahoma"/>
                <a:cs typeface="Tahoma"/>
              </a:defRPr>
            </a:pPr>
            <a:r>
              <a:rPr sz="1950" b="0">
                <a:solidFill>
                  <a:srgbClr val="526473"/>
                </a:solidFill>
                <a:latin typeface="Tahoma"/>
                <a:ea typeface="Tahoma"/>
                <a:cs typeface="Tahoma"/>
              </a:rPr>
              <a:t>JWT สำหรับผู้ใช้  /  API key สำหรับ workflow แจ้งเตือน</a:t>
            </a:r>
          </a:p>
        </p:txBody>
      </p:sp>
    </p:spTree>
    <p:extLst>
      <p:ext uri="{BB962C8B-B14F-4D97-AF65-F5344CB8AC3E}">
        <p14:creationId xmlns:p14="http://schemas.microsoft.com/office/powerpoint/2010/main" val="1023280051"/>
      </p:ext>
    </p:extLst>
  </p:cSld>
</p:sld>
</file>

<file path=ppt/slides/slide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1666218-759A-4195-ACD8-6406468A14F6}"/>
              </a:ext>
            </a:extLst>
          </p:cNvPr>
          <p:cNvCxnSpPr>
            <a:stCxn xmlns:a="http://schemas.openxmlformats.org/drawingml/2006/main" id="6" idx="3"/>
            <a:endCxn xmlns:a="http://schemas.openxmlformats.org/drawingml/2006/main" id="7" idx="1"/>
          </p:cNvCxnSpPr>
          <p:nvPr/>
        </p:nvCxnSpPr>
        <p:spPr>
          <a:xfrm xmlns:a="http://schemas.openxmlformats.org/drawingml/2006/main">
            <a:off x="8724900" y="2457450"/>
            <a:ext cx="45720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9" name="">
            <a:extLst xmlns:a="http://schemas.openxmlformats.org/drawingml/2006/main">
              <a:ext uri="{FF2B5EF4-FFF2-40B4-BE49-F238E27FC236}">
                <a16:creationId xmlns:a16="http://schemas.microsoft.com/office/drawing/2014/main" id="{0F8BB8A5-EFA0-4D18-94F2-C4DE9475A4E1}"/>
              </a:ext>
            </a:extLst>
          </p:cNvPr>
          <p:cNvCxnSpPr>
            <a:stCxn xmlns:a="http://schemas.openxmlformats.org/drawingml/2006/main" id="5" idx="3"/>
            <a:endCxn xmlns:a="http://schemas.openxmlformats.org/drawingml/2006/main" id="6" idx="1"/>
          </p:cNvCxnSpPr>
          <p:nvPr/>
        </p:nvCxnSpPr>
        <p:spPr>
          <a:xfrm xmlns:a="http://schemas.openxmlformats.org/drawingml/2006/main">
            <a:off x="5867400" y="2457450"/>
            <a:ext cx="45720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8" name="">
            <a:extLst xmlns:a="http://schemas.openxmlformats.org/drawingml/2006/main">
              <a:ext uri="{FF2B5EF4-FFF2-40B4-BE49-F238E27FC236}">
                <a16:creationId xmlns:a16="http://schemas.microsoft.com/office/drawing/2014/main" id="{423DCFC6-2B0C-47CE-AB8C-7D7B72D88972}"/>
              </a:ext>
            </a:extLst>
          </p:cNvPr>
          <p:cNvCxnSpPr>
            <a:stCxn xmlns:a="http://schemas.openxmlformats.org/drawingml/2006/main" id="4" idx="3"/>
            <a:endCxn xmlns:a="http://schemas.openxmlformats.org/drawingml/2006/main" id="5" idx="1"/>
          </p:cNvCxnSpPr>
          <p:nvPr/>
        </p:nvCxnSpPr>
        <p:spPr>
          <a:xfrm xmlns:a="http://schemas.openxmlformats.org/drawingml/2006/main">
            <a:off x="3009900" y="2457450"/>
            <a:ext cx="45720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5" name="text-0">
            <a:extLst xmlns:a="http://schemas.openxmlformats.org/drawingml/2006/main">
              <a:ext uri="{FF2B5EF4-FFF2-40B4-BE49-F238E27FC236}">
                <a16:creationId xmlns:a16="http://schemas.microsoft.com/office/drawing/2014/main" id="{0BAB4F0C-95A0-43AF-8849-231909A2B7F6}"/>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ปัญหาและขอบเขตของระบบ</a:t>
            </a:r>
          </a:p>
        </p:txBody>
      </p:sp>
      <p:sp>
        <p:nvSpPr>
          <p:cNvPr id="2" name="">
            <a:extLst xmlns:a="http://schemas.openxmlformats.org/drawingml/2006/main">
              <a:ext uri="{FF2B5EF4-FFF2-40B4-BE49-F238E27FC236}">
                <a16:creationId xmlns:a16="http://schemas.microsoft.com/office/drawing/2014/main" id="{E746AA7E-543E-4C95-AA62-3FFB81A7D28B}"/>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F9F265B3-B71F-4F09-A510-4E69DC656D0B}"/>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02</a:t>
            </a:r>
          </a:p>
        </p:txBody>
      </p:sp>
      <p:sp>
        <p:nvSpPr>
          <p:cNvPr id="4" name="เข้าสู่ระบบ">
            <a:extLst xmlns:a="http://schemas.openxmlformats.org/drawingml/2006/main">
              <a:ext uri="{FF2B5EF4-FFF2-40B4-BE49-F238E27FC236}">
                <a16:creationId xmlns:a16="http://schemas.microsoft.com/office/drawing/2014/main" id="{95B0131B-107A-40AD-A34B-E4FCE805814A}"/>
              </a:ext>
            </a:extLst>
          </p:cNvPr>
          <p:cNvSpPr>
            <a:spLocks xmlns:a="http://schemas.openxmlformats.org/drawingml/2006/main" noGrp="1"/>
          </p:cNvSpPr>
          <p:nvPr/>
        </p:nvSpPr>
        <p:spPr>
          <a:xfrm xmlns:a="http://schemas.openxmlformats.org/drawingml/2006/main">
            <a:off x="609600" y="1981200"/>
            <a:ext cx="2400300" cy="9525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เข้าสู่ระบบ</a:t>
            </a:r>
          </a:p>
        </p:txBody>
      </p:sp>
      <p:sp>
        <p:nvSpPr>
          <p:cNvPr id="5" name="เพิ่มงานส่วนตัว">
            <a:extLst xmlns:a="http://schemas.openxmlformats.org/drawingml/2006/main">
              <a:ext uri="{FF2B5EF4-FFF2-40B4-BE49-F238E27FC236}">
                <a16:creationId xmlns:a16="http://schemas.microsoft.com/office/drawing/2014/main" id="{DFACE193-F5FA-4879-BC42-47B50BF19A0E}"/>
              </a:ext>
            </a:extLst>
          </p:cNvPr>
          <p:cNvSpPr>
            <a:spLocks xmlns:a="http://schemas.openxmlformats.org/drawingml/2006/main" noGrp="1"/>
          </p:cNvSpPr>
          <p:nvPr/>
        </p:nvSpPr>
        <p:spPr>
          <a:xfrm xmlns:a="http://schemas.openxmlformats.org/drawingml/2006/main">
            <a:off x="3467100" y="1981200"/>
            <a:ext cx="2400300" cy="9525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เพิ่มงานส่วนตัว</a:t>
            </a:r>
          </a:p>
        </p:txBody>
      </p:sp>
      <p:sp>
        <p:nvSpPr>
          <p:cNvPr id="6" name="จัดการสถานะ">
            <a:extLst xmlns:a="http://schemas.openxmlformats.org/drawingml/2006/main">
              <a:ext uri="{FF2B5EF4-FFF2-40B4-BE49-F238E27FC236}">
                <a16:creationId xmlns:a16="http://schemas.microsoft.com/office/drawing/2014/main" id="{8EB93796-1E0B-4340-9E99-7E1F3B229B52}"/>
              </a:ext>
            </a:extLst>
          </p:cNvPr>
          <p:cNvSpPr>
            <a:spLocks xmlns:a="http://schemas.openxmlformats.org/drawingml/2006/main" noGrp="1"/>
          </p:cNvSpPr>
          <p:nvPr/>
        </p:nvSpPr>
        <p:spPr>
          <a:xfrm xmlns:a="http://schemas.openxmlformats.org/drawingml/2006/main">
            <a:off x="6324600" y="1981200"/>
            <a:ext cx="2400300" cy="9525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จัดการสถานะ</a:t>
            </a:r>
          </a:p>
        </p:txBody>
      </p:sp>
      <p:sp>
        <p:nvSpPr>
          <p:cNvPr id="7" name="ดูงานครบกำหนด">
            <a:extLst xmlns:a="http://schemas.openxmlformats.org/drawingml/2006/main">
              <a:ext uri="{FF2B5EF4-FFF2-40B4-BE49-F238E27FC236}">
                <a16:creationId xmlns:a16="http://schemas.microsoft.com/office/drawing/2014/main" id="{8B522491-DC0D-4183-BAF8-F9C46D25E70D}"/>
              </a:ext>
            </a:extLst>
          </p:cNvPr>
          <p:cNvSpPr>
            <a:spLocks xmlns:a="http://schemas.openxmlformats.org/drawingml/2006/main" noGrp="1"/>
          </p:cNvSpPr>
          <p:nvPr/>
        </p:nvSpPr>
        <p:spPr>
          <a:xfrm xmlns:a="http://schemas.openxmlformats.org/drawingml/2006/main">
            <a:off x="9182100" y="1981200"/>
            <a:ext cx="2400300" cy="9525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ดูงานครบกำหนด</a:t>
            </a:r>
          </a:p>
        </p:txBody>
      </p:sp>
      <p:sp>
        <p:nvSpPr>
          <p:cNvPr id="11" name="text-10">
            <a:extLst xmlns:a="http://schemas.openxmlformats.org/drawingml/2006/main">
              <a:ext uri="{FF2B5EF4-FFF2-40B4-BE49-F238E27FC236}">
                <a16:creationId xmlns:a16="http://schemas.microsoft.com/office/drawing/2014/main" id="{D3E3A96C-E124-4FD2-9261-307D17D89C1D}"/>
              </a:ext>
            </a:extLst>
          </p:cNvPr>
          <p:cNvSpPr>
            <a:spLocks xmlns:a="http://schemas.openxmlformats.org/drawingml/2006/main" noGrp="1"/>
          </p:cNvSpPr>
          <p:nvPr/>
        </p:nvSpPr>
        <p:spPr>
          <a:xfrm xmlns:a="http://schemas.openxmlformats.org/drawingml/2006/main">
            <a:off x="609600" y="3619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8C82"/>
                </a:solidFill>
                <a:latin typeface="Tahoma"/>
                <a:ea typeface="Tahoma"/>
                <a:cs typeface="Tahoma"/>
              </a:defRPr>
            </a:defPPr>
          </a:lstStyle>
          <a:p xmlns:a="http://schemas.openxmlformats.org/drawingml/2006/main">
            <a:pPr algn="l">
              <a:defRPr sz="2325" b="1">
                <a:solidFill>
                  <a:srgbClr val="0B8C82"/>
                </a:solidFill>
                <a:latin typeface="Tahoma"/>
                <a:ea typeface="Tahoma"/>
                <a:cs typeface="Tahoma"/>
              </a:defRPr>
            </a:pPr>
            <a:r>
              <a:rPr sz="2325" b="1">
                <a:solidFill>
                  <a:srgbClr val="0B8C82"/>
                </a:solidFill>
                <a:latin typeface="Tahoma"/>
                <a:ea typeface="Tahoma"/>
                <a:cs typeface="Tahoma"/>
              </a:rPr>
              <a:t>ข้อมูลของงาน</a:t>
            </a:r>
          </a:p>
        </p:txBody>
      </p:sp>
      <p:sp>
        <p:nvSpPr>
          <p:cNvPr id="12" name="text-11">
            <a:extLst xmlns:a="http://schemas.openxmlformats.org/drawingml/2006/main">
              <a:ext uri="{FF2B5EF4-FFF2-40B4-BE49-F238E27FC236}">
                <a16:creationId xmlns:a16="http://schemas.microsoft.com/office/drawing/2014/main" id="{26AE1C5A-2956-4FF9-B221-F0906078C172}"/>
              </a:ext>
            </a:extLst>
          </p:cNvPr>
          <p:cNvSpPr>
            <a:spLocks xmlns:a="http://schemas.openxmlformats.org/drawingml/2006/main" noGrp="1"/>
          </p:cNvSpPr>
          <p:nvPr/>
        </p:nvSpPr>
        <p:spPr>
          <a:xfrm xmlns:a="http://schemas.openxmlformats.org/drawingml/2006/main">
            <a:off x="609600" y="4219575"/>
            <a:ext cx="50482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ชื่อและรายละเอียด</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สถานะ 3 แบบ</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ความสำคัญ 3 ระดับ</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วันครบกำหนดที่เลือกได้</a:t>
            </a:r>
          </a:p>
        </p:txBody>
      </p:sp>
      <p:sp>
        <p:nvSpPr>
          <p:cNvPr id="13" name="text-12">
            <a:extLst xmlns:a="http://schemas.openxmlformats.org/drawingml/2006/main">
              <a:ext uri="{FF2B5EF4-FFF2-40B4-BE49-F238E27FC236}">
                <a16:creationId xmlns:a16="http://schemas.microsoft.com/office/drawing/2014/main" id="{F9EAC80F-B652-4C37-827F-E1AF99FA6F37}"/>
              </a:ext>
            </a:extLst>
          </p:cNvPr>
          <p:cNvSpPr>
            <a:spLocks xmlns:a="http://schemas.openxmlformats.org/drawingml/2006/main" noGrp="1"/>
          </p:cNvSpPr>
          <p:nvPr/>
        </p:nvSpPr>
        <p:spPr>
          <a:xfrm xmlns:a="http://schemas.openxmlformats.org/drawingml/2006/main">
            <a:off x="6610350" y="3619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8C82"/>
                </a:solidFill>
                <a:latin typeface="Tahoma"/>
                <a:ea typeface="Tahoma"/>
                <a:cs typeface="Tahoma"/>
              </a:defRPr>
            </a:defPPr>
          </a:lstStyle>
          <a:p xmlns:a="http://schemas.openxmlformats.org/drawingml/2006/main">
            <a:pPr algn="l">
              <a:defRPr sz="2325" b="1">
                <a:solidFill>
                  <a:srgbClr val="0B8C82"/>
                </a:solidFill>
                <a:latin typeface="Tahoma"/>
                <a:ea typeface="Tahoma"/>
                <a:cs typeface="Tahoma"/>
              </a:defRPr>
            </a:pPr>
            <a:r>
              <a:rPr sz="2325" b="1">
                <a:solidFill>
                  <a:srgbClr val="0B8C82"/>
                </a:solidFill>
                <a:latin typeface="Tahoma"/>
                <a:ea typeface="Tahoma"/>
                <a:cs typeface="Tahoma"/>
              </a:rPr>
              <a:t>ขอบเขตที่ตั้งใจเลือก</a:t>
            </a:r>
          </a:p>
        </p:txBody>
      </p:sp>
      <p:sp>
        <p:nvSpPr>
          <p:cNvPr id="14" name="text-13">
            <a:extLst xmlns:a="http://schemas.openxmlformats.org/drawingml/2006/main">
              <a:ext uri="{FF2B5EF4-FFF2-40B4-BE49-F238E27FC236}">
                <a16:creationId xmlns:a16="http://schemas.microsoft.com/office/drawing/2014/main" id="{E813CCA4-6757-486A-92F9-3415082C55FF}"/>
              </a:ext>
            </a:extLst>
          </p:cNvPr>
          <p:cNvSpPr>
            <a:spLocks xmlns:a="http://schemas.openxmlformats.org/drawingml/2006/main" noGrp="1"/>
          </p:cNvSpPr>
          <p:nvPr/>
        </p:nvSpPr>
        <p:spPr>
          <a:xfrm xmlns:a="http://schemas.openxmlformats.org/drawingml/2006/main">
            <a:off x="6610350" y="4219575"/>
            <a:ext cx="4953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งานของเจ้าของบัญชีเท่านั้น</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ไม่มีบทบาทแอดมิน</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แจ้งเตือนผ่าน n8n เป็นส่วนเสริม</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เริ่มรันบนเครื่องเดียว</a:t>
            </a:r>
          </a:p>
        </p:txBody>
      </p:sp>
    </p:spTree>
    <p:extLst>
      <p:ext uri="{BB962C8B-B14F-4D97-AF65-F5344CB8AC3E}">
        <p14:creationId xmlns:p14="http://schemas.microsoft.com/office/powerpoint/2010/main" val="475744718"/>
      </p:ext>
    </p:extLst>
  </p:cSld>
</p:sld>
</file>

<file path=ppt/slides/slide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BA72353-7AC1-4653-9AEF-69CCDDCE9FF5}"/>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แนวคิดจากบทเรียนทั้งสอง</a:t>
            </a:r>
          </a:p>
        </p:txBody>
      </p:sp>
      <p:sp>
        <p:nvSpPr>
          <p:cNvPr id="2" name="">
            <a:extLst xmlns:a="http://schemas.openxmlformats.org/drawingml/2006/main">
              <a:ext uri="{FF2B5EF4-FFF2-40B4-BE49-F238E27FC236}">
                <a16:creationId xmlns:a16="http://schemas.microsoft.com/office/drawing/2014/main" id="{14374C74-F6FA-4C5E-96A0-37811469658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2E259772-F820-498B-9AD2-D273D4912958}"/>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03</a:t>
            </a:r>
          </a:p>
        </p:txBody>
      </p:sp>
      <p:sp>
        <p:nvSpPr>
          <p:cNvPr id="4" name="text-3">
            <a:extLst xmlns:a="http://schemas.openxmlformats.org/drawingml/2006/main">
              <a:ext uri="{FF2B5EF4-FFF2-40B4-BE49-F238E27FC236}">
                <a16:creationId xmlns:a16="http://schemas.microsoft.com/office/drawing/2014/main" id="{123B95A8-6FA6-4C7D-97E5-1302CFA06CAA}"/>
              </a:ext>
            </a:extLst>
          </p:cNvPr>
          <p:cNvSpPr>
            <a:spLocks xmlns:a="http://schemas.openxmlformats.org/drawingml/2006/main" noGrp="1"/>
          </p:cNvSpPr>
          <p:nvPr/>
        </p:nvSpPr>
        <p:spPr>
          <a:xfrm xmlns:a="http://schemas.openxmlformats.org/drawingml/2006/main">
            <a:off x="609600" y="1781175"/>
            <a:ext cx="5286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API Auth, JWT และ API Keys</a:t>
            </a:r>
          </a:p>
        </p:txBody>
      </p:sp>
      <p:sp>
        <p:nvSpPr>
          <p:cNvPr id="5" name="text-4">
            <a:extLst xmlns:a="http://schemas.openxmlformats.org/drawingml/2006/main">
              <a:ext uri="{FF2B5EF4-FFF2-40B4-BE49-F238E27FC236}">
                <a16:creationId xmlns:a16="http://schemas.microsoft.com/office/drawing/2014/main" id="{AB608875-F744-44FD-BA4D-85622BC8799F}"/>
              </a:ext>
            </a:extLst>
          </p:cNvPr>
          <p:cNvSpPr>
            <a:spLocks xmlns:a="http://schemas.openxmlformats.org/drawingml/2006/main" noGrp="1"/>
          </p:cNvSpPr>
          <p:nvPr/>
        </p:nvSpPr>
        <p:spPr>
          <a:xfrm xmlns:a="http://schemas.openxmlformats.org/drawingml/2006/main">
            <a:off x="609600" y="2324100"/>
            <a:ext cx="5286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Hono จัดการ route และ middleware</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รหัสผ่านใช้ scrypt พร้อม salt</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JWT พิสูจน์คำอ้างเกี่ยวกับผู้ใช้</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API key ให้โปรแกรมเรียก integration</a:t>
            </a:r>
          </a:p>
        </p:txBody>
      </p:sp>
      <p:sp>
        <p:nvSpPr>
          <p:cNvPr id="6" name="text-5">
            <a:extLst xmlns:a="http://schemas.openxmlformats.org/drawingml/2006/main">
              <a:ext uri="{FF2B5EF4-FFF2-40B4-BE49-F238E27FC236}">
                <a16:creationId xmlns:a16="http://schemas.microsoft.com/office/drawing/2014/main" id="{4AD53245-C629-4B4B-83B0-A19659F99E60}"/>
              </a:ext>
            </a:extLst>
          </p:cNvPr>
          <p:cNvSpPr>
            <a:spLocks xmlns:a="http://schemas.openxmlformats.org/drawingml/2006/main" noGrp="1"/>
          </p:cNvSpPr>
          <p:nvPr/>
        </p:nvSpPr>
        <p:spPr>
          <a:xfrm xmlns:a="http://schemas.openxmlformats.org/drawingml/2006/main">
            <a:off x="6534150" y="17811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Monorepo React + Hono</a:t>
            </a:r>
          </a:p>
        </p:txBody>
      </p:sp>
      <p:sp>
        <p:nvSpPr>
          <p:cNvPr id="7" name="text-6">
            <a:extLst xmlns:a="http://schemas.openxmlformats.org/drawingml/2006/main">
              <a:ext uri="{FF2B5EF4-FFF2-40B4-BE49-F238E27FC236}">
                <a16:creationId xmlns:a16="http://schemas.microsoft.com/office/drawing/2014/main" id="{16CFE0AE-4802-4185-9984-B65AE872481C}"/>
              </a:ext>
            </a:extLst>
          </p:cNvPr>
          <p:cNvSpPr>
            <a:spLocks xmlns:a="http://schemas.openxmlformats.org/drawingml/2006/main" noGrp="1"/>
          </p:cNvSpPr>
          <p:nvPr/>
        </p:nvSpPr>
        <p:spPr>
          <a:xfrm xmlns:a="http://schemas.openxmlformats.org/drawingml/2006/main">
            <a:off x="6534150" y="23241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เก็บ web และ API ใน repository เดียว</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แชร์ schema และ type ใน package กลาง</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เปลี่ยนสัญญาข้อมูลได้พร้อมกัน</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TaskFlow ใช้ npm workspaces</a:t>
            </a:r>
          </a:p>
        </p:txBody>
      </p:sp>
      <p:sp>
        <p:nvSpPr>
          <p:cNvPr id="8" name="">
            <a:extLst xmlns:a="http://schemas.openxmlformats.org/drawingml/2006/main">
              <a:ext uri="{FF2B5EF4-FFF2-40B4-BE49-F238E27FC236}">
                <a16:creationId xmlns:a16="http://schemas.microsoft.com/office/drawing/2014/main" id="{9B9068CB-F41D-42C5-B9A3-3716E26B96C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9" name="text-8">
            <a:extLst xmlns:a="http://schemas.openxmlformats.org/drawingml/2006/main">
              <a:ext uri="{FF2B5EF4-FFF2-40B4-BE49-F238E27FC236}">
                <a16:creationId xmlns:a16="http://schemas.microsoft.com/office/drawing/2014/main" id="{A1E63D1D-B68D-48FC-B716-770FC3322FCA}"/>
              </a:ext>
            </a:extLst>
          </p:cNvPr>
          <p:cNvSpPr>
            <a:spLocks xmlns:a="http://schemas.openxmlformats.org/drawingml/2006/main" noGrp="1"/>
          </p:cNvSpPr>
          <p:nvPr/>
        </p:nvSpPr>
        <p:spPr>
          <a:xfrm xmlns:a="http://schemas.openxmlformats.org/drawingml/2006/main">
            <a:off x="609600" y="4991100"/>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3"/>
                </a:solidFill>
                <a:latin typeface="Tahoma"/>
                <a:ea typeface="Tahoma"/>
                <a:cs typeface="Tahoma"/>
              </a:defRPr>
            </a:defPPr>
          </a:lstStyle>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หลักฐานการเรียน: Auth ใช้คำบรรยายเต็มและโค้ดผู้สอน</a:t>
            </a:r>
          </a:p>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Monorepo ใช้หัวข้อและ repository ของผู้สอน</a:t>
            </a:r>
          </a:p>
        </p:txBody>
      </p:sp>
    </p:spTree>
    <p:extLst>
      <p:ext uri="{BB962C8B-B14F-4D97-AF65-F5344CB8AC3E}">
        <p14:creationId xmlns:p14="http://schemas.microsoft.com/office/powerpoint/2010/main" val="331875174"/>
      </p:ext>
    </p:extLst>
  </p:cSld>
</p:sld>
</file>

<file path=ppt/slides/slide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92299C1F-E66B-42AD-8F26-9788E313C531}"/>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หน้าจอจริงและเส้นทางการใช้งาน</a:t>
            </a:r>
          </a:p>
        </p:txBody>
      </p:sp>
      <p:sp>
        <p:nvSpPr>
          <p:cNvPr id="2" name="">
            <a:extLst xmlns:a="http://schemas.openxmlformats.org/drawingml/2006/main">
              <a:ext uri="{FF2B5EF4-FFF2-40B4-BE49-F238E27FC236}">
                <a16:creationId xmlns:a16="http://schemas.microsoft.com/office/drawing/2014/main" id="{D3E9BAE0-BE5E-4577-938D-F6F7C5FD35F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A48BEA5E-5730-4A90-8BAB-EFFCBF7D67FB}"/>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04</a:t>
            </a:r>
          </a:p>
        </p:txBody>
      </p:sp>
      <p:pic>
        <p:nvPicPr>
          <p:cNvPr id="4" name="">
            <a:extLst xmlns:a="http://schemas.openxmlformats.org/drawingml/2006/main">
              <a:ext uri="{FF2B5EF4-FFF2-40B4-BE49-F238E27FC236}">
                <a16:creationId xmlns:a16="http://schemas.microsoft.com/office/drawing/2014/main" id="{5B0E51F0-BBE8-492B-B3E0-AE5FCE042AAB}"/>
              </a:ext>
            </a:extLst>
          </p:cNvPr>
          <p:cNvPicPr>
            <a:picLocks xmlns:a="http://schemas.openxmlformats.org/drawingml/2006/main" noChangeAspect="1"/>
          </p:cNvPicPr>
          <p:nvPr/>
        </p:nvPicPr>
        <p:blipFill>
          <a:blip xmlns:r="http://schemas.openxmlformats.org/officeDocument/2006/relationships" xmlns:a="http://schemas.openxmlformats.org/drawingml/2006/main" r:embed="Rdfcda5a409284ff6"/>
          <a:stretch xmlns:a="http://schemas.openxmlformats.org/drawingml/2006/main"/>
        </p:blipFill>
        <p:spPr>
          <a:xfrm xmlns:a="http://schemas.openxmlformats.org/drawingml/2006/main">
            <a:off x="987750" y="1571625"/>
            <a:ext cx="2120251" cy="45910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C4D69F3C-9C03-4838-8F1A-B86EEBBC4403}"/>
              </a:ext>
            </a:extLst>
          </p:cNvPr>
          <p:cNvSpPr>
            <a:spLocks xmlns:a="http://schemas.openxmlformats.org/drawingml/2006/main" noGrp="1"/>
          </p:cNvSpPr>
          <p:nvPr/>
        </p:nvSpPr>
        <p:spPr>
          <a:xfrm xmlns:a="http://schemas.openxmlformats.org/drawingml/2006/main">
            <a:off x="4019550" y="1809750"/>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01</a:t>
            </a:r>
          </a:p>
        </p:txBody>
      </p:sp>
      <p:sp>
        <p:nvSpPr>
          <p:cNvPr id="6" name="text-4">
            <a:extLst xmlns:a="http://schemas.openxmlformats.org/drawingml/2006/main">
              <a:ext uri="{FF2B5EF4-FFF2-40B4-BE49-F238E27FC236}">
                <a16:creationId xmlns:a16="http://schemas.microsoft.com/office/drawing/2014/main" id="{9763E72F-EF74-44BC-8ADC-229515A41A8B}"/>
              </a:ext>
            </a:extLst>
          </p:cNvPr>
          <p:cNvSpPr>
            <a:spLocks xmlns:a="http://schemas.openxmlformats.org/drawingml/2006/main" noGrp="1"/>
          </p:cNvSpPr>
          <p:nvPr/>
        </p:nvSpPr>
        <p:spPr>
          <a:xfrm xmlns:a="http://schemas.openxmlformats.org/drawingml/2006/main">
            <a:off x="4648200" y="1809750"/>
            <a:ext cx="68961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02B"/>
                </a:solidFill>
                <a:latin typeface="Tahoma"/>
                <a:ea typeface="Tahoma"/>
                <a:cs typeface="Tahoma"/>
              </a:defRPr>
            </a:defPPr>
          </a:lstStyle>
          <a:p xmlns:a="http://schemas.openxmlformats.org/drawingml/2006/main">
            <a:pPr algn="l">
              <a:defRPr sz="2175" b="0">
                <a:solidFill>
                  <a:srgbClr val="12202B"/>
                </a:solidFill>
                <a:latin typeface="Tahoma"/>
                <a:ea typeface="Tahoma"/>
                <a:cs typeface="Tahoma"/>
              </a:defRPr>
            </a:pPr>
            <a:r>
              <a:rPr sz="2175" b="0">
                <a:solidFill>
                  <a:srgbClr val="12202B"/>
                </a:solidFill>
                <a:latin typeface="Tahoma"/>
                <a:ea typeface="Tahoma"/>
                <a:cs typeface="Tahoma"/>
              </a:rPr>
              <a:t>เพิ่มงานพร้อมวันครบกำหนด</a:t>
            </a:r>
          </a:p>
        </p:txBody>
      </p:sp>
      <p:sp>
        <p:nvSpPr>
          <p:cNvPr id="7" name="text-5">
            <a:extLst xmlns:a="http://schemas.openxmlformats.org/drawingml/2006/main">
              <a:ext uri="{FF2B5EF4-FFF2-40B4-BE49-F238E27FC236}">
                <a16:creationId xmlns:a16="http://schemas.microsoft.com/office/drawing/2014/main" id="{E2A3E265-495B-452C-A6E6-2D578E9BB51E}"/>
              </a:ext>
            </a:extLst>
          </p:cNvPr>
          <p:cNvSpPr>
            <a:spLocks xmlns:a="http://schemas.openxmlformats.org/drawingml/2006/main" noGrp="1"/>
          </p:cNvSpPr>
          <p:nvPr/>
        </p:nvSpPr>
        <p:spPr>
          <a:xfrm xmlns:a="http://schemas.openxmlformats.org/drawingml/2006/main">
            <a:off x="4019550" y="28098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02</a:t>
            </a:r>
          </a:p>
        </p:txBody>
      </p:sp>
      <p:sp>
        <p:nvSpPr>
          <p:cNvPr id="8" name="text-6">
            <a:extLst xmlns:a="http://schemas.openxmlformats.org/drawingml/2006/main">
              <a:ext uri="{FF2B5EF4-FFF2-40B4-BE49-F238E27FC236}">
                <a16:creationId xmlns:a16="http://schemas.microsoft.com/office/drawing/2014/main" id="{762AE645-4A54-4C93-BFC3-EE8F804C23CD}"/>
              </a:ext>
            </a:extLst>
          </p:cNvPr>
          <p:cNvSpPr>
            <a:spLocks xmlns:a="http://schemas.openxmlformats.org/drawingml/2006/main" noGrp="1"/>
          </p:cNvSpPr>
          <p:nvPr/>
        </p:nvSpPr>
        <p:spPr>
          <a:xfrm xmlns:a="http://schemas.openxmlformats.org/drawingml/2006/main">
            <a:off x="4648200" y="2809875"/>
            <a:ext cx="68961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02B"/>
                </a:solidFill>
                <a:latin typeface="Tahoma"/>
                <a:ea typeface="Tahoma"/>
                <a:cs typeface="Tahoma"/>
              </a:defRPr>
            </a:defPPr>
          </a:lstStyle>
          <a:p xmlns:a="http://schemas.openxmlformats.org/drawingml/2006/main">
            <a:pPr algn="l">
              <a:defRPr sz="2175" b="0">
                <a:solidFill>
                  <a:srgbClr val="12202B"/>
                </a:solidFill>
                <a:latin typeface="Tahoma"/>
                <a:ea typeface="Tahoma"/>
                <a:cs typeface="Tahoma"/>
              </a:defRPr>
            </a:pPr>
            <a:r>
              <a:rPr sz="2175" b="0">
                <a:solidFill>
                  <a:srgbClr val="12202B"/>
                </a:solidFill>
                <a:latin typeface="Tahoma"/>
                <a:ea typeface="Tahoma"/>
                <a:cs typeface="Tahoma"/>
              </a:rPr>
              <a:t>ค้นหาและกรองรายการที่ต้องการ</a:t>
            </a:r>
          </a:p>
        </p:txBody>
      </p:sp>
      <p:sp>
        <p:nvSpPr>
          <p:cNvPr id="9" name="text-7">
            <a:extLst xmlns:a="http://schemas.openxmlformats.org/drawingml/2006/main">
              <a:ext uri="{FF2B5EF4-FFF2-40B4-BE49-F238E27FC236}">
                <a16:creationId xmlns:a16="http://schemas.microsoft.com/office/drawing/2014/main" id="{536594C0-2B52-44A3-AEF1-8949B5F159C7}"/>
              </a:ext>
            </a:extLst>
          </p:cNvPr>
          <p:cNvSpPr>
            <a:spLocks xmlns:a="http://schemas.openxmlformats.org/drawingml/2006/main" noGrp="1"/>
          </p:cNvSpPr>
          <p:nvPr/>
        </p:nvSpPr>
        <p:spPr>
          <a:xfrm xmlns:a="http://schemas.openxmlformats.org/drawingml/2006/main">
            <a:off x="4019550" y="3810000"/>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03</a:t>
            </a:r>
          </a:p>
        </p:txBody>
      </p:sp>
      <p:sp>
        <p:nvSpPr>
          <p:cNvPr id="10" name="text-8">
            <a:extLst xmlns:a="http://schemas.openxmlformats.org/drawingml/2006/main">
              <a:ext uri="{FF2B5EF4-FFF2-40B4-BE49-F238E27FC236}">
                <a16:creationId xmlns:a16="http://schemas.microsoft.com/office/drawing/2014/main" id="{E6374402-420B-48F6-A8F4-DB2DE5251935}"/>
              </a:ext>
            </a:extLst>
          </p:cNvPr>
          <p:cNvSpPr>
            <a:spLocks xmlns:a="http://schemas.openxmlformats.org/drawingml/2006/main" noGrp="1"/>
          </p:cNvSpPr>
          <p:nvPr/>
        </p:nvSpPr>
        <p:spPr>
          <a:xfrm xmlns:a="http://schemas.openxmlformats.org/drawingml/2006/main">
            <a:off x="4648200" y="3810000"/>
            <a:ext cx="68961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02B"/>
                </a:solidFill>
                <a:latin typeface="Tahoma"/>
                <a:ea typeface="Tahoma"/>
                <a:cs typeface="Tahoma"/>
              </a:defRPr>
            </a:defPPr>
          </a:lstStyle>
          <a:p xmlns:a="http://schemas.openxmlformats.org/drawingml/2006/main">
            <a:pPr algn="l">
              <a:defRPr sz="2175" b="0">
                <a:solidFill>
                  <a:srgbClr val="12202B"/>
                </a:solidFill>
                <a:latin typeface="Tahoma"/>
                <a:ea typeface="Tahoma"/>
                <a:cs typeface="Tahoma"/>
              </a:defRPr>
            </a:pPr>
            <a:r>
              <a:rPr sz="2175" b="0">
                <a:solidFill>
                  <a:srgbClr val="12202B"/>
                </a:solidFill>
                <a:latin typeface="Tahoma"/>
                <a:ea typeface="Tahoma"/>
                <a:cs typeface="Tahoma"/>
              </a:rPr>
              <a:t>เปลี่ยนสถานะและแก้ไขรายละเอียด</a:t>
            </a:r>
          </a:p>
        </p:txBody>
      </p:sp>
      <p:sp>
        <p:nvSpPr>
          <p:cNvPr id="11" name="text-9">
            <a:extLst xmlns:a="http://schemas.openxmlformats.org/drawingml/2006/main">
              <a:ext uri="{FF2B5EF4-FFF2-40B4-BE49-F238E27FC236}">
                <a16:creationId xmlns:a16="http://schemas.microsoft.com/office/drawing/2014/main" id="{A2A6A41B-3308-4F0E-B8F1-353440A6A238}"/>
              </a:ext>
            </a:extLst>
          </p:cNvPr>
          <p:cNvSpPr>
            <a:spLocks xmlns:a="http://schemas.openxmlformats.org/drawingml/2006/main" noGrp="1"/>
          </p:cNvSpPr>
          <p:nvPr/>
        </p:nvSpPr>
        <p:spPr>
          <a:xfrm xmlns:a="http://schemas.openxmlformats.org/drawingml/2006/main">
            <a:off x="4019550" y="481012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04</a:t>
            </a:r>
          </a:p>
        </p:txBody>
      </p:sp>
      <p:sp>
        <p:nvSpPr>
          <p:cNvPr id="12" name="text-10">
            <a:extLst xmlns:a="http://schemas.openxmlformats.org/drawingml/2006/main">
              <a:ext uri="{FF2B5EF4-FFF2-40B4-BE49-F238E27FC236}">
                <a16:creationId xmlns:a16="http://schemas.microsoft.com/office/drawing/2014/main" id="{35AFB8C2-AEA1-4A77-8EBD-AEF1A00C92E9}"/>
              </a:ext>
            </a:extLst>
          </p:cNvPr>
          <p:cNvSpPr>
            <a:spLocks xmlns:a="http://schemas.openxmlformats.org/drawingml/2006/main" noGrp="1"/>
          </p:cNvSpPr>
          <p:nvPr/>
        </p:nvSpPr>
        <p:spPr>
          <a:xfrm xmlns:a="http://schemas.openxmlformats.org/drawingml/2006/main">
            <a:off x="4648200" y="4810125"/>
            <a:ext cx="68961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02B"/>
                </a:solidFill>
                <a:latin typeface="Tahoma"/>
                <a:ea typeface="Tahoma"/>
                <a:cs typeface="Tahoma"/>
              </a:defRPr>
            </a:defPPr>
          </a:lstStyle>
          <a:p xmlns:a="http://schemas.openxmlformats.org/drawingml/2006/main">
            <a:pPr algn="l">
              <a:defRPr sz="2175" b="0">
                <a:solidFill>
                  <a:srgbClr val="12202B"/>
                </a:solidFill>
                <a:latin typeface="Tahoma"/>
                <a:ea typeface="Tahoma"/>
                <a:cs typeface="Tahoma"/>
              </a:defRPr>
            </a:pPr>
            <a:r>
              <a:rPr sz="2175" b="0">
                <a:solidFill>
                  <a:srgbClr val="12202B"/>
                </a:solidFill>
                <a:latin typeface="Tahoma"/>
                <a:ea typeface="Tahoma"/>
                <a:cs typeface="Tahoma"/>
              </a:rPr>
              <a:t>จัดการ API key สำหรับ n8n</a:t>
            </a:r>
          </a:p>
        </p:txBody>
      </p:sp>
    </p:spTree>
    <p:extLst>
      <p:ext uri="{BB962C8B-B14F-4D97-AF65-F5344CB8AC3E}">
        <p14:creationId xmlns:p14="http://schemas.microsoft.com/office/powerpoint/2010/main" val="1582087843"/>
      </p:ext>
    </p:extLst>
  </p:cSld>
</p:sld>
</file>

<file path=ppt/slides/slide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6CB0DC50-94E2-4EA3-A234-95DA63E06DDF}"/>
              </a:ext>
            </a:extLst>
          </p:cNvPr>
          <p:cNvCxnSpPr>
            <a:stCxn xmlns:a="http://schemas.openxmlformats.org/drawingml/2006/main" id="11" idx="0"/>
            <a:endCxn xmlns:a="http://schemas.openxmlformats.org/drawingml/2006/main" id="5" idx="2"/>
          </p:cNvCxnSpPr>
          <p:nvPr/>
        </p:nvCxnSpPr>
        <p:spPr>
          <a:xfrm xmlns:a="http://schemas.openxmlformats.org/drawingml/2006/main" flipV="1">
            <a:off x="6086475" y="3362325"/>
            <a:ext cx="0" cy="1285875"/>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8" name="">
            <a:extLst xmlns:a="http://schemas.openxmlformats.org/drawingml/2006/main">
              <a:ext uri="{FF2B5EF4-FFF2-40B4-BE49-F238E27FC236}">
                <a16:creationId xmlns:a16="http://schemas.microsoft.com/office/drawing/2014/main" id="{CE5B68A3-8980-4B18-AD93-A856B1C2A6AC}"/>
              </a:ext>
            </a:extLst>
          </p:cNvPr>
          <p:cNvCxnSpPr>
            <a:stCxn xmlns:a="http://schemas.openxmlformats.org/drawingml/2006/main" id="5" idx="3"/>
            <a:endCxn xmlns:a="http://schemas.openxmlformats.org/drawingml/2006/main" id="6" idx="1"/>
          </p:cNvCxnSpPr>
          <p:nvPr/>
        </p:nvCxnSpPr>
        <p:spPr>
          <a:xfrm xmlns:a="http://schemas.openxmlformats.org/drawingml/2006/main">
            <a:off x="7543800" y="2776538"/>
            <a:ext cx="110490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7" name="">
            <a:extLst xmlns:a="http://schemas.openxmlformats.org/drawingml/2006/main">
              <a:ext uri="{FF2B5EF4-FFF2-40B4-BE49-F238E27FC236}">
                <a16:creationId xmlns:a16="http://schemas.microsoft.com/office/drawing/2014/main" id="{8A1A6FC6-1230-4D3C-B78C-88358E01F10A}"/>
              </a:ext>
            </a:extLst>
          </p:cNvPr>
          <p:cNvCxnSpPr>
            <a:stCxn xmlns:a="http://schemas.openxmlformats.org/drawingml/2006/main" id="4" idx="3"/>
            <a:endCxn xmlns:a="http://schemas.openxmlformats.org/drawingml/2006/main" id="5" idx="1"/>
          </p:cNvCxnSpPr>
          <p:nvPr/>
        </p:nvCxnSpPr>
        <p:spPr>
          <a:xfrm xmlns:a="http://schemas.openxmlformats.org/drawingml/2006/main">
            <a:off x="3524250" y="2776538"/>
            <a:ext cx="110490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5" name="text-0">
            <a:extLst xmlns:a="http://schemas.openxmlformats.org/drawingml/2006/main">
              <a:ext uri="{FF2B5EF4-FFF2-40B4-BE49-F238E27FC236}">
                <a16:creationId xmlns:a16="http://schemas.microsoft.com/office/drawing/2014/main" id="{24446E0A-4761-42B3-8C79-C15EA85EF3F1}"/>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สถาปัตยกรรมของ TaskFlow</a:t>
            </a:r>
          </a:p>
        </p:txBody>
      </p:sp>
      <p:sp>
        <p:nvSpPr>
          <p:cNvPr id="2" name="">
            <a:extLst xmlns:a="http://schemas.openxmlformats.org/drawingml/2006/main">
              <a:ext uri="{FF2B5EF4-FFF2-40B4-BE49-F238E27FC236}">
                <a16:creationId xmlns:a16="http://schemas.microsoft.com/office/drawing/2014/main" id="{D3E8BE79-1C25-4BF7-8DE5-D951CF75447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0FDED537-8A7F-46A8-AB47-E01A649DA43C}"/>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05</a:t>
            </a:r>
          </a:p>
        </p:txBody>
      </p:sp>
      <p:sp>
        <p:nvSpPr>
          <p:cNvPr id="4" name="Browser&#10;React + Tailwind">
            <a:extLst xmlns:a="http://schemas.openxmlformats.org/drawingml/2006/main">
              <a:ext uri="{FF2B5EF4-FFF2-40B4-BE49-F238E27FC236}">
                <a16:creationId xmlns:a16="http://schemas.microsoft.com/office/drawing/2014/main" id="{93601202-0EB3-41A5-AB79-9CBE8F930E55}"/>
              </a:ext>
            </a:extLst>
          </p:cNvPr>
          <p:cNvSpPr>
            <a:spLocks xmlns:a="http://schemas.openxmlformats.org/drawingml/2006/main" noGrp="1"/>
          </p:cNvSpPr>
          <p:nvPr/>
        </p:nvSpPr>
        <p:spPr>
          <a:xfrm xmlns:a="http://schemas.openxmlformats.org/drawingml/2006/main">
            <a:off x="609600" y="2190750"/>
            <a:ext cx="2914650" cy="1171575"/>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Browser</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React + Tailwind</a:t>
            </a:r>
          </a:p>
        </p:txBody>
      </p:sp>
      <p:sp>
        <p:nvSpPr>
          <p:cNvPr id="5" name="Node.js&#10;Hono API">
            <a:extLst xmlns:a="http://schemas.openxmlformats.org/drawingml/2006/main">
              <a:ext uri="{FF2B5EF4-FFF2-40B4-BE49-F238E27FC236}">
                <a16:creationId xmlns:a16="http://schemas.microsoft.com/office/drawing/2014/main" id="{5F0FB8A8-3309-4C88-B3D4-C27215C578CB}"/>
              </a:ext>
            </a:extLst>
          </p:cNvPr>
          <p:cNvSpPr>
            <a:spLocks xmlns:a="http://schemas.openxmlformats.org/drawingml/2006/main" noGrp="1"/>
          </p:cNvSpPr>
          <p:nvPr/>
        </p:nvSpPr>
        <p:spPr>
          <a:xfrm xmlns:a="http://schemas.openxmlformats.org/drawingml/2006/main">
            <a:off x="4629150" y="2190750"/>
            <a:ext cx="2914650" cy="1171575"/>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Node.js</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Hono API</a:t>
            </a:r>
          </a:p>
        </p:txBody>
      </p:sp>
      <p:sp>
        <p:nvSpPr>
          <p:cNvPr id="6" name="SQLite&#10;ไฟล์ฐานข้อมูล">
            <a:extLst xmlns:a="http://schemas.openxmlformats.org/drawingml/2006/main">
              <a:ext uri="{FF2B5EF4-FFF2-40B4-BE49-F238E27FC236}">
                <a16:creationId xmlns:a16="http://schemas.microsoft.com/office/drawing/2014/main" id="{AC40032A-5728-4C85-8117-8F05E3E325D8}"/>
              </a:ext>
            </a:extLst>
          </p:cNvPr>
          <p:cNvSpPr>
            <a:spLocks xmlns:a="http://schemas.openxmlformats.org/drawingml/2006/main" noGrp="1"/>
          </p:cNvSpPr>
          <p:nvPr/>
        </p:nvSpPr>
        <p:spPr>
          <a:xfrm xmlns:a="http://schemas.openxmlformats.org/drawingml/2006/main">
            <a:off x="8648700" y="2190750"/>
            <a:ext cx="2914650" cy="1171575"/>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SQLite</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ไฟล์ฐานข้อมูล</a:t>
            </a:r>
          </a:p>
        </p:txBody>
      </p:sp>
      <p:sp>
        <p:nvSpPr>
          <p:cNvPr id="9" name="text-8">
            <a:extLst xmlns:a="http://schemas.openxmlformats.org/drawingml/2006/main">
              <a:ext uri="{FF2B5EF4-FFF2-40B4-BE49-F238E27FC236}">
                <a16:creationId xmlns:a16="http://schemas.microsoft.com/office/drawing/2014/main" id="{A9DBC7F3-31F0-4745-8BFF-59E1D9226307}"/>
              </a:ext>
            </a:extLst>
          </p:cNvPr>
          <p:cNvSpPr>
            <a:spLocks xmlns:a="http://schemas.openxmlformats.org/drawingml/2006/main" noGrp="1"/>
          </p:cNvSpPr>
          <p:nvPr/>
        </p:nvSpPr>
        <p:spPr>
          <a:xfrm xmlns:a="http://schemas.openxmlformats.org/drawingml/2006/main">
            <a:off x="3476625" y="18192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HTTP / JSON</a:t>
            </a:r>
          </a:p>
        </p:txBody>
      </p:sp>
      <p:sp>
        <p:nvSpPr>
          <p:cNvPr id="10" name="text-9">
            <a:extLst xmlns:a="http://schemas.openxmlformats.org/drawingml/2006/main">
              <a:ext uri="{FF2B5EF4-FFF2-40B4-BE49-F238E27FC236}">
                <a16:creationId xmlns:a16="http://schemas.microsoft.com/office/drawing/2014/main" id="{6B5E35D7-FD8A-45E5-997B-7C721B28198F}"/>
              </a:ext>
            </a:extLst>
          </p:cNvPr>
          <p:cNvSpPr>
            <a:spLocks xmlns:a="http://schemas.openxmlformats.org/drawingml/2006/main" noGrp="1"/>
          </p:cNvSpPr>
          <p:nvPr/>
        </p:nvSpPr>
        <p:spPr>
          <a:xfrm xmlns:a="http://schemas.openxmlformats.org/drawingml/2006/main">
            <a:off x="7505700" y="18192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Prepared SQL</a:t>
            </a:r>
          </a:p>
        </p:txBody>
      </p:sp>
      <p:sp>
        <p:nvSpPr>
          <p:cNvPr id="11" name="n8n workflow">
            <a:extLst xmlns:a="http://schemas.openxmlformats.org/drawingml/2006/main">
              <a:ext uri="{FF2B5EF4-FFF2-40B4-BE49-F238E27FC236}">
                <a16:creationId xmlns:a16="http://schemas.microsoft.com/office/drawing/2014/main" id="{06CFCE8D-A343-4D02-953F-017E0F620353}"/>
              </a:ext>
            </a:extLst>
          </p:cNvPr>
          <p:cNvSpPr>
            <a:spLocks xmlns:a="http://schemas.openxmlformats.org/drawingml/2006/main" noGrp="1"/>
          </p:cNvSpPr>
          <p:nvPr/>
        </p:nvSpPr>
        <p:spPr>
          <a:xfrm xmlns:a="http://schemas.openxmlformats.org/drawingml/2006/main">
            <a:off x="4629150" y="4648200"/>
            <a:ext cx="29146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n8n workflow</a:t>
            </a:r>
          </a:p>
        </p:txBody>
      </p:sp>
      <p:sp>
        <p:nvSpPr>
          <p:cNvPr id="13" name="text-12">
            <a:extLst xmlns:a="http://schemas.openxmlformats.org/drawingml/2006/main">
              <a:ext uri="{FF2B5EF4-FFF2-40B4-BE49-F238E27FC236}">
                <a16:creationId xmlns:a16="http://schemas.microsoft.com/office/drawing/2014/main" id="{6ED67A2F-E207-4BFE-BC42-9DEFEE1D706B}"/>
              </a:ext>
            </a:extLst>
          </p:cNvPr>
          <p:cNvSpPr>
            <a:spLocks xmlns:a="http://schemas.openxmlformats.org/drawingml/2006/main" noGrp="1"/>
          </p:cNvSpPr>
          <p:nvPr/>
        </p:nvSpPr>
        <p:spPr>
          <a:xfrm xmlns:a="http://schemas.openxmlformats.org/drawingml/2006/main">
            <a:off x="7677150" y="4314825"/>
            <a:ext cx="3219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3"/>
                </a:solidFill>
                <a:latin typeface="Tahoma"/>
                <a:ea typeface="Tahoma"/>
                <a:cs typeface="Tahoma"/>
              </a:defRPr>
            </a:defPPr>
          </a:lstStyle>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x-api-key</a:t>
            </a:r>
          </a:p>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เฉพาะ integration</a:t>
            </a:r>
          </a:p>
        </p:txBody>
      </p:sp>
      <p:sp>
        <p:nvSpPr>
          <p:cNvPr id="14" name="text-13">
            <a:extLst xmlns:a="http://schemas.openxmlformats.org/drawingml/2006/main">
              <a:ext uri="{FF2B5EF4-FFF2-40B4-BE49-F238E27FC236}">
                <a16:creationId xmlns:a16="http://schemas.microsoft.com/office/drawing/2014/main" id="{8B69C37D-D57E-41CA-B135-0601E3881C09}"/>
              </a:ext>
            </a:extLst>
          </p:cNvPr>
          <p:cNvSpPr>
            <a:spLocks xmlns:a="http://schemas.openxmlformats.org/drawingml/2006/main" noGrp="1"/>
          </p:cNvSpPr>
          <p:nvPr/>
        </p:nvSpPr>
        <p:spPr>
          <a:xfrm xmlns:a="http://schemas.openxmlformats.org/drawingml/2006/main">
            <a:off x="609600" y="5600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หลัง build: เว็บและ API ใช้ origin เดียว</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ระหว่างพัฒนา: Vite proxy ส่ง /api ไป Hono</a:t>
            </a:r>
          </a:p>
        </p:txBody>
      </p:sp>
    </p:spTree>
    <p:extLst>
      <p:ext uri="{BB962C8B-B14F-4D97-AF65-F5344CB8AC3E}">
        <p14:creationId xmlns:p14="http://schemas.microsoft.com/office/powerpoint/2010/main" val="2134622820"/>
      </p:ext>
    </p:extLst>
  </p:cSld>
</p:sld>
</file>

<file path=ppt/slides/slide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2BE362B-AC3B-4AB7-8E71-2076D6EED6E2}"/>
              </a:ext>
            </a:extLst>
          </p:cNvPr>
          <p:cNvCxnSpPr>
            <a:stCxn xmlns:a="http://schemas.openxmlformats.org/drawingml/2006/main" id="6" idx="0"/>
            <a:endCxn xmlns:a="http://schemas.openxmlformats.org/drawingml/2006/main" id="7" idx="2"/>
          </p:cNvCxnSpPr>
          <p:nvPr/>
        </p:nvCxnSpPr>
        <p:spPr>
          <a:xfrm xmlns:a="http://schemas.openxmlformats.org/drawingml/2006/main" flipV="1">
            <a:off x="9067800" y="4105275"/>
            <a:ext cx="0" cy="43815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8" name="">
            <a:extLst xmlns:a="http://schemas.openxmlformats.org/drawingml/2006/main">
              <a:ext uri="{FF2B5EF4-FFF2-40B4-BE49-F238E27FC236}">
                <a16:creationId xmlns:a16="http://schemas.microsoft.com/office/drawing/2014/main" id="{76FD8337-7D71-4C7D-928D-D05F7A59EEA5}"/>
              </a:ext>
            </a:extLst>
          </p:cNvPr>
          <p:cNvCxnSpPr>
            <a:stCxn xmlns:a="http://schemas.openxmlformats.org/drawingml/2006/main" id="5" idx="2"/>
            <a:endCxn xmlns:a="http://schemas.openxmlformats.org/drawingml/2006/main" id="7" idx="0"/>
          </p:cNvCxnSpPr>
          <p:nvPr/>
        </p:nvCxnSpPr>
        <p:spPr>
          <a:xfrm xmlns:a="http://schemas.openxmlformats.org/drawingml/2006/main">
            <a:off x="9067800" y="2790825"/>
            <a:ext cx="0" cy="41910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1" name="text-0">
            <a:extLst xmlns:a="http://schemas.openxmlformats.org/drawingml/2006/main">
              <a:ext uri="{FF2B5EF4-FFF2-40B4-BE49-F238E27FC236}">
                <a16:creationId xmlns:a16="http://schemas.microsoft.com/office/drawing/2014/main" id="{E8685F53-95B4-4ED1-881D-AEB429BC8B45}"/>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Monorepo และ package ที่แชร์ร่วมกัน</a:t>
            </a:r>
          </a:p>
        </p:txBody>
      </p:sp>
      <p:sp>
        <p:nvSpPr>
          <p:cNvPr id="2" name="">
            <a:extLst xmlns:a="http://schemas.openxmlformats.org/drawingml/2006/main">
              <a:ext uri="{FF2B5EF4-FFF2-40B4-BE49-F238E27FC236}">
                <a16:creationId xmlns:a16="http://schemas.microsoft.com/office/drawing/2014/main" id="{277FFE14-1C95-49B3-A9DE-9F309C39C555}"/>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765CB69A-8726-4EC1-A6BF-3D28AF584DB7}"/>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06</a:t>
            </a:r>
          </a:p>
        </p:txBody>
      </p:sp>
      <p:sp>
        <p:nvSpPr>
          <p:cNvPr id="4" name="text-3">
            <a:extLst xmlns:a="http://schemas.openxmlformats.org/drawingml/2006/main">
              <a:ext uri="{FF2B5EF4-FFF2-40B4-BE49-F238E27FC236}">
                <a16:creationId xmlns:a16="http://schemas.microsoft.com/office/drawing/2014/main" id="{50E55B4C-8727-4023-96FE-7E1D1CC6DC7A}"/>
              </a:ext>
            </a:extLst>
          </p:cNvPr>
          <p:cNvSpPr>
            <a:spLocks xmlns:a="http://schemas.openxmlformats.org/drawingml/2006/main" noGrp="1"/>
          </p:cNvSpPr>
          <p:nvPr/>
        </p:nvSpPr>
        <p:spPr>
          <a:xfrm xmlns:a="http://schemas.openxmlformats.org/drawingml/2006/main">
            <a:off x="609600" y="1800225"/>
            <a:ext cx="5429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taskflow/</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apps/</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web/        React + Tailwind</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api/          Hono + SQL</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packages/</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shared/    Zod + types</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n8n/          workflow</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  docs/         คู่มือ</a:t>
            </a:r>
          </a:p>
        </p:txBody>
      </p:sp>
      <p:sp>
        <p:nvSpPr>
          <p:cNvPr id="5" name="@taskflow/web">
            <a:extLst xmlns:a="http://schemas.openxmlformats.org/drawingml/2006/main">
              <a:ext uri="{FF2B5EF4-FFF2-40B4-BE49-F238E27FC236}">
                <a16:creationId xmlns:a16="http://schemas.microsoft.com/office/drawing/2014/main" id="{14146615-A806-4592-A389-2C4046923805}"/>
              </a:ext>
            </a:extLst>
          </p:cNvPr>
          <p:cNvSpPr>
            <a:spLocks xmlns:a="http://schemas.openxmlformats.org/drawingml/2006/main" noGrp="1"/>
          </p:cNvSpPr>
          <p:nvPr/>
        </p:nvSpPr>
        <p:spPr>
          <a:xfrm xmlns:a="http://schemas.openxmlformats.org/drawingml/2006/main">
            <a:off x="7067550" y="2028825"/>
            <a:ext cx="4000500" cy="7620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@taskflow/web</a:t>
            </a:r>
          </a:p>
        </p:txBody>
      </p:sp>
      <p:sp>
        <p:nvSpPr>
          <p:cNvPr id="6" name="@taskflow/api">
            <a:extLst xmlns:a="http://schemas.openxmlformats.org/drawingml/2006/main">
              <a:ext uri="{FF2B5EF4-FFF2-40B4-BE49-F238E27FC236}">
                <a16:creationId xmlns:a16="http://schemas.microsoft.com/office/drawing/2014/main" id="{AC11C02C-A524-45C6-8A2C-7AFA4DC9F270}"/>
              </a:ext>
            </a:extLst>
          </p:cNvPr>
          <p:cNvSpPr>
            <a:spLocks xmlns:a="http://schemas.openxmlformats.org/drawingml/2006/main" noGrp="1"/>
          </p:cNvSpPr>
          <p:nvPr/>
        </p:nvSpPr>
        <p:spPr>
          <a:xfrm xmlns:a="http://schemas.openxmlformats.org/drawingml/2006/main">
            <a:off x="7067550" y="4543425"/>
            <a:ext cx="4000500" cy="7620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@taskflow/api</a:t>
            </a:r>
          </a:p>
        </p:txBody>
      </p:sp>
      <p:sp>
        <p:nvSpPr>
          <p:cNvPr id="7" name="@taskflow/shared&#10;schema และ types">
            <a:extLst xmlns:a="http://schemas.openxmlformats.org/drawingml/2006/main">
              <a:ext uri="{FF2B5EF4-FFF2-40B4-BE49-F238E27FC236}">
                <a16:creationId xmlns:a16="http://schemas.microsoft.com/office/drawing/2014/main" id="{EB976A80-643B-4A7C-97B0-672574D45094}"/>
              </a:ext>
            </a:extLst>
          </p:cNvPr>
          <p:cNvSpPr>
            <a:spLocks xmlns:a="http://schemas.openxmlformats.org/drawingml/2006/main" noGrp="1"/>
          </p:cNvSpPr>
          <p:nvPr/>
        </p:nvSpPr>
        <p:spPr>
          <a:xfrm xmlns:a="http://schemas.openxmlformats.org/drawingml/2006/main">
            <a:off x="7067550" y="3209925"/>
            <a:ext cx="400050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@taskflow/shared</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schema และ types</a:t>
            </a:r>
          </a:p>
        </p:txBody>
      </p:sp>
      <p:sp>
        <p:nvSpPr>
          <p:cNvPr id="10" name="text-9">
            <a:extLst xmlns:a="http://schemas.openxmlformats.org/drawingml/2006/main">
              <a:ext uri="{FF2B5EF4-FFF2-40B4-BE49-F238E27FC236}">
                <a16:creationId xmlns:a16="http://schemas.microsoft.com/office/drawing/2014/main" id="{BE700E13-E2F1-49E1-B872-1B6A086F388C}"/>
              </a:ext>
            </a:extLst>
          </p:cNvPr>
          <p:cNvSpPr>
            <a:spLocks xmlns:a="http://schemas.openxmlformats.org/drawingml/2006/main" noGrp="1"/>
          </p:cNvSpPr>
          <p:nvPr/>
        </p:nvSpPr>
        <p:spPr>
          <a:xfrm xmlns:a="http://schemas.openxmlformats.org/drawingml/2006/main">
            <a:off x="609600" y="60007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3"/>
                </a:solidFill>
                <a:latin typeface="Tahoma"/>
                <a:ea typeface="Tahoma"/>
                <a:cs typeface="Tahoma"/>
              </a:defRPr>
            </a:defPPr>
          </a:lstStyle>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root scripts สั่ง build และ test ทั้ง repo</a:t>
            </a:r>
          </a:p>
        </p:txBody>
      </p:sp>
    </p:spTree>
    <p:extLst>
      <p:ext uri="{BB962C8B-B14F-4D97-AF65-F5344CB8AC3E}">
        <p14:creationId xmlns:p14="http://schemas.microsoft.com/office/powerpoint/2010/main" val="952165938"/>
      </p:ext>
    </p:extLst>
  </p:cSld>
</p:sld>
</file>

<file path=ppt/slides/slide7.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D09C225-C50F-4514-A96B-016E2C6A4C3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Shared schema และการตรวจข้อมูล</a:t>
            </a:r>
          </a:p>
        </p:txBody>
      </p:sp>
      <p:sp>
        <p:nvSpPr>
          <p:cNvPr id="2" name="">
            <a:extLst xmlns:a="http://schemas.openxmlformats.org/drawingml/2006/main">
              <a:ext uri="{FF2B5EF4-FFF2-40B4-BE49-F238E27FC236}">
                <a16:creationId xmlns:a16="http://schemas.microsoft.com/office/drawing/2014/main" id="{941CAED0-360F-4589-BE73-903A4F8EE60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1C2ACE2E-209F-4020-9B3D-2CE14FC1C748}"/>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07</a:t>
            </a:r>
          </a:p>
        </p:txBody>
      </p:sp>
      <p:sp>
        <p:nvSpPr>
          <p:cNvPr id="4" name="text-3">
            <a:extLst xmlns:a="http://schemas.openxmlformats.org/drawingml/2006/main">
              <a:ext uri="{FF2B5EF4-FFF2-40B4-BE49-F238E27FC236}">
                <a16:creationId xmlns:a16="http://schemas.microsoft.com/office/drawing/2014/main" id="{A98F9036-F98E-4EEE-97F8-BDC8826F3D1E}"/>
              </a:ext>
            </a:extLst>
          </p:cNvPr>
          <p:cNvSpPr>
            <a:spLocks xmlns:a="http://schemas.openxmlformats.org/drawingml/2006/main" noGrp="1"/>
          </p:cNvSpPr>
          <p:nvPr/>
        </p:nvSpPr>
        <p:spPr>
          <a:xfrm xmlns:a="http://schemas.openxmlformats.org/drawingml/2006/main">
            <a:off x="609600" y="18478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title: z.string().trim().min(3).max(120)</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status: z.enum(['pending', 'in_progress', 'completed'])</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due_date: dateSchema.nullable()</a:t>
            </a:r>
          </a:p>
        </p:txBody>
      </p:sp>
      <p:sp>
        <p:nvSpPr>
          <p:cNvPr id="5" name="text-4">
            <a:extLst xmlns:a="http://schemas.openxmlformats.org/drawingml/2006/main">
              <a:ext uri="{FF2B5EF4-FFF2-40B4-BE49-F238E27FC236}">
                <a16:creationId xmlns:a16="http://schemas.microsoft.com/office/drawing/2014/main" id="{EE10B35A-E9DB-41DF-B91A-08AA97153C4B}"/>
              </a:ext>
            </a:extLst>
          </p:cNvPr>
          <p:cNvSpPr>
            <a:spLocks xmlns:a="http://schemas.openxmlformats.org/drawingml/2006/main" noGrp="1"/>
          </p:cNvSpPr>
          <p:nvPr/>
        </p:nvSpPr>
        <p:spPr>
          <a:xfrm xmlns:a="http://schemas.openxmlformats.org/drawingml/2006/main">
            <a:off x="609600" y="39909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Frontend</a:t>
            </a:r>
          </a:p>
        </p:txBody>
      </p:sp>
      <p:sp>
        <p:nvSpPr>
          <p:cNvPr id="6" name="text-5">
            <a:extLst xmlns:a="http://schemas.openxmlformats.org/drawingml/2006/main">
              <a:ext uri="{FF2B5EF4-FFF2-40B4-BE49-F238E27FC236}">
                <a16:creationId xmlns:a16="http://schemas.microsoft.com/office/drawing/2014/main" id="{06A5EDCE-02BC-4B3B-87C8-336131432DB5}"/>
              </a:ext>
            </a:extLst>
          </p:cNvPr>
          <p:cNvSpPr>
            <a:spLocks xmlns:a="http://schemas.openxmlformats.org/drawingml/2006/main" noGrp="1"/>
          </p:cNvSpPr>
          <p:nvPr/>
        </p:nvSpPr>
        <p:spPr>
          <a:xfrm xmlns:a="http://schemas.openxmlformats.org/drawingml/2006/main">
            <a:off x="609600" y="4533900"/>
            <a:ext cx="509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ใช้ schema ตรวจฟอร์ม</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ผู้ใช้เห็นข้อความผิดพลาดก่อนส่ง</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Tailwind จัดรูปแบบ UI ด้วย utility classes</a:t>
            </a:r>
          </a:p>
        </p:txBody>
      </p:sp>
      <p:sp>
        <p:nvSpPr>
          <p:cNvPr id="7" name="text-6">
            <a:extLst xmlns:a="http://schemas.openxmlformats.org/drawingml/2006/main">
              <a:ext uri="{FF2B5EF4-FFF2-40B4-BE49-F238E27FC236}">
                <a16:creationId xmlns:a16="http://schemas.microsoft.com/office/drawing/2014/main" id="{98B7EB9B-A169-472A-AA79-BAEAA80A85C0}"/>
              </a:ext>
            </a:extLst>
          </p:cNvPr>
          <p:cNvSpPr>
            <a:spLocks xmlns:a="http://schemas.openxmlformats.org/drawingml/2006/main" noGrp="1"/>
          </p:cNvSpPr>
          <p:nvPr/>
        </p:nvSpPr>
        <p:spPr>
          <a:xfrm xmlns:a="http://schemas.openxmlformats.org/drawingml/2006/main">
            <a:off x="6562725" y="399097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Backend</a:t>
            </a:r>
          </a:p>
        </p:txBody>
      </p:sp>
      <p:sp>
        <p:nvSpPr>
          <p:cNvPr id="8" name="text-7">
            <a:extLst xmlns:a="http://schemas.openxmlformats.org/drawingml/2006/main">
              <a:ext uri="{FF2B5EF4-FFF2-40B4-BE49-F238E27FC236}">
                <a16:creationId xmlns:a16="http://schemas.microsoft.com/office/drawing/2014/main" id="{28AF0BE7-B6E5-4D2E-9360-AA877AD2228E}"/>
              </a:ext>
            </a:extLst>
          </p:cNvPr>
          <p:cNvSpPr>
            <a:spLocks xmlns:a="http://schemas.openxmlformats.org/drawingml/2006/main" noGrp="1"/>
          </p:cNvSpPr>
          <p:nvPr/>
        </p:nvSpPr>
        <p:spPr>
          <a:xfrm xmlns:a="http://schemas.openxmlformats.org/drawingml/2006/main">
            <a:off x="6562725" y="4533900"/>
            <a:ext cx="5000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ตรวจ request ทุกครั้ง</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PATCH ที่ไม่ส่ง field คงค่าเดิม</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ข้อมูลผิดคืน 400 โดยไม่เขียน SQL</a:t>
            </a:r>
          </a:p>
        </p:txBody>
      </p:sp>
    </p:spTree>
    <p:extLst>
      <p:ext uri="{BB962C8B-B14F-4D97-AF65-F5344CB8AC3E}">
        <p14:creationId xmlns:p14="http://schemas.microsoft.com/office/powerpoint/2010/main" val="1348239662"/>
      </p:ext>
    </p:extLst>
  </p:cSld>
</p:sld>
</file>

<file path=ppt/slides/slide8.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FE268AF6-5AE9-46A6-AFA6-6B065A2D21DF}"/>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ER diagram ของฐานข้อมูล</a:t>
            </a:r>
          </a:p>
        </p:txBody>
      </p:sp>
      <p:sp>
        <p:nvSpPr>
          <p:cNvPr id="2" name="">
            <a:extLst xmlns:a="http://schemas.openxmlformats.org/drawingml/2006/main">
              <a:ext uri="{FF2B5EF4-FFF2-40B4-BE49-F238E27FC236}">
                <a16:creationId xmlns:a16="http://schemas.microsoft.com/office/drawing/2014/main" id="{0C0BAFD5-DA53-4AB5-9638-CBE6F7A2172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85405D39-946C-47AD-B124-98F6FF8934FA}"/>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08</a:t>
            </a:r>
          </a:p>
        </p:txBody>
      </p:sp>
      <p:sp>
        <p:nvSpPr>
          <p:cNvPr id="4" name="users&#10;PK id&#10;email UNIQUE">
            <a:extLst xmlns:a="http://schemas.openxmlformats.org/drawingml/2006/main">
              <a:ext uri="{FF2B5EF4-FFF2-40B4-BE49-F238E27FC236}">
                <a16:creationId xmlns:a16="http://schemas.microsoft.com/office/drawing/2014/main" id="{DA066565-AE32-44FC-814A-1F80FAF5D31C}"/>
              </a:ext>
            </a:extLst>
          </p:cNvPr>
          <p:cNvSpPr>
            <a:spLocks xmlns:a="http://schemas.openxmlformats.org/drawingml/2006/main" noGrp="1"/>
          </p:cNvSpPr>
          <p:nvPr/>
        </p:nvSpPr>
        <p:spPr>
          <a:xfrm xmlns:a="http://schemas.openxmlformats.org/drawingml/2006/main">
            <a:off x="609600" y="3095625"/>
            <a:ext cx="2667000" cy="123825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users</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PK id</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email UNIQUE</a:t>
            </a:r>
          </a:p>
        </p:txBody>
      </p:sp>
      <p:sp>
        <p:nvSpPr>
          <p:cNvPr id="5" name="auth_sessions&#10;PK id  /  FK user_id&#10;expires_at, revoked_at">
            <a:extLst xmlns:a="http://schemas.openxmlformats.org/drawingml/2006/main">
              <a:ext uri="{FF2B5EF4-FFF2-40B4-BE49-F238E27FC236}">
                <a16:creationId xmlns:a16="http://schemas.microsoft.com/office/drawing/2014/main" id="{12E038AD-0623-4C5B-B22C-765FF5AAE480}"/>
              </a:ext>
            </a:extLst>
          </p:cNvPr>
          <p:cNvSpPr>
            <a:spLocks xmlns:a="http://schemas.openxmlformats.org/drawingml/2006/main" noGrp="1"/>
          </p:cNvSpPr>
          <p:nvPr/>
        </p:nvSpPr>
        <p:spPr>
          <a:xfrm xmlns:a="http://schemas.openxmlformats.org/drawingml/2006/main">
            <a:off x="6238875" y="1571625"/>
            <a:ext cx="533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auth_sessions</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PK id  /  FK user_id</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expires_at, revoked_at</a:t>
            </a:r>
          </a:p>
        </p:txBody>
      </p:sp>
      <p:sp>
        <p:nvSpPr>
          <p:cNvPr id="6" name="tasks&#10;PK id  /  FK user_id&#10;status, priority, due_date">
            <a:extLst xmlns:a="http://schemas.openxmlformats.org/drawingml/2006/main">
              <a:ext uri="{FF2B5EF4-FFF2-40B4-BE49-F238E27FC236}">
                <a16:creationId xmlns:a16="http://schemas.microsoft.com/office/drawing/2014/main" id="{EFD61C3D-EE08-48C3-AB2B-34B37CE90C27}"/>
              </a:ext>
            </a:extLst>
          </p:cNvPr>
          <p:cNvSpPr>
            <a:spLocks xmlns:a="http://schemas.openxmlformats.org/drawingml/2006/main" noGrp="1"/>
          </p:cNvSpPr>
          <p:nvPr/>
        </p:nvSpPr>
        <p:spPr>
          <a:xfrm xmlns:a="http://schemas.openxmlformats.org/drawingml/2006/main">
            <a:off x="6238875" y="3095625"/>
            <a:ext cx="533400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tasks</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PK id  /  FK user_id</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status, priority, due_date</a:t>
            </a:r>
          </a:p>
        </p:txBody>
      </p:sp>
      <p:sp>
        <p:nvSpPr>
          <p:cNvPr id="7" name="api_keys&#10;PK id  /  FK user_id&#10;secret_hash, scope, expires_at">
            <a:extLst xmlns:a="http://schemas.openxmlformats.org/drawingml/2006/main">
              <a:ext uri="{FF2B5EF4-FFF2-40B4-BE49-F238E27FC236}">
                <a16:creationId xmlns:a16="http://schemas.microsoft.com/office/drawing/2014/main" id="{D7E6179D-0959-44B4-AF8C-0706ACD8E849}"/>
              </a:ext>
            </a:extLst>
          </p:cNvPr>
          <p:cNvSpPr>
            <a:spLocks xmlns:a="http://schemas.openxmlformats.org/drawingml/2006/main" noGrp="1"/>
          </p:cNvSpPr>
          <p:nvPr/>
        </p:nvSpPr>
        <p:spPr>
          <a:xfrm xmlns:a="http://schemas.openxmlformats.org/drawingml/2006/main">
            <a:off x="6238875" y="5048250"/>
            <a:ext cx="533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api_keys</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PK id  /  FK user_id</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secret_hash, scope, expires_at</a:t>
            </a:r>
          </a:p>
        </p:txBody>
      </p:sp>
      <p:sp>
        <p:nvSpPr>
          <p:cNvPr id="8" name="reminder_deliveries&#10;FK user_id  /  FK task_id&#10;UNIQUE เจ้าของ+งาน+วัน+ช่องทาง">
            <a:extLst xmlns:a="http://schemas.openxmlformats.org/drawingml/2006/main">
              <a:ext uri="{FF2B5EF4-FFF2-40B4-BE49-F238E27FC236}">
                <a16:creationId xmlns:a16="http://schemas.microsoft.com/office/drawing/2014/main" id="{FA4F41C8-7573-48EE-80E5-A75CAE44C9F1}"/>
              </a:ext>
            </a:extLst>
          </p:cNvPr>
          <p:cNvSpPr>
            <a:spLocks xmlns:a="http://schemas.openxmlformats.org/drawingml/2006/main" noGrp="1"/>
          </p:cNvSpPr>
          <p:nvPr/>
        </p:nvSpPr>
        <p:spPr>
          <a:xfrm xmlns:a="http://schemas.openxmlformats.org/drawingml/2006/main">
            <a:off x="609600" y="5048250"/>
            <a:ext cx="4191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650" b="0">
                <a:solidFill>
                  <a:srgbClr val="12202B"/>
                </a:solidFill>
                <a:latin typeface="Tahoma"/>
                <a:ea typeface="Tahoma"/>
                <a:cs typeface="Tahoma"/>
              </a:defRPr>
            </a:defPPr>
          </a:lstStyle>
          <a:p xmlns:a="http://schemas.openxmlformats.org/drawingml/2006/main">
            <a:pPr algn="ctr">
              <a:defRPr sz="1650" b="0">
                <a:solidFill>
                  <a:srgbClr val="12202B"/>
                </a:solidFill>
                <a:latin typeface="Tahoma"/>
                <a:ea typeface="Tahoma"/>
                <a:cs typeface="Tahoma"/>
              </a:defRPr>
            </a:pPr>
            <a:r>
              <a:rPr sz="1650" b="0">
                <a:solidFill>
                  <a:srgbClr val="12202B"/>
                </a:solidFill>
                <a:latin typeface="Tahoma"/>
                <a:ea typeface="Tahoma"/>
                <a:cs typeface="Tahoma"/>
              </a:rPr>
              <a:t>reminder_deliveries</a:t>
            </a:r>
          </a:p>
          <a:p xmlns:a="http://schemas.openxmlformats.org/drawingml/2006/main">
            <a:pPr algn="ctr">
              <a:defRPr sz="1650" b="0">
                <a:solidFill>
                  <a:srgbClr val="12202B"/>
                </a:solidFill>
                <a:latin typeface="Tahoma"/>
                <a:ea typeface="Tahoma"/>
                <a:cs typeface="Tahoma"/>
              </a:defRPr>
            </a:pPr>
            <a:r>
              <a:rPr sz="1650" b="0">
                <a:solidFill>
                  <a:srgbClr val="12202B"/>
                </a:solidFill>
                <a:latin typeface="Tahoma"/>
                <a:ea typeface="Tahoma"/>
                <a:cs typeface="Tahoma"/>
              </a:rPr>
              <a:t>FK user_id  /  FK task_id</a:t>
            </a:r>
          </a:p>
          <a:p xmlns:a="http://schemas.openxmlformats.org/drawingml/2006/main">
            <a:pPr algn="ctr">
              <a:defRPr sz="1650" b="0">
                <a:solidFill>
                  <a:srgbClr val="12202B"/>
                </a:solidFill>
                <a:latin typeface="Tahoma"/>
                <a:ea typeface="Tahoma"/>
                <a:cs typeface="Tahoma"/>
              </a:defRPr>
            </a:pPr>
            <a:r>
              <a:rPr sz="1650" b="0">
                <a:solidFill>
                  <a:srgbClr val="12202B"/>
                </a:solidFill>
                <a:latin typeface="Tahoma"/>
                <a:ea typeface="Tahoma"/>
                <a:cs typeface="Tahoma"/>
              </a:rPr>
              <a:t>UNIQUE เจ้าของ+งาน+วัน+ช่องทาง</a:t>
            </a:r>
          </a:p>
        </p:txBody>
      </p:sp>
      <p:sp>
        <p:nvSpPr>
          <p:cNvPr id="9" name="">
            <a:extLst xmlns:a="http://schemas.openxmlformats.org/drawingml/2006/main">
              <a:ext uri="{FF2B5EF4-FFF2-40B4-BE49-F238E27FC236}">
                <a16:creationId xmlns:a16="http://schemas.microsoft.com/office/drawing/2014/main" id="{5B4B18D1-0B96-4665-902C-2E3CEA27ECA9}"/>
              </a:ext>
            </a:extLst>
          </p:cNvPr>
          <p:cNvSpPr>
            <a:spLocks xmlns:a="http://schemas.openxmlformats.org/drawingml/2006/main" noGrp="1"/>
          </p:cNvSpPr>
          <p:nvPr/>
        </p:nvSpPr>
        <p:spPr>
          <a:xfrm xmlns:a="http://schemas.openxmlformats.org/drawingml/2006/main">
            <a:off x="1943100" y="1428750"/>
            <a:ext cx="0" cy="1666875"/>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10" name="">
            <a:extLst xmlns:a="http://schemas.openxmlformats.org/drawingml/2006/main">
              <a:ext uri="{FF2B5EF4-FFF2-40B4-BE49-F238E27FC236}">
                <a16:creationId xmlns:a16="http://schemas.microsoft.com/office/drawing/2014/main" id="{20C0B386-ABCF-437E-906F-A8F5AD0CAC94}"/>
              </a:ext>
            </a:extLst>
          </p:cNvPr>
          <p:cNvSpPr>
            <a:spLocks xmlns:a="http://schemas.openxmlformats.org/drawingml/2006/main" noGrp="1"/>
          </p:cNvSpPr>
          <p:nvPr/>
        </p:nvSpPr>
        <p:spPr>
          <a:xfrm xmlns:a="http://schemas.openxmlformats.org/drawingml/2006/main">
            <a:off x="1943100" y="1428750"/>
            <a:ext cx="6962775" cy="0"/>
          </a:xfrm>
          <a:prstGeom xmlns:a="http://schemas.openxmlformats.org/drawingml/2006/main" prst="line">
            <a:avLst/>
          </a:prstGeom>
          <a:noFill xmlns:a="http://schemas.openxmlformats.org/drawingml/2006/main"/>
          <a:ln xmlns:a="http://schemas.openxmlformats.org/drawingml/2006/main" w="19050">
            <a:solidFill>
              <a:srgbClr val="0B8C82"/>
            </a:solidFill>
          </a:ln>
        </p:spPr>
      </p:sp>
      <p:cxnSp>
        <p:nvCxnSpPr>
          <p:cNvPr id="11" name="">
            <a:extLst xmlns:a="http://schemas.openxmlformats.org/drawingml/2006/main">
              <a:ext uri="{FF2B5EF4-FFF2-40B4-BE49-F238E27FC236}">
                <a16:creationId xmlns:a16="http://schemas.microsoft.com/office/drawing/2014/main" id="{6B1B72C5-11F3-423D-88FD-7AA678DA73A3}"/>
              </a:ext>
            </a:extLst>
          </p:cNvPr>
          <p:cNvCxnSpPr/>
          <p:nvPr/>
        </p:nvCxnSpPr>
        <p:spPr>
          <a:xfrm xmlns:a="http://schemas.openxmlformats.org/drawingml/2006/main" flipH="0" flipV="0">
            <a:off x="8905875" y="1428750"/>
            <a:ext cx="0" cy="142875"/>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12" name="">
            <a:extLst xmlns:a="http://schemas.openxmlformats.org/drawingml/2006/main">
              <a:ext uri="{FF2B5EF4-FFF2-40B4-BE49-F238E27FC236}">
                <a16:creationId xmlns:a16="http://schemas.microsoft.com/office/drawing/2014/main" id="{4E5F16AB-8449-48E9-962C-70C86973FBF7}"/>
              </a:ext>
            </a:extLst>
          </p:cNvPr>
          <p:cNvCxnSpPr/>
          <p:nvPr/>
        </p:nvCxnSpPr>
        <p:spPr>
          <a:xfrm xmlns:a="http://schemas.openxmlformats.org/drawingml/2006/main" flipH="0" flipV="0">
            <a:off x="3276600" y="3714750"/>
            <a:ext cx="2962275"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3" name="">
            <a:extLst xmlns:a="http://schemas.openxmlformats.org/drawingml/2006/main">
              <a:ext uri="{FF2B5EF4-FFF2-40B4-BE49-F238E27FC236}">
                <a16:creationId xmlns:a16="http://schemas.microsoft.com/office/drawing/2014/main" id="{381C1F92-FEED-4140-8DB2-3D0FC1DB71D2}"/>
              </a:ext>
            </a:extLst>
          </p:cNvPr>
          <p:cNvSpPr>
            <a:spLocks xmlns:a="http://schemas.openxmlformats.org/drawingml/2006/main" noGrp="1"/>
          </p:cNvSpPr>
          <p:nvPr/>
        </p:nvSpPr>
        <p:spPr>
          <a:xfrm xmlns:a="http://schemas.openxmlformats.org/drawingml/2006/main">
            <a:off x="3276600" y="3714750"/>
            <a:ext cx="2200275" cy="0"/>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14" name="">
            <a:extLst xmlns:a="http://schemas.openxmlformats.org/drawingml/2006/main">
              <a:ext uri="{FF2B5EF4-FFF2-40B4-BE49-F238E27FC236}">
                <a16:creationId xmlns:a16="http://schemas.microsoft.com/office/drawing/2014/main" id="{8943046F-6A17-4FDA-8290-9EF3CA3AAB5C}"/>
              </a:ext>
            </a:extLst>
          </p:cNvPr>
          <p:cNvSpPr>
            <a:spLocks xmlns:a="http://schemas.openxmlformats.org/drawingml/2006/main" noGrp="1"/>
          </p:cNvSpPr>
          <p:nvPr/>
        </p:nvSpPr>
        <p:spPr>
          <a:xfrm xmlns:a="http://schemas.openxmlformats.org/drawingml/2006/main">
            <a:off x="5476875" y="2905125"/>
            <a:ext cx="0" cy="809625"/>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15" name="">
            <a:extLst xmlns:a="http://schemas.openxmlformats.org/drawingml/2006/main">
              <a:ext uri="{FF2B5EF4-FFF2-40B4-BE49-F238E27FC236}">
                <a16:creationId xmlns:a16="http://schemas.microsoft.com/office/drawing/2014/main" id="{80D7144F-0617-4C69-8826-BEF5BCB986AC}"/>
              </a:ext>
            </a:extLst>
          </p:cNvPr>
          <p:cNvSpPr>
            <a:spLocks xmlns:a="http://schemas.openxmlformats.org/drawingml/2006/main" noGrp="1"/>
          </p:cNvSpPr>
          <p:nvPr/>
        </p:nvSpPr>
        <p:spPr>
          <a:xfrm xmlns:a="http://schemas.openxmlformats.org/drawingml/2006/main">
            <a:off x="5476875" y="2905125"/>
            <a:ext cx="6334125" cy="0"/>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16" name="">
            <a:extLst xmlns:a="http://schemas.openxmlformats.org/drawingml/2006/main">
              <a:ext uri="{FF2B5EF4-FFF2-40B4-BE49-F238E27FC236}">
                <a16:creationId xmlns:a16="http://schemas.microsoft.com/office/drawing/2014/main" id="{DDE359D0-6D68-4FE3-BF9E-47BD6834E000}"/>
              </a:ext>
            </a:extLst>
          </p:cNvPr>
          <p:cNvSpPr>
            <a:spLocks xmlns:a="http://schemas.openxmlformats.org/drawingml/2006/main" noGrp="1"/>
          </p:cNvSpPr>
          <p:nvPr/>
        </p:nvSpPr>
        <p:spPr>
          <a:xfrm xmlns:a="http://schemas.openxmlformats.org/drawingml/2006/main">
            <a:off x="11811000" y="2905125"/>
            <a:ext cx="0" cy="2714625"/>
          </a:xfrm>
          <a:prstGeom xmlns:a="http://schemas.openxmlformats.org/drawingml/2006/main" prst="line">
            <a:avLst/>
          </a:prstGeom>
          <a:noFill xmlns:a="http://schemas.openxmlformats.org/drawingml/2006/main"/>
          <a:ln xmlns:a="http://schemas.openxmlformats.org/drawingml/2006/main" w="19050">
            <a:solidFill>
              <a:srgbClr val="0B8C82"/>
            </a:solidFill>
          </a:ln>
        </p:spPr>
      </p:sp>
      <p:cxnSp>
        <p:nvCxnSpPr>
          <p:cNvPr id="17" name="">
            <a:extLst xmlns:a="http://schemas.openxmlformats.org/drawingml/2006/main">
              <a:ext uri="{FF2B5EF4-FFF2-40B4-BE49-F238E27FC236}">
                <a16:creationId xmlns:a16="http://schemas.microsoft.com/office/drawing/2014/main" id="{F3ADCCF1-F4FD-4866-81D4-C70E1AB6EF43}"/>
              </a:ext>
            </a:extLst>
          </p:cNvPr>
          <p:cNvCxnSpPr/>
          <p:nvPr/>
        </p:nvCxnSpPr>
        <p:spPr>
          <a:xfrm xmlns:a="http://schemas.openxmlformats.org/drawingml/2006/main" flipH="1" flipV="0">
            <a:off x="11572875" y="5619750"/>
            <a:ext cx="238125"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8" name="">
            <a:extLst xmlns:a="http://schemas.openxmlformats.org/drawingml/2006/main">
              <a:ext uri="{FF2B5EF4-FFF2-40B4-BE49-F238E27FC236}">
                <a16:creationId xmlns:a16="http://schemas.microsoft.com/office/drawing/2014/main" id="{9F3F29E8-0138-463F-9C82-297E490EDC29}"/>
              </a:ext>
            </a:extLst>
          </p:cNvPr>
          <p:cNvSpPr>
            <a:spLocks xmlns:a="http://schemas.openxmlformats.org/drawingml/2006/main" noGrp="1"/>
          </p:cNvSpPr>
          <p:nvPr/>
        </p:nvSpPr>
        <p:spPr>
          <a:xfrm xmlns:a="http://schemas.openxmlformats.org/drawingml/2006/main">
            <a:off x="1943100" y="4333875"/>
            <a:ext cx="0" cy="333375"/>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19" name="">
            <a:extLst xmlns:a="http://schemas.openxmlformats.org/drawingml/2006/main">
              <a:ext uri="{FF2B5EF4-FFF2-40B4-BE49-F238E27FC236}">
                <a16:creationId xmlns:a16="http://schemas.microsoft.com/office/drawing/2014/main" id="{BF8896EB-88D6-4B84-8A92-DB8B8C8ACBD8}"/>
              </a:ext>
            </a:extLst>
          </p:cNvPr>
          <p:cNvSpPr>
            <a:spLocks xmlns:a="http://schemas.openxmlformats.org/drawingml/2006/main" noGrp="1"/>
          </p:cNvSpPr>
          <p:nvPr/>
        </p:nvSpPr>
        <p:spPr>
          <a:xfrm xmlns:a="http://schemas.openxmlformats.org/drawingml/2006/main">
            <a:off x="1943100" y="4667250"/>
            <a:ext cx="762000" cy="0"/>
          </a:xfrm>
          <a:prstGeom xmlns:a="http://schemas.openxmlformats.org/drawingml/2006/main" prst="line">
            <a:avLst/>
          </a:prstGeom>
          <a:noFill xmlns:a="http://schemas.openxmlformats.org/drawingml/2006/main"/>
          <a:ln xmlns:a="http://schemas.openxmlformats.org/drawingml/2006/main" w="19050">
            <a:solidFill>
              <a:srgbClr val="0B8C82"/>
            </a:solidFill>
          </a:ln>
        </p:spPr>
      </p:sp>
      <p:cxnSp>
        <p:nvCxnSpPr>
          <p:cNvPr id="20" name="">
            <a:extLst xmlns:a="http://schemas.openxmlformats.org/drawingml/2006/main">
              <a:ext uri="{FF2B5EF4-FFF2-40B4-BE49-F238E27FC236}">
                <a16:creationId xmlns:a16="http://schemas.microsoft.com/office/drawing/2014/main" id="{09FBBE9E-B2FD-479A-BE87-44DA05A83D1A}"/>
              </a:ext>
            </a:extLst>
          </p:cNvPr>
          <p:cNvCxnSpPr/>
          <p:nvPr/>
        </p:nvCxnSpPr>
        <p:spPr>
          <a:xfrm xmlns:a="http://schemas.openxmlformats.org/drawingml/2006/main" flipH="0" flipV="0">
            <a:off x="2705100" y="4667250"/>
            <a:ext cx="0" cy="38100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21" name="">
            <a:extLst xmlns:a="http://schemas.openxmlformats.org/drawingml/2006/main">
              <a:ext uri="{FF2B5EF4-FFF2-40B4-BE49-F238E27FC236}">
                <a16:creationId xmlns:a16="http://schemas.microsoft.com/office/drawing/2014/main" id="{EDF93B44-0B54-413E-BE6F-F4408D0FCB0A}"/>
              </a:ext>
            </a:extLst>
          </p:cNvPr>
          <p:cNvSpPr>
            <a:spLocks xmlns:a="http://schemas.openxmlformats.org/drawingml/2006/main" noGrp="1"/>
          </p:cNvSpPr>
          <p:nvPr/>
        </p:nvSpPr>
        <p:spPr>
          <a:xfrm xmlns:a="http://schemas.openxmlformats.org/drawingml/2006/main">
            <a:off x="8905875" y="4333875"/>
            <a:ext cx="0" cy="381000"/>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22" name="">
            <a:extLst xmlns:a="http://schemas.openxmlformats.org/drawingml/2006/main">
              <a:ext uri="{FF2B5EF4-FFF2-40B4-BE49-F238E27FC236}">
                <a16:creationId xmlns:a16="http://schemas.microsoft.com/office/drawing/2014/main" id="{EFEB5617-9454-459C-A6B1-9685B330D7BF}"/>
              </a:ext>
            </a:extLst>
          </p:cNvPr>
          <p:cNvSpPr>
            <a:spLocks xmlns:a="http://schemas.openxmlformats.org/drawingml/2006/main" noGrp="1"/>
          </p:cNvSpPr>
          <p:nvPr/>
        </p:nvSpPr>
        <p:spPr>
          <a:xfrm xmlns:a="http://schemas.openxmlformats.org/drawingml/2006/main">
            <a:off x="5657850" y="4714875"/>
            <a:ext cx="3248025" cy="0"/>
          </a:xfrm>
          <a:prstGeom xmlns:a="http://schemas.openxmlformats.org/drawingml/2006/main" prst="line">
            <a:avLst/>
          </a:prstGeom>
          <a:noFill xmlns:a="http://schemas.openxmlformats.org/drawingml/2006/main"/>
          <a:ln xmlns:a="http://schemas.openxmlformats.org/drawingml/2006/main" w="19050">
            <a:solidFill>
              <a:srgbClr val="0B8C82"/>
            </a:solidFill>
          </a:ln>
        </p:spPr>
      </p:sp>
      <p:sp>
        <p:nvSpPr>
          <p:cNvPr id="23" name="">
            <a:extLst xmlns:a="http://schemas.openxmlformats.org/drawingml/2006/main">
              <a:ext uri="{FF2B5EF4-FFF2-40B4-BE49-F238E27FC236}">
                <a16:creationId xmlns:a16="http://schemas.microsoft.com/office/drawing/2014/main" id="{AE59E97F-FEEA-4CB8-BF47-A898EAB2503C}"/>
              </a:ext>
            </a:extLst>
          </p:cNvPr>
          <p:cNvSpPr>
            <a:spLocks xmlns:a="http://schemas.openxmlformats.org/drawingml/2006/main" noGrp="1"/>
          </p:cNvSpPr>
          <p:nvPr/>
        </p:nvSpPr>
        <p:spPr>
          <a:xfrm xmlns:a="http://schemas.openxmlformats.org/drawingml/2006/main">
            <a:off x="5657850" y="4714875"/>
            <a:ext cx="0" cy="904875"/>
          </a:xfrm>
          <a:prstGeom xmlns:a="http://schemas.openxmlformats.org/drawingml/2006/main" prst="line">
            <a:avLst/>
          </a:prstGeom>
          <a:noFill xmlns:a="http://schemas.openxmlformats.org/drawingml/2006/main"/>
          <a:ln xmlns:a="http://schemas.openxmlformats.org/drawingml/2006/main" w="19050">
            <a:solidFill>
              <a:srgbClr val="0B8C82"/>
            </a:solidFill>
          </a:ln>
        </p:spPr>
      </p:sp>
      <p:cxnSp>
        <p:nvCxnSpPr>
          <p:cNvPr id="24" name="">
            <a:extLst xmlns:a="http://schemas.openxmlformats.org/drawingml/2006/main">
              <a:ext uri="{FF2B5EF4-FFF2-40B4-BE49-F238E27FC236}">
                <a16:creationId xmlns:a16="http://schemas.microsoft.com/office/drawing/2014/main" id="{F155E0D4-FEBB-42D6-B74B-89CFEB3A9AAE}"/>
              </a:ext>
            </a:extLst>
          </p:cNvPr>
          <p:cNvCxnSpPr/>
          <p:nvPr/>
        </p:nvCxnSpPr>
        <p:spPr>
          <a:xfrm xmlns:a="http://schemas.openxmlformats.org/drawingml/2006/main" flipH="1" flipV="0">
            <a:off x="4800600" y="5619750"/>
            <a:ext cx="8572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25" name="text-24">
            <a:extLst xmlns:a="http://schemas.openxmlformats.org/drawingml/2006/main">
              <a:ext uri="{FF2B5EF4-FFF2-40B4-BE49-F238E27FC236}">
                <a16:creationId xmlns:a16="http://schemas.microsoft.com/office/drawing/2014/main" id="{735E3190-5D6F-4C02-853A-04A34A34ED3C}"/>
              </a:ext>
            </a:extLst>
          </p:cNvPr>
          <p:cNvSpPr>
            <a:spLocks xmlns:a="http://schemas.openxmlformats.org/drawingml/2006/main" noGrp="1"/>
          </p:cNvSpPr>
          <p:nvPr/>
        </p:nvSpPr>
        <p:spPr>
          <a:xfrm xmlns:a="http://schemas.openxmlformats.org/drawingml/2006/main">
            <a:off x="2571750" y="1762125"/>
            <a:ext cx="319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73"/>
                </a:solidFill>
                <a:latin typeface="Tahoma"/>
                <a:ea typeface="Tahoma"/>
                <a:cs typeface="Tahoma"/>
              </a:defRPr>
            </a:defPPr>
          </a:lstStyle>
          <a:p xmlns:a="http://schemas.openxmlformats.org/drawingml/2006/main">
            <a:pPr algn="l">
              <a:defRPr sz="1725" b="0">
                <a:solidFill>
                  <a:srgbClr val="526473"/>
                </a:solidFill>
                <a:latin typeface="Tahoma"/>
                <a:ea typeface="Tahoma"/>
                <a:cs typeface="Tahoma"/>
              </a:defRPr>
            </a:pPr>
            <a:r>
              <a:rPr sz="1725" b="0">
                <a:solidFill>
                  <a:srgbClr val="526473"/>
                </a:solidFill>
                <a:latin typeface="Tahoma"/>
                <a:ea typeface="Tahoma"/>
                <a:cs typeface="Tahoma"/>
              </a:rPr>
              <a:t>หนึ่งผู้ใช้มีได้หลายรายการ</a:t>
            </a:r>
          </a:p>
          <a:p xmlns:a="http://schemas.openxmlformats.org/drawingml/2006/main">
            <a:pPr algn="l">
              <a:defRPr sz="1725" b="0">
                <a:solidFill>
                  <a:srgbClr val="526473"/>
                </a:solidFill>
                <a:latin typeface="Tahoma"/>
                <a:ea typeface="Tahoma"/>
                <a:cs typeface="Tahoma"/>
              </a:defRPr>
            </a:pPr>
            <a:r>
              <a:rPr sz="1725" b="0">
                <a:solidFill>
                  <a:srgbClr val="526473"/>
                </a:solidFill>
                <a:latin typeface="Tahoma"/>
                <a:ea typeface="Tahoma"/>
                <a:cs typeface="Tahoma"/>
              </a:rPr>
              <a:t>แต่ละเส้นคือความสัมพันธ์ 1:N</a:t>
            </a:r>
          </a:p>
        </p:txBody>
      </p:sp>
    </p:spTree>
    <p:extLst>
      <p:ext uri="{BB962C8B-B14F-4D97-AF65-F5344CB8AC3E}">
        <p14:creationId xmlns:p14="http://schemas.microsoft.com/office/powerpoint/2010/main" val="1999199806"/>
      </p:ext>
    </p:extLst>
  </p:cSld>
</p:sld>
</file>

<file path=ppt/slides/slide9.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46A447F-1D49-4777-A159-88B56D6DD727}"/>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SQL ที่ตรวจเจ้าของงานจริง</a:t>
            </a:r>
          </a:p>
        </p:txBody>
      </p:sp>
      <p:sp>
        <p:nvSpPr>
          <p:cNvPr id="2" name="">
            <a:extLst xmlns:a="http://schemas.openxmlformats.org/drawingml/2006/main">
              <a:ext uri="{FF2B5EF4-FFF2-40B4-BE49-F238E27FC236}">
                <a16:creationId xmlns:a16="http://schemas.microsoft.com/office/drawing/2014/main" id="{2766D906-AFEB-4742-8689-CD2F3A72714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951F8A2C-BBC4-4F78-9547-5D2F58006164}"/>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09</a:t>
            </a:r>
          </a:p>
        </p:txBody>
      </p:sp>
      <p:sp>
        <p:nvSpPr>
          <p:cNvPr id="4" name="text-3">
            <a:extLst xmlns:a="http://schemas.openxmlformats.org/drawingml/2006/main">
              <a:ext uri="{FF2B5EF4-FFF2-40B4-BE49-F238E27FC236}">
                <a16:creationId xmlns:a16="http://schemas.microsoft.com/office/drawing/2014/main" id="{10537D9B-7C9F-4747-BC7D-1B61A58221EC}"/>
              </a:ext>
            </a:extLst>
          </p:cNvPr>
          <p:cNvSpPr>
            <a:spLocks xmlns:a="http://schemas.openxmlformats.org/drawingml/2006/main" noGrp="1"/>
          </p:cNvSpPr>
          <p:nvPr/>
        </p:nvSpPr>
        <p:spPr>
          <a:xfrm xmlns:a="http://schemas.openxmlformats.org/drawingml/2006/main">
            <a:off x="609600" y="1838325"/>
            <a:ext cx="10810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2202B"/>
                </a:solidFill>
                <a:latin typeface="Tahoma"/>
                <a:ea typeface="Tahoma"/>
                <a:cs typeface="Tahoma"/>
              </a:defRPr>
            </a:defPPr>
          </a:lstStyle>
          <a:p xmlns:a="http://schemas.openxmlformats.org/drawingml/2006/main">
            <a:pPr algn="l">
              <a:defRPr sz="2250" b="0">
                <a:solidFill>
                  <a:srgbClr val="12202B"/>
                </a:solidFill>
                <a:latin typeface="Tahoma"/>
                <a:ea typeface="Tahoma"/>
                <a:cs typeface="Tahoma"/>
              </a:defRPr>
            </a:pPr>
            <a:r>
              <a:rPr sz="2250" b="0">
                <a:solidFill>
                  <a:srgbClr val="12202B"/>
                </a:solidFill>
                <a:latin typeface="Tahoma"/>
                <a:ea typeface="Tahoma"/>
                <a:cs typeface="Tahoma"/>
              </a:rPr>
              <a:t>SELECT id, title, status, priority, due_date</a:t>
            </a:r>
          </a:p>
          <a:p xmlns:a="http://schemas.openxmlformats.org/drawingml/2006/main">
            <a:pPr algn="l">
              <a:defRPr sz="2250" b="0">
                <a:solidFill>
                  <a:srgbClr val="12202B"/>
                </a:solidFill>
                <a:latin typeface="Tahoma"/>
                <a:ea typeface="Tahoma"/>
                <a:cs typeface="Tahoma"/>
              </a:defRPr>
            </a:pPr>
            <a:r>
              <a:rPr sz="2250" b="0">
                <a:solidFill>
                  <a:srgbClr val="12202B"/>
                </a:solidFill>
                <a:latin typeface="Tahoma"/>
                <a:ea typeface="Tahoma"/>
                <a:cs typeface="Tahoma"/>
              </a:rPr>
              <a:t>FROM tasks</a:t>
            </a:r>
          </a:p>
          <a:p xmlns:a="http://schemas.openxmlformats.org/drawingml/2006/main">
            <a:pPr algn="l">
              <a:defRPr sz="2250" b="0">
                <a:solidFill>
                  <a:srgbClr val="12202B"/>
                </a:solidFill>
                <a:latin typeface="Tahoma"/>
                <a:ea typeface="Tahoma"/>
                <a:cs typeface="Tahoma"/>
              </a:defRPr>
            </a:pPr>
            <a:r>
              <a:rPr sz="2250" b="0">
                <a:solidFill>
                  <a:srgbClr val="12202B"/>
                </a:solidFill>
                <a:latin typeface="Tahoma"/>
                <a:ea typeface="Tahoma"/>
                <a:cs typeface="Tahoma"/>
              </a:rPr>
              <a:t>WHERE id = ? AND user_id = ?</a:t>
            </a:r>
          </a:p>
        </p:txBody>
      </p:sp>
      <p:sp>
        <p:nvSpPr>
          <p:cNvPr id="5" name="text-4">
            <a:extLst xmlns:a="http://schemas.openxmlformats.org/drawingml/2006/main">
              <a:ext uri="{FF2B5EF4-FFF2-40B4-BE49-F238E27FC236}">
                <a16:creationId xmlns:a16="http://schemas.microsoft.com/office/drawing/2014/main" id="{36409BCC-4C42-4A6D-B136-F135D0C40530}"/>
              </a:ext>
            </a:extLst>
          </p:cNvPr>
          <p:cNvSpPr>
            <a:spLocks xmlns:a="http://schemas.openxmlformats.org/drawingml/2006/main" noGrp="1"/>
          </p:cNvSpPr>
          <p:nvPr/>
        </p:nvSpPr>
        <p:spPr>
          <a:xfrm xmlns:a="http://schemas.openxmlformats.org/drawingml/2006/main">
            <a:off x="609600" y="365760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8C82"/>
                </a:solidFill>
                <a:latin typeface="Tahoma"/>
                <a:ea typeface="Tahoma"/>
                <a:cs typeface="Tahoma"/>
              </a:defRPr>
            </a:defPPr>
          </a:lstStyle>
          <a:p xmlns:a="http://schemas.openxmlformats.org/drawingml/2006/main">
            <a:pPr algn="l">
              <a:defRPr sz="2025" b="1">
                <a:solidFill>
                  <a:srgbClr val="0B8C82"/>
                </a:solidFill>
                <a:latin typeface="Tahoma"/>
                <a:ea typeface="Tahoma"/>
                <a:cs typeface="Tahoma"/>
              </a:defRPr>
            </a:pPr>
            <a:r>
              <a:rPr sz="2025" b="1">
                <a:solidFill>
                  <a:srgbClr val="0B8C82"/>
                </a:solidFill>
                <a:latin typeface="Tahoma"/>
                <a:ea typeface="Tahoma"/>
                <a:cs typeface="Tahoma"/>
              </a:rPr>
              <a:t>db.prepare(sql).get(taskId, sessionUser.id)</a:t>
            </a:r>
          </a:p>
        </p:txBody>
      </p:sp>
      <p:sp>
        <p:nvSpPr>
          <p:cNvPr id="6" name="">
            <a:extLst xmlns:a="http://schemas.openxmlformats.org/drawingml/2006/main">
              <a:ext uri="{FF2B5EF4-FFF2-40B4-BE49-F238E27FC236}">
                <a16:creationId xmlns:a16="http://schemas.microsoft.com/office/drawing/2014/main" id="{C046BA3D-BC52-4183-B611-17EC45021158}"/>
              </a:ext>
            </a:extLst>
          </p:cNvPr>
          <p:cNvSpPr>
            <a:spLocks xmlns:a="http://schemas.openxmlformats.org/drawingml/2006/main" noGrp="1"/>
          </p:cNvSpPr>
          <p:nvPr/>
        </p:nvSpPr>
        <p:spPr>
          <a:xfrm xmlns:a="http://schemas.openxmlformats.org/drawingml/2006/main">
            <a:off x="609600" y="45910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7" name="text-6">
            <a:extLst xmlns:a="http://schemas.openxmlformats.org/drawingml/2006/main">
              <a:ext uri="{FF2B5EF4-FFF2-40B4-BE49-F238E27FC236}">
                <a16:creationId xmlns:a16="http://schemas.microsoft.com/office/drawing/2014/main" id="{81596A3C-9582-43C8-85A3-53F19A37DA05}"/>
              </a:ext>
            </a:extLst>
          </p:cNvPr>
          <p:cNvSpPr>
            <a:spLocks xmlns:a="http://schemas.openxmlformats.org/drawingml/2006/main" noGrp="1"/>
          </p:cNvSpPr>
          <p:nvPr/>
        </p:nvSpPr>
        <p:spPr>
          <a:xfrm xmlns:a="http://schemas.openxmlformats.org/drawingml/2006/main">
            <a:off x="609600" y="4886325"/>
            <a:ext cx="10906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id เลือกงาน  /  user_id ตรวจเจ้าของ</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ค่าจากผู้ใช้เป็น parameter  /  identity มาจาก session</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ไม่พบหรือเป็นงานของผู้อื่น คืน 404</a:t>
            </a:r>
          </a:p>
        </p:txBody>
      </p:sp>
    </p:spTree>
    <p:extLst>
      <p:ext uri="{BB962C8B-B14F-4D97-AF65-F5344CB8AC3E}">
        <p14:creationId xmlns:p14="http://schemas.microsoft.com/office/powerpoint/2010/main" val="132669761"/>
      </p:ext>
    </p:extLst>
  </p:cSld>
</p:sld>
</file>

<file path=ppt/slides/slide10.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A5934E5-EA9D-4A14-B2C6-D565641ADF45}"/>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ลำดับการเข้าสู่ระบบ</a:t>
            </a:r>
          </a:p>
        </p:txBody>
      </p:sp>
      <p:sp>
        <p:nvSpPr>
          <p:cNvPr id="2" name="">
            <a:extLst xmlns:a="http://schemas.openxmlformats.org/drawingml/2006/main">
              <a:ext uri="{FF2B5EF4-FFF2-40B4-BE49-F238E27FC236}">
                <a16:creationId xmlns:a16="http://schemas.microsoft.com/office/drawing/2014/main" id="{4F333B63-D5CA-4B06-ACB2-22EF79821003}"/>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039BECE4-8ED4-4D4C-8AE2-4AD4CB1042B9}"/>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10</a:t>
            </a:r>
          </a:p>
        </p:txBody>
      </p:sp>
      <p:sp>
        <p:nvSpPr>
          <p:cNvPr id="4" name="text-3">
            <a:extLst xmlns:a="http://schemas.openxmlformats.org/drawingml/2006/main">
              <a:ext uri="{FF2B5EF4-FFF2-40B4-BE49-F238E27FC236}">
                <a16:creationId xmlns:a16="http://schemas.microsoft.com/office/drawing/2014/main" id="{C6E2C7CD-FF10-40D1-B4C5-F74EE45F288F}"/>
              </a:ext>
            </a:extLst>
          </p:cNvPr>
          <p:cNvSpPr>
            <a:spLocks xmlns:a="http://schemas.openxmlformats.org/drawingml/2006/main" noGrp="1"/>
          </p:cNvSpPr>
          <p:nvPr/>
        </p:nvSpPr>
        <p:spPr>
          <a:xfrm xmlns:a="http://schemas.openxmlformats.org/drawingml/2006/main">
            <a:off x="609600" y="15716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8C82"/>
                </a:solidFill>
                <a:latin typeface="Tahoma"/>
                <a:ea typeface="Tahoma"/>
                <a:cs typeface="Tahoma"/>
              </a:defRPr>
            </a:defPPr>
          </a:lstStyle>
          <a:p xmlns:a="http://schemas.openxmlformats.org/drawingml/2006/main">
            <a:pPr algn="ctr">
              <a:defRPr sz="2250" b="1">
                <a:solidFill>
                  <a:srgbClr val="0B8C82"/>
                </a:solidFill>
                <a:latin typeface="Tahoma"/>
                <a:ea typeface="Tahoma"/>
                <a:cs typeface="Tahoma"/>
              </a:defRPr>
            </a:pPr>
            <a:r>
              <a:rPr sz="2250" b="1">
                <a:solidFill>
                  <a:srgbClr val="0B8C82"/>
                </a:solidFill>
                <a:latin typeface="Tahoma"/>
                <a:ea typeface="Tahoma"/>
                <a:cs typeface="Tahoma"/>
              </a:rPr>
              <a:t>Browser</a:t>
            </a:r>
          </a:p>
        </p:txBody>
      </p:sp>
      <p:sp>
        <p:nvSpPr>
          <p:cNvPr id="5" name="">
            <a:extLst xmlns:a="http://schemas.openxmlformats.org/drawingml/2006/main">
              <a:ext uri="{FF2B5EF4-FFF2-40B4-BE49-F238E27FC236}">
                <a16:creationId xmlns:a16="http://schemas.microsoft.com/office/drawing/2014/main" id="{57334241-738F-4587-B2C9-DAED159F8502}"/>
              </a:ext>
            </a:extLst>
          </p:cNvPr>
          <p:cNvSpPr>
            <a:spLocks xmlns:a="http://schemas.openxmlformats.org/drawingml/2006/main" noGrp="1"/>
          </p:cNvSpPr>
          <p:nvPr/>
        </p:nvSpPr>
        <p:spPr>
          <a:xfrm xmlns:a="http://schemas.openxmlformats.org/drawingml/2006/main">
            <a:off x="2009775" y="2047875"/>
            <a:ext cx="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6" name="">
            <a:extLst xmlns:a="http://schemas.openxmlformats.org/drawingml/2006/main">
              <a:ext uri="{FF2B5EF4-FFF2-40B4-BE49-F238E27FC236}">
                <a16:creationId xmlns:a16="http://schemas.microsoft.com/office/drawing/2014/main" id="{57F8AD08-1F58-4942-B109-222652DDAF30}"/>
              </a:ext>
            </a:extLst>
          </p:cNvPr>
          <p:cNvSpPr>
            <a:spLocks xmlns:a="http://schemas.openxmlformats.org/drawingml/2006/main" noGrp="1"/>
          </p:cNvSpPr>
          <p:nvPr/>
        </p:nvSpPr>
        <p:spPr>
          <a:xfrm xmlns:a="http://schemas.openxmlformats.org/drawingml/2006/main">
            <a:off x="2009775" y="2133600"/>
            <a:ext cx="0" cy="3524250"/>
          </a:xfrm>
          <a:prstGeom xmlns:a="http://schemas.openxmlformats.org/drawingml/2006/main" prst="line">
            <a:avLst/>
          </a:prstGeom>
          <a:noFill xmlns:a="http://schemas.openxmlformats.org/drawingml/2006/main"/>
          <a:ln xmlns:a="http://schemas.openxmlformats.org/drawingml/2006/main" w="19050">
            <a:solidFill>
              <a:srgbClr val="CDD8D9"/>
            </a:solidFill>
          </a:ln>
        </p:spPr>
      </p:sp>
      <p:sp>
        <p:nvSpPr>
          <p:cNvPr id="7" name="text-6">
            <a:extLst xmlns:a="http://schemas.openxmlformats.org/drawingml/2006/main">
              <a:ext uri="{FF2B5EF4-FFF2-40B4-BE49-F238E27FC236}">
                <a16:creationId xmlns:a16="http://schemas.microsoft.com/office/drawing/2014/main" id="{EC9B516B-18FC-4B84-AFD0-51443DF54F79}"/>
              </a:ext>
            </a:extLst>
          </p:cNvPr>
          <p:cNvSpPr>
            <a:spLocks xmlns:a="http://schemas.openxmlformats.org/drawingml/2006/main" noGrp="1"/>
          </p:cNvSpPr>
          <p:nvPr/>
        </p:nvSpPr>
        <p:spPr>
          <a:xfrm xmlns:a="http://schemas.openxmlformats.org/drawingml/2006/main">
            <a:off x="4667250" y="15716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8C82"/>
                </a:solidFill>
                <a:latin typeface="Tahoma"/>
                <a:ea typeface="Tahoma"/>
                <a:cs typeface="Tahoma"/>
              </a:defRPr>
            </a:defPPr>
          </a:lstStyle>
          <a:p xmlns:a="http://schemas.openxmlformats.org/drawingml/2006/main">
            <a:pPr algn="ctr">
              <a:defRPr sz="2250" b="1">
                <a:solidFill>
                  <a:srgbClr val="0B8C82"/>
                </a:solidFill>
                <a:latin typeface="Tahoma"/>
                <a:ea typeface="Tahoma"/>
                <a:cs typeface="Tahoma"/>
              </a:defRPr>
            </a:pPr>
            <a:r>
              <a:rPr sz="2250" b="1">
                <a:solidFill>
                  <a:srgbClr val="0B8C82"/>
                </a:solidFill>
                <a:latin typeface="Tahoma"/>
                <a:ea typeface="Tahoma"/>
                <a:cs typeface="Tahoma"/>
              </a:rPr>
              <a:t>Hono API</a:t>
            </a:r>
          </a:p>
        </p:txBody>
      </p:sp>
      <p:sp>
        <p:nvSpPr>
          <p:cNvPr id="8" name="">
            <a:extLst xmlns:a="http://schemas.openxmlformats.org/drawingml/2006/main">
              <a:ext uri="{FF2B5EF4-FFF2-40B4-BE49-F238E27FC236}">
                <a16:creationId xmlns:a16="http://schemas.microsoft.com/office/drawing/2014/main" id="{473F4D0F-A9CB-49FB-A06D-F5E9EACC5A78}"/>
              </a:ext>
            </a:extLst>
          </p:cNvPr>
          <p:cNvSpPr>
            <a:spLocks xmlns:a="http://schemas.openxmlformats.org/drawingml/2006/main" noGrp="1"/>
          </p:cNvSpPr>
          <p:nvPr/>
        </p:nvSpPr>
        <p:spPr>
          <a:xfrm xmlns:a="http://schemas.openxmlformats.org/drawingml/2006/main">
            <a:off x="6067425" y="2047875"/>
            <a:ext cx="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9" name="">
            <a:extLst xmlns:a="http://schemas.openxmlformats.org/drawingml/2006/main">
              <a:ext uri="{FF2B5EF4-FFF2-40B4-BE49-F238E27FC236}">
                <a16:creationId xmlns:a16="http://schemas.microsoft.com/office/drawing/2014/main" id="{5944EA86-BA6D-45EE-ACA8-801209E5AE43}"/>
              </a:ext>
            </a:extLst>
          </p:cNvPr>
          <p:cNvSpPr>
            <a:spLocks xmlns:a="http://schemas.openxmlformats.org/drawingml/2006/main" noGrp="1"/>
          </p:cNvSpPr>
          <p:nvPr/>
        </p:nvSpPr>
        <p:spPr>
          <a:xfrm xmlns:a="http://schemas.openxmlformats.org/drawingml/2006/main">
            <a:off x="6067425" y="2133600"/>
            <a:ext cx="0" cy="3524250"/>
          </a:xfrm>
          <a:prstGeom xmlns:a="http://schemas.openxmlformats.org/drawingml/2006/main" prst="line">
            <a:avLst/>
          </a:prstGeom>
          <a:noFill xmlns:a="http://schemas.openxmlformats.org/drawingml/2006/main"/>
          <a:ln xmlns:a="http://schemas.openxmlformats.org/drawingml/2006/main" w="19050">
            <a:solidFill>
              <a:srgbClr val="CDD8D9"/>
            </a:solidFill>
          </a:ln>
        </p:spPr>
      </p:sp>
      <p:sp>
        <p:nvSpPr>
          <p:cNvPr id="10" name="text-9">
            <a:extLst xmlns:a="http://schemas.openxmlformats.org/drawingml/2006/main">
              <a:ext uri="{FF2B5EF4-FFF2-40B4-BE49-F238E27FC236}">
                <a16:creationId xmlns:a16="http://schemas.microsoft.com/office/drawing/2014/main" id="{68151E62-E9BB-4FA3-B22D-920BDD38A05F}"/>
              </a:ext>
            </a:extLst>
          </p:cNvPr>
          <p:cNvSpPr>
            <a:spLocks xmlns:a="http://schemas.openxmlformats.org/drawingml/2006/main" noGrp="1"/>
          </p:cNvSpPr>
          <p:nvPr/>
        </p:nvSpPr>
        <p:spPr>
          <a:xfrm xmlns:a="http://schemas.openxmlformats.org/drawingml/2006/main">
            <a:off x="8724900" y="15716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8C82"/>
                </a:solidFill>
                <a:latin typeface="Tahoma"/>
                <a:ea typeface="Tahoma"/>
                <a:cs typeface="Tahoma"/>
              </a:defRPr>
            </a:defPPr>
          </a:lstStyle>
          <a:p xmlns:a="http://schemas.openxmlformats.org/drawingml/2006/main">
            <a:pPr algn="ctr">
              <a:defRPr sz="2250" b="1">
                <a:solidFill>
                  <a:srgbClr val="0B8C82"/>
                </a:solidFill>
                <a:latin typeface="Tahoma"/>
                <a:ea typeface="Tahoma"/>
                <a:cs typeface="Tahoma"/>
              </a:defRPr>
            </a:pPr>
            <a:r>
              <a:rPr sz="2250" b="1">
                <a:solidFill>
                  <a:srgbClr val="0B8C82"/>
                </a:solidFill>
                <a:latin typeface="Tahoma"/>
                <a:ea typeface="Tahoma"/>
                <a:cs typeface="Tahoma"/>
              </a:rPr>
              <a:t>SQLite</a:t>
            </a:r>
          </a:p>
        </p:txBody>
      </p:sp>
      <p:sp>
        <p:nvSpPr>
          <p:cNvPr id="11" name="">
            <a:extLst xmlns:a="http://schemas.openxmlformats.org/drawingml/2006/main">
              <a:ext uri="{FF2B5EF4-FFF2-40B4-BE49-F238E27FC236}">
                <a16:creationId xmlns:a16="http://schemas.microsoft.com/office/drawing/2014/main" id="{106E3601-25DB-48C3-BF41-7112A3FAC1AE}"/>
              </a:ext>
            </a:extLst>
          </p:cNvPr>
          <p:cNvSpPr>
            <a:spLocks xmlns:a="http://schemas.openxmlformats.org/drawingml/2006/main" noGrp="1"/>
          </p:cNvSpPr>
          <p:nvPr/>
        </p:nvSpPr>
        <p:spPr>
          <a:xfrm xmlns:a="http://schemas.openxmlformats.org/drawingml/2006/main">
            <a:off x="10125075" y="2047875"/>
            <a:ext cx="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12" name="">
            <a:extLst xmlns:a="http://schemas.openxmlformats.org/drawingml/2006/main">
              <a:ext uri="{FF2B5EF4-FFF2-40B4-BE49-F238E27FC236}">
                <a16:creationId xmlns:a16="http://schemas.microsoft.com/office/drawing/2014/main" id="{D796BD00-4A92-446C-8B50-E9BD90EC3333}"/>
              </a:ext>
            </a:extLst>
          </p:cNvPr>
          <p:cNvSpPr>
            <a:spLocks xmlns:a="http://schemas.openxmlformats.org/drawingml/2006/main" noGrp="1"/>
          </p:cNvSpPr>
          <p:nvPr/>
        </p:nvSpPr>
        <p:spPr>
          <a:xfrm xmlns:a="http://schemas.openxmlformats.org/drawingml/2006/main">
            <a:off x="10125075" y="2133600"/>
            <a:ext cx="0" cy="3524250"/>
          </a:xfrm>
          <a:prstGeom xmlns:a="http://schemas.openxmlformats.org/drawingml/2006/main" prst="line">
            <a:avLst/>
          </a:prstGeom>
          <a:noFill xmlns:a="http://schemas.openxmlformats.org/drawingml/2006/main"/>
          <a:ln xmlns:a="http://schemas.openxmlformats.org/drawingml/2006/main" w="19050">
            <a:solidFill>
              <a:srgbClr val="CDD8D9"/>
            </a:solidFill>
          </a:ln>
        </p:spPr>
      </p:sp>
      <p:cxnSp>
        <p:nvCxnSpPr>
          <p:cNvPr id="13" name="">
            <a:extLst xmlns:a="http://schemas.openxmlformats.org/drawingml/2006/main">
              <a:ext uri="{FF2B5EF4-FFF2-40B4-BE49-F238E27FC236}">
                <a16:creationId xmlns:a16="http://schemas.microsoft.com/office/drawing/2014/main" id="{EF397AD9-135E-4CB8-B7DC-DE0C634AB43D}"/>
              </a:ext>
            </a:extLst>
          </p:cNvPr>
          <p:cNvCxnSpPr/>
          <p:nvPr/>
        </p:nvCxnSpPr>
        <p:spPr>
          <a:xfrm xmlns:a="http://schemas.openxmlformats.org/drawingml/2006/main" flipH="0" flipV="0">
            <a:off x="2009775" y="2552700"/>
            <a:ext cx="40576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4" name="text-13">
            <a:extLst xmlns:a="http://schemas.openxmlformats.org/drawingml/2006/main">
              <a:ext uri="{FF2B5EF4-FFF2-40B4-BE49-F238E27FC236}">
                <a16:creationId xmlns:a16="http://schemas.microsoft.com/office/drawing/2014/main" id="{4497F76E-2B4F-4347-932E-0A2B00AA364E}"/>
              </a:ext>
            </a:extLst>
          </p:cNvPr>
          <p:cNvSpPr>
            <a:spLocks xmlns:a="http://schemas.openxmlformats.org/drawingml/2006/main" noGrp="1"/>
          </p:cNvSpPr>
          <p:nvPr/>
        </p:nvSpPr>
        <p:spPr>
          <a:xfrm xmlns:a="http://schemas.openxmlformats.org/drawingml/2006/main">
            <a:off x="2085975" y="2228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1  POST email + password</a:t>
            </a:r>
          </a:p>
        </p:txBody>
      </p:sp>
      <p:cxnSp>
        <p:nvCxnSpPr>
          <p:cNvPr id="15" name="">
            <a:extLst xmlns:a="http://schemas.openxmlformats.org/drawingml/2006/main">
              <a:ext uri="{FF2B5EF4-FFF2-40B4-BE49-F238E27FC236}">
                <a16:creationId xmlns:a16="http://schemas.microsoft.com/office/drawing/2014/main" id="{A8DC44E1-860E-479C-825D-F5A95A5426C7}"/>
              </a:ext>
            </a:extLst>
          </p:cNvPr>
          <p:cNvCxnSpPr/>
          <p:nvPr/>
        </p:nvCxnSpPr>
        <p:spPr>
          <a:xfrm xmlns:a="http://schemas.openxmlformats.org/drawingml/2006/main" flipH="0" flipV="0">
            <a:off x="6067425" y="3333750"/>
            <a:ext cx="40576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6" name="text-15">
            <a:extLst xmlns:a="http://schemas.openxmlformats.org/drawingml/2006/main">
              <a:ext uri="{FF2B5EF4-FFF2-40B4-BE49-F238E27FC236}">
                <a16:creationId xmlns:a16="http://schemas.microsoft.com/office/drawing/2014/main" id="{1CB5532B-4CB6-4DAA-B7C5-B3A9C5A94BEE}"/>
              </a:ext>
            </a:extLst>
          </p:cNvPr>
          <p:cNvSpPr>
            <a:spLocks xmlns:a="http://schemas.openxmlformats.org/drawingml/2006/main" noGrp="1"/>
          </p:cNvSpPr>
          <p:nvPr/>
        </p:nvSpPr>
        <p:spPr>
          <a:xfrm xmlns:a="http://schemas.openxmlformats.org/drawingml/2006/main">
            <a:off x="6143625" y="30099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2  อ่าน user และ password_hash</a:t>
            </a:r>
          </a:p>
        </p:txBody>
      </p:sp>
      <p:cxnSp>
        <p:nvCxnSpPr>
          <p:cNvPr id="17" name="">
            <a:extLst xmlns:a="http://schemas.openxmlformats.org/drawingml/2006/main">
              <a:ext uri="{FF2B5EF4-FFF2-40B4-BE49-F238E27FC236}">
                <a16:creationId xmlns:a16="http://schemas.microsoft.com/office/drawing/2014/main" id="{A1B3F514-1B68-4828-BD15-22B544F4668D}"/>
              </a:ext>
            </a:extLst>
          </p:cNvPr>
          <p:cNvCxnSpPr/>
          <p:nvPr/>
        </p:nvCxnSpPr>
        <p:spPr>
          <a:xfrm xmlns:a="http://schemas.openxmlformats.org/drawingml/2006/main" flipH="1" flipV="0">
            <a:off x="6067425" y="4010025"/>
            <a:ext cx="40576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8" name="text-17">
            <a:extLst xmlns:a="http://schemas.openxmlformats.org/drawingml/2006/main">
              <a:ext uri="{FF2B5EF4-FFF2-40B4-BE49-F238E27FC236}">
                <a16:creationId xmlns:a16="http://schemas.microsoft.com/office/drawing/2014/main" id="{E8C36FF0-2D6D-4603-9E7C-3174B45FCD07}"/>
              </a:ext>
            </a:extLst>
          </p:cNvPr>
          <p:cNvSpPr>
            <a:spLocks xmlns:a="http://schemas.openxmlformats.org/drawingml/2006/main" noGrp="1"/>
          </p:cNvSpPr>
          <p:nvPr/>
        </p:nvSpPr>
        <p:spPr>
          <a:xfrm xmlns:a="http://schemas.openxmlformats.org/drawingml/2006/main">
            <a:off x="6143625" y="36861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3  คืนข้อมูล / API ตรวจ scrypt</a:t>
            </a:r>
          </a:p>
        </p:txBody>
      </p:sp>
      <p:cxnSp>
        <p:nvCxnSpPr>
          <p:cNvPr id="19" name="">
            <a:extLst xmlns:a="http://schemas.openxmlformats.org/drawingml/2006/main">
              <a:ext uri="{FF2B5EF4-FFF2-40B4-BE49-F238E27FC236}">
                <a16:creationId xmlns:a16="http://schemas.microsoft.com/office/drawing/2014/main" id="{2FC20FE9-B143-417B-AB68-FE242C25028E}"/>
              </a:ext>
            </a:extLst>
          </p:cNvPr>
          <p:cNvCxnSpPr/>
          <p:nvPr/>
        </p:nvCxnSpPr>
        <p:spPr>
          <a:xfrm xmlns:a="http://schemas.openxmlformats.org/drawingml/2006/main" flipH="0" flipV="0">
            <a:off x="6067425" y="4695825"/>
            <a:ext cx="40576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20" name="text-19">
            <a:extLst xmlns:a="http://schemas.openxmlformats.org/drawingml/2006/main">
              <a:ext uri="{FF2B5EF4-FFF2-40B4-BE49-F238E27FC236}">
                <a16:creationId xmlns:a16="http://schemas.microsoft.com/office/drawing/2014/main" id="{E1354305-593A-4EF6-B6B2-58DECBBE9328}"/>
              </a:ext>
            </a:extLst>
          </p:cNvPr>
          <p:cNvSpPr>
            <a:spLocks xmlns:a="http://schemas.openxmlformats.org/drawingml/2006/main" noGrp="1"/>
          </p:cNvSpPr>
          <p:nvPr/>
        </p:nvSpPr>
        <p:spPr>
          <a:xfrm xmlns:a="http://schemas.openxmlformats.org/drawingml/2006/main">
            <a:off x="6143625" y="4371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4  INSERT auth_sessions</a:t>
            </a:r>
          </a:p>
        </p:txBody>
      </p:sp>
      <p:cxnSp>
        <p:nvCxnSpPr>
          <p:cNvPr id="21" name="">
            <a:extLst xmlns:a="http://schemas.openxmlformats.org/drawingml/2006/main">
              <a:ext uri="{FF2B5EF4-FFF2-40B4-BE49-F238E27FC236}">
                <a16:creationId xmlns:a16="http://schemas.microsoft.com/office/drawing/2014/main" id="{E0D1B46B-564D-4E5C-8EB8-2D61AE2AE28C}"/>
              </a:ext>
            </a:extLst>
          </p:cNvPr>
          <p:cNvCxnSpPr/>
          <p:nvPr/>
        </p:nvCxnSpPr>
        <p:spPr>
          <a:xfrm xmlns:a="http://schemas.openxmlformats.org/drawingml/2006/main" flipH="1" flipV="0">
            <a:off x="2009775" y="5429250"/>
            <a:ext cx="40576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22" name="text-21">
            <a:extLst xmlns:a="http://schemas.openxmlformats.org/drawingml/2006/main">
              <a:ext uri="{FF2B5EF4-FFF2-40B4-BE49-F238E27FC236}">
                <a16:creationId xmlns:a16="http://schemas.microsoft.com/office/drawing/2014/main" id="{FD8489FF-FECD-4A28-B252-11AD488FFA78}"/>
              </a:ext>
            </a:extLst>
          </p:cNvPr>
          <p:cNvSpPr>
            <a:spLocks xmlns:a="http://schemas.openxmlformats.org/drawingml/2006/main" noGrp="1"/>
          </p:cNvSpPr>
          <p:nvPr/>
        </p:nvSpPr>
        <p:spPr>
          <a:xfrm xmlns:a="http://schemas.openxmlformats.org/drawingml/2006/main">
            <a:off x="2085975" y="51054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473"/>
                </a:solidFill>
                <a:latin typeface="Tahoma"/>
                <a:ea typeface="Tahoma"/>
                <a:cs typeface="Tahoma"/>
              </a:defRPr>
            </a:defPPr>
          </a:lstStyle>
          <a:p xmlns:a="http://schemas.openxmlformats.org/drawingml/2006/main">
            <a:pPr algn="l">
              <a:defRPr sz="1650" b="0">
                <a:solidFill>
                  <a:srgbClr val="526473"/>
                </a:solidFill>
                <a:latin typeface="Tahoma"/>
                <a:ea typeface="Tahoma"/>
                <a:cs typeface="Tahoma"/>
              </a:defRPr>
            </a:pPr>
            <a:r>
              <a:rPr sz="1650" b="0">
                <a:solidFill>
                  <a:srgbClr val="526473"/>
                </a:solidFill>
                <a:latin typeface="Tahoma"/>
                <a:ea typeface="Tahoma"/>
                <a:cs typeface="Tahoma"/>
              </a:rPr>
              <a:t>5  Set-Cookie JWT + user</a:t>
            </a:r>
          </a:p>
        </p:txBody>
      </p:sp>
      <p:sp>
        <p:nvSpPr>
          <p:cNvPr id="23" name="text-22">
            <a:extLst xmlns:a="http://schemas.openxmlformats.org/drawingml/2006/main">
              <a:ext uri="{FF2B5EF4-FFF2-40B4-BE49-F238E27FC236}">
                <a16:creationId xmlns:a16="http://schemas.microsoft.com/office/drawing/2014/main" id="{4AEFD800-A0AD-4B6C-B0D0-2C942932A465}"/>
              </a:ext>
            </a:extLst>
          </p:cNvPr>
          <p:cNvSpPr>
            <a:spLocks xmlns:a="http://schemas.openxmlformats.org/drawingml/2006/main" noGrp="1"/>
          </p:cNvSpPr>
          <p:nvPr/>
        </p:nvSpPr>
        <p:spPr>
          <a:xfrm xmlns:a="http://schemas.openxmlformats.org/drawingml/2006/main">
            <a:off x="609600" y="60293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cookie: HttpOnly, SameSite=Lax, Secure เมื่อ production</a:t>
            </a:r>
          </a:p>
        </p:txBody>
      </p:sp>
    </p:spTree>
    <p:extLst>
      <p:ext uri="{BB962C8B-B14F-4D97-AF65-F5344CB8AC3E}">
        <p14:creationId xmlns:p14="http://schemas.microsoft.com/office/powerpoint/2010/main" val="1241476209"/>
      </p:ext>
    </p:extLst>
  </p:cSld>
</p:sld>
</file>

<file path=ppt/slides/slide11.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8167CCE4-BD8F-4BFC-ADEB-14DE9312F603}"/>
              </a:ext>
            </a:extLst>
          </p:cNvPr>
          <p:cNvCxnSpPr>
            <a:stCxn xmlns:a="http://schemas.openxmlformats.org/drawingml/2006/main" id="5" idx="3"/>
            <a:endCxn xmlns:a="http://schemas.openxmlformats.org/drawingml/2006/main" id="6" idx="1"/>
          </p:cNvCxnSpPr>
          <p:nvPr/>
        </p:nvCxnSpPr>
        <p:spPr>
          <a:xfrm xmlns:a="http://schemas.openxmlformats.org/drawingml/2006/main">
            <a:off x="7639050" y="2971800"/>
            <a:ext cx="87630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7" name="">
            <a:extLst xmlns:a="http://schemas.openxmlformats.org/drawingml/2006/main">
              <a:ext uri="{FF2B5EF4-FFF2-40B4-BE49-F238E27FC236}">
                <a16:creationId xmlns:a16="http://schemas.microsoft.com/office/drawing/2014/main" id="{3C27F92A-AF98-44E2-8869-F9D301D531EE}"/>
              </a:ext>
            </a:extLst>
          </p:cNvPr>
          <p:cNvCxnSpPr>
            <a:stCxn xmlns:a="http://schemas.openxmlformats.org/drawingml/2006/main" id="4" idx="3"/>
            <a:endCxn xmlns:a="http://schemas.openxmlformats.org/drawingml/2006/main" id="5" idx="1"/>
          </p:cNvCxnSpPr>
          <p:nvPr/>
        </p:nvCxnSpPr>
        <p:spPr>
          <a:xfrm xmlns:a="http://schemas.openxmlformats.org/drawingml/2006/main">
            <a:off x="3676650" y="2971800"/>
            <a:ext cx="8953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3" name="text-0">
            <a:extLst xmlns:a="http://schemas.openxmlformats.org/drawingml/2006/main">
              <a:ext uri="{FF2B5EF4-FFF2-40B4-BE49-F238E27FC236}">
                <a16:creationId xmlns:a16="http://schemas.microsoft.com/office/drawing/2014/main" id="{CE1C3D77-9D89-4AEB-B5AB-284608AAEE4F}"/>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JWT, cookie และการเพิกถอน session</a:t>
            </a:r>
          </a:p>
        </p:txBody>
      </p:sp>
      <p:sp>
        <p:nvSpPr>
          <p:cNvPr id="2" name="">
            <a:extLst xmlns:a="http://schemas.openxmlformats.org/drawingml/2006/main">
              <a:ext uri="{FF2B5EF4-FFF2-40B4-BE49-F238E27FC236}">
                <a16:creationId xmlns:a16="http://schemas.microsoft.com/office/drawing/2014/main" id="{75706FBD-7797-4A2E-923B-46BE4D954003}"/>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18DCAA3C-1248-4047-B944-8D04069FD14F}"/>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11</a:t>
            </a:r>
          </a:p>
        </p:txBody>
      </p:sp>
      <p:sp>
        <p:nvSpPr>
          <p:cNvPr id="4" name="Cookie JWT&#10;sub + sid + exp">
            <a:extLst xmlns:a="http://schemas.openxmlformats.org/drawingml/2006/main">
              <a:ext uri="{FF2B5EF4-FFF2-40B4-BE49-F238E27FC236}">
                <a16:creationId xmlns:a16="http://schemas.microsoft.com/office/drawing/2014/main" id="{FFE85CBA-DDA8-46AB-BFB1-32E4048A3C09}"/>
              </a:ext>
            </a:extLst>
          </p:cNvPr>
          <p:cNvSpPr>
            <a:spLocks xmlns:a="http://schemas.openxmlformats.org/drawingml/2006/main" noGrp="1"/>
          </p:cNvSpPr>
          <p:nvPr/>
        </p:nvSpPr>
        <p:spPr>
          <a:xfrm xmlns:a="http://schemas.openxmlformats.org/drawingml/2006/main">
            <a:off x="609600" y="2362200"/>
            <a:ext cx="3067050" cy="12192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Cookie JWT</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sub + sid + exp</a:t>
            </a:r>
          </a:p>
        </p:txBody>
      </p:sp>
      <p:sp>
        <p:nvSpPr>
          <p:cNvPr id="5" name="verify signature&#10;HS256 + exp + iss + aud">
            <a:extLst xmlns:a="http://schemas.openxmlformats.org/drawingml/2006/main">
              <a:ext uri="{FF2B5EF4-FFF2-40B4-BE49-F238E27FC236}">
                <a16:creationId xmlns:a16="http://schemas.microsoft.com/office/drawing/2014/main" id="{48E9609B-FB65-4AC5-9E55-8FBD3EEB93BF}"/>
              </a:ext>
            </a:extLst>
          </p:cNvPr>
          <p:cNvSpPr>
            <a:spLocks xmlns:a="http://schemas.openxmlformats.org/drawingml/2006/main" noGrp="1"/>
          </p:cNvSpPr>
          <p:nvPr/>
        </p:nvSpPr>
        <p:spPr>
          <a:xfrm xmlns:a="http://schemas.openxmlformats.org/drawingml/2006/main">
            <a:off x="4572000" y="2362200"/>
            <a:ext cx="3067050" cy="12192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verify signature</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HS256 + exp + iss + aud</a:t>
            </a:r>
          </a:p>
        </p:txBody>
      </p:sp>
      <p:sp>
        <p:nvSpPr>
          <p:cNvPr id="6" name="SQL session&#10;ยังไม่หมดอายุและไม่ revoke">
            <a:extLst xmlns:a="http://schemas.openxmlformats.org/drawingml/2006/main">
              <a:ext uri="{FF2B5EF4-FFF2-40B4-BE49-F238E27FC236}">
                <a16:creationId xmlns:a16="http://schemas.microsoft.com/office/drawing/2014/main" id="{ECDF02C9-1D5A-498D-9797-4ACB424EEA0C}"/>
              </a:ext>
            </a:extLst>
          </p:cNvPr>
          <p:cNvSpPr>
            <a:spLocks xmlns:a="http://schemas.openxmlformats.org/drawingml/2006/main" noGrp="1"/>
          </p:cNvSpPr>
          <p:nvPr/>
        </p:nvSpPr>
        <p:spPr>
          <a:xfrm xmlns:a="http://schemas.openxmlformats.org/drawingml/2006/main">
            <a:off x="8515350" y="2362200"/>
            <a:ext cx="3067050" cy="12192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SQL session</a:t>
            </a:r>
          </a:p>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ยังไม่หมดอายุและไม่ revoke</a:t>
            </a:r>
          </a:p>
        </p:txBody>
      </p:sp>
      <p:sp>
        <p:nvSpPr>
          <p:cNvPr id="9" name="text-8">
            <a:extLst xmlns:a="http://schemas.openxmlformats.org/drawingml/2006/main">
              <a:ext uri="{FF2B5EF4-FFF2-40B4-BE49-F238E27FC236}">
                <a16:creationId xmlns:a16="http://schemas.microsoft.com/office/drawing/2014/main" id="{8AFB99D4-FE19-41A1-8762-1189EBCCA153}"/>
              </a:ext>
            </a:extLst>
          </p:cNvPr>
          <p:cNvSpPr>
            <a:spLocks xmlns:a="http://schemas.openxmlformats.org/drawingml/2006/main" noGrp="1"/>
          </p:cNvSpPr>
          <p:nvPr/>
        </p:nvSpPr>
        <p:spPr>
          <a:xfrm xmlns:a="http://schemas.openxmlformats.org/drawingml/2006/main">
            <a:off x="609600" y="425767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B8C82"/>
                </a:solidFill>
                <a:latin typeface="Tahoma"/>
                <a:ea typeface="Tahoma"/>
                <a:cs typeface="Tahoma"/>
              </a:defRPr>
            </a:defPPr>
          </a:lstStyle>
          <a:p xmlns:a="http://schemas.openxmlformats.org/drawingml/2006/main">
            <a:pPr algn="l">
              <a:defRPr sz="2475" b="1">
                <a:solidFill>
                  <a:srgbClr val="0B8C82"/>
                </a:solidFill>
                <a:latin typeface="Tahoma"/>
                <a:ea typeface="Tahoma"/>
                <a:cs typeface="Tahoma"/>
              </a:defRPr>
            </a:pPr>
            <a:r>
              <a:rPr sz="2475" b="1">
                <a:solidFill>
                  <a:srgbClr val="0B8C82"/>
                </a:solidFill>
                <a:latin typeface="Tahoma"/>
                <a:ea typeface="Tahoma"/>
                <a:cs typeface="Tahoma"/>
              </a:rPr>
              <a:t>อายุ 30 นาที</a:t>
            </a:r>
          </a:p>
        </p:txBody>
      </p:sp>
      <p:sp>
        <p:nvSpPr>
          <p:cNvPr id="10" name="text-9">
            <a:extLst xmlns:a="http://schemas.openxmlformats.org/drawingml/2006/main">
              <a:ext uri="{FF2B5EF4-FFF2-40B4-BE49-F238E27FC236}">
                <a16:creationId xmlns:a16="http://schemas.microsoft.com/office/drawing/2014/main" id="{AF19E05B-AD8D-43AB-B480-27E8447C4147}"/>
              </a:ext>
            </a:extLst>
          </p:cNvPr>
          <p:cNvSpPr>
            <a:spLocks xmlns:a="http://schemas.openxmlformats.org/drawingml/2006/main" noGrp="1"/>
          </p:cNvSpPr>
          <p:nvPr/>
        </p:nvSpPr>
        <p:spPr>
          <a:xfrm xmlns:a="http://schemas.openxmlformats.org/drawingml/2006/main">
            <a:off x="6572250" y="42576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B8C82"/>
                </a:solidFill>
                <a:latin typeface="Tahoma"/>
                <a:ea typeface="Tahoma"/>
                <a:cs typeface="Tahoma"/>
              </a:defRPr>
            </a:defPPr>
          </a:lstStyle>
          <a:p xmlns:a="http://schemas.openxmlformats.org/drawingml/2006/main">
            <a:pPr algn="l">
              <a:defRPr sz="2475" b="1">
                <a:solidFill>
                  <a:srgbClr val="0B8C82"/>
                </a:solidFill>
                <a:latin typeface="Tahoma"/>
                <a:ea typeface="Tahoma"/>
                <a:cs typeface="Tahoma"/>
              </a:defRPr>
            </a:pPr>
            <a:r>
              <a:rPr sz="2475" b="1">
                <a:solidFill>
                  <a:srgbClr val="0B8C82"/>
                </a:solidFill>
                <a:latin typeface="Tahoma"/>
                <a:ea typeface="Tahoma"/>
                <a:cs typeface="Tahoma"/>
              </a:rPr>
              <a:t>Logout</a:t>
            </a:r>
          </a:p>
        </p:txBody>
      </p:sp>
      <p:sp>
        <p:nvSpPr>
          <p:cNvPr id="11" name="text-10">
            <a:extLst xmlns:a="http://schemas.openxmlformats.org/drawingml/2006/main">
              <a:ext uri="{FF2B5EF4-FFF2-40B4-BE49-F238E27FC236}">
                <a16:creationId xmlns:a16="http://schemas.microsoft.com/office/drawing/2014/main" id="{D7A95D8A-E595-4F3B-AC9F-BFF9A217373A}"/>
              </a:ext>
            </a:extLst>
          </p:cNvPr>
          <p:cNvSpPr>
            <a:spLocks xmlns:a="http://schemas.openxmlformats.org/drawingml/2006/main" noGrp="1"/>
          </p:cNvSpPr>
          <p:nvPr/>
        </p:nvSpPr>
        <p:spPr>
          <a:xfrm xmlns:a="http://schemas.openxmlformats.org/drawingml/2006/main">
            <a:off x="609600" y="493395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ตรวจทั้ง JWT และ session</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ไม่มี refresh token</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หมดอายุแล้วเข้าสู่ระบบใหม่</a:t>
            </a:r>
          </a:p>
        </p:txBody>
      </p:sp>
      <p:sp>
        <p:nvSpPr>
          <p:cNvPr id="12" name="text-11">
            <a:extLst xmlns:a="http://schemas.openxmlformats.org/drawingml/2006/main">
              <a:ext uri="{FF2B5EF4-FFF2-40B4-BE49-F238E27FC236}">
                <a16:creationId xmlns:a16="http://schemas.microsoft.com/office/drawing/2014/main" id="{EC406EAB-5673-436D-ABE0-22C5C07F14C1}"/>
              </a:ext>
            </a:extLst>
          </p:cNvPr>
          <p:cNvSpPr>
            <a:spLocks xmlns:a="http://schemas.openxmlformats.org/drawingml/2006/main" noGrp="1"/>
          </p:cNvSpPr>
          <p:nvPr/>
        </p:nvSpPr>
        <p:spPr>
          <a:xfrm xmlns:a="http://schemas.openxmlformats.org/drawingml/2006/main">
            <a:off x="6572250" y="493395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ตั้ง revoked_at ใน SQL</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ลบ cookie จาก browser</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cookie เก่าเรียก API ต่อไม่ได้</a:t>
            </a:r>
          </a:p>
        </p:txBody>
      </p:sp>
    </p:spTree>
    <p:extLst>
      <p:ext uri="{BB962C8B-B14F-4D97-AF65-F5344CB8AC3E}">
        <p14:creationId xmlns:p14="http://schemas.microsoft.com/office/powerpoint/2010/main" val="75303828"/>
      </p:ext>
    </p:extLst>
  </p:cSld>
</p:sld>
</file>

<file path=ppt/slides/slide1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79855FD-F858-4908-A295-C0AB0AAA51F5}"/>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รหัสผ่านและ API key ใช้ต่างกัน</a:t>
            </a:r>
          </a:p>
        </p:txBody>
      </p:sp>
      <p:sp>
        <p:nvSpPr>
          <p:cNvPr id="2" name="">
            <a:extLst xmlns:a="http://schemas.openxmlformats.org/drawingml/2006/main">
              <a:ext uri="{FF2B5EF4-FFF2-40B4-BE49-F238E27FC236}">
                <a16:creationId xmlns:a16="http://schemas.microsoft.com/office/drawing/2014/main" id="{479F904F-032B-43F3-8AB6-0EE66025B15B}"/>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633E136B-3A94-4A42-9E53-4994EE553D47}"/>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12</a:t>
            </a:r>
          </a:p>
        </p:txBody>
      </p:sp>
      <p:graphicFrame>
        <p:nvGraphicFramePr>
          <p:cNvPr id="4" name="">
            <a:extLst xmlns:a="http://schemas.openxmlformats.org/drawingml/2006/main">
              <a:ext uri="{FF2B5EF4-FFF2-40B4-BE49-F238E27FC236}">
                <a16:creationId xmlns:a16="http://schemas.microsoft.com/office/drawing/2014/main" id="{23EA368F-F659-4DD9-85C8-FAC76F7D94EE}"/>
              </a:ext>
            </a:extLst>
          </p:cNvPr>
          <p:cNvGraphicFramePr/>
          <p:nvPr/>
        </p:nvGraphicFramePr>
        <p:xfrm>
          <a:off xmlns:a="http://schemas.openxmlformats.org/drawingml/2006/main" x="609600" y="1781175"/>
          <a:ext xmlns:a="http://schemas.openxmlformats.org/drawingml/2006/main" cx="10972800" cy="4000500"/>
        </p:xfrm>
        <a:graphic xmlns:a="http://schemas.openxmlformats.org/drawingml/2006/main">
          <a:graphicData uri="http://schemas.openxmlformats.org/drawingml/2006/table">
            <a:tbl>
              <a:tblPr/>
              <a:tblGrid>
                <a:gridCol w="2857500"/>
                <a:gridCol w="4057650"/>
                <a:gridCol w="4057650"/>
              </a:tblGrid>
              <a:tr h="666750">
                <a:tc>
                  <a:txBody>
                    <a:bodyPr lIns="95250" tIns="95250" rIns="95250" bIns="95250"/>
                    <a:lstStyle/>
                    <a:p>
                      <a:r>
                        <a:rPr sz="1800" b="1">
                          <a:solidFill>
                            <a:srgbClr val="FFFFFF"/>
                          </a:solidFill>
                          <a:latin typeface="Tahoma"/>
                          <a:ea typeface="Tahoma"/>
                          <a:cs typeface="Tahoma"/>
                        </a:rPr>
                        <a:t>ประเด็น</a:t>
                      </a:r>
                    </a:p>
                  </a:txBody>
                  <a:tcPr marL="91440" marR="91440" marT="45720" marB="45720" anchor="ctr">
                    <a:solidFill>
                      <a:srgbClr val="0B8C82"/>
                    </a:solidFill>
                  </a:tcPr>
                </a:tc>
                <a:tc>
                  <a:txBody>
                    <a:bodyPr lIns="95250" tIns="95250" rIns="95250" bIns="95250"/>
                    <a:lstStyle/>
                    <a:p>
                      <a:r>
                        <a:rPr sz="1800" b="1">
                          <a:solidFill>
                            <a:srgbClr val="FFFFFF"/>
                          </a:solidFill>
                          <a:latin typeface="Tahoma"/>
                          <a:ea typeface="Tahoma"/>
                          <a:cs typeface="Tahoma"/>
                        </a:rPr>
                        <a:t>รหัสผ่านผู้ใช้</a:t>
                      </a:r>
                    </a:p>
                  </a:txBody>
                  <a:tcPr marL="91440" marR="91440" marT="45720" marB="45720" anchor="ctr">
                    <a:solidFill>
                      <a:srgbClr val="0B8C82"/>
                    </a:solidFill>
                  </a:tcPr>
                </a:tc>
                <a:tc>
                  <a:txBody>
                    <a:bodyPr lIns="95250" tIns="95250" rIns="95250" bIns="95250"/>
                    <a:lstStyle/>
                    <a:p>
                      <a:r>
                        <a:rPr sz="1800" b="1">
                          <a:solidFill>
                            <a:srgbClr val="FFFFFF"/>
                          </a:solidFill>
                          <a:latin typeface="Tahoma"/>
                          <a:ea typeface="Tahoma"/>
                          <a:cs typeface="Tahoma"/>
                        </a:rPr>
                        <a:t>API key</a:t>
                      </a:r>
                    </a:p>
                  </a:txBody>
                  <a:tcPr marL="91440" marR="91440" marT="45720" marB="45720" anchor="ctr">
                    <a:solidFill>
                      <a:srgbClr val="0B8C82"/>
                    </a:solidFill>
                  </a:tcPr>
                </a:tc>
              </a:tr>
              <a:tr h="666750">
                <a:tc>
                  <a:txBody>
                    <a:bodyPr lIns="95250" tIns="95250" rIns="95250" bIns="95250"/>
                    <a:lstStyle/>
                    <a:p>
                      <a:r>
                        <a:rPr sz="1800" b="0">
                          <a:solidFill>
                            <a:srgbClr val="12202B"/>
                          </a:solidFill>
                          <a:latin typeface="Tahoma"/>
                          <a:ea typeface="Tahoma"/>
                          <a:cs typeface="Tahoma"/>
                        </a:rPr>
                        <a:t>ผู้ใช้</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คนเข้าสู่เว็บไซต์</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n8n เรียก integration</a:t>
                      </a:r>
                    </a:p>
                  </a:txBody>
                  <a:tcPr marL="91440" marR="91440" marT="45720" marB="45720" anchor="ctr">
                    <a:solidFill>
                      <a:srgbClr val="FFFFFF"/>
                    </a:solidFill>
                  </a:tcPr>
                </a:tc>
              </a:tr>
              <a:tr h="666750">
                <a:tc>
                  <a:txBody>
                    <a:bodyPr lIns="95250" tIns="95250" rIns="95250" bIns="95250"/>
                    <a:lstStyle/>
                    <a:p>
                      <a:r>
                        <a:rPr sz="1800" b="0">
                          <a:solidFill>
                            <a:srgbClr val="12202B"/>
                          </a:solidFill>
                          <a:latin typeface="Tahoma"/>
                          <a:ea typeface="Tahoma"/>
                          <a:cs typeface="Tahoma"/>
                        </a:rPr>
                        <a:t>การสร้าง</a:t>
                      </a:r>
                    </a:p>
                  </a:txBody>
                  <a:tcPr marL="91440" marR="91440" marT="45720" marB="45720" anchor="ctr">
                    <a:solidFill>
                      <a:srgbClr val="F4F5F7"/>
                    </a:solidFill>
                  </a:tcPr>
                </a:tc>
                <a:tc>
                  <a:txBody>
                    <a:bodyPr lIns="95250" tIns="95250" rIns="95250" bIns="95250"/>
                    <a:lstStyle/>
                    <a:p>
                      <a:r>
                        <a:rPr sz="1800" b="0">
                          <a:solidFill>
                            <a:srgbClr val="12202B"/>
                          </a:solidFill>
                          <a:latin typeface="Tahoma"/>
                          <a:ea typeface="Tahoma"/>
                          <a:cs typeface="Tahoma"/>
                        </a:rPr>
                        <a:t>คนกำหนดรหัสผ่าน</a:t>
                      </a:r>
                    </a:p>
                  </a:txBody>
                  <a:tcPr marL="91440" marR="91440" marT="45720" marB="45720" anchor="ctr">
                    <a:solidFill>
                      <a:srgbClr val="F4F5F7"/>
                    </a:solidFill>
                  </a:tcPr>
                </a:tc>
                <a:tc>
                  <a:txBody>
                    <a:bodyPr lIns="95250" tIns="95250" rIns="95250" bIns="95250"/>
                    <a:lstStyle/>
                    <a:p>
                      <a:r>
                        <a:rPr sz="1800" b="0">
                          <a:solidFill>
                            <a:srgbClr val="12202B"/>
                          </a:solidFill>
                          <a:latin typeface="Tahoma"/>
                          <a:ea typeface="Tahoma"/>
                          <a:cs typeface="Tahoma"/>
                        </a:rPr>
                        <a:t>สุ่ม 32 bytes</a:t>
                      </a:r>
                    </a:p>
                  </a:txBody>
                  <a:tcPr marL="91440" marR="91440" marT="45720" marB="45720" anchor="ctr">
                    <a:solidFill>
                      <a:srgbClr val="F4F5F7"/>
                    </a:solidFill>
                  </a:tcPr>
                </a:tc>
              </a:tr>
              <a:tr h="666750">
                <a:tc>
                  <a:txBody>
                    <a:bodyPr lIns="95250" tIns="95250" rIns="95250" bIns="95250"/>
                    <a:lstStyle/>
                    <a:p>
                      <a:r>
                        <a:rPr sz="1800" b="0">
                          <a:solidFill>
                            <a:srgbClr val="12202B"/>
                          </a:solidFill>
                          <a:latin typeface="Tahoma"/>
                          <a:ea typeface="Tahoma"/>
                          <a:cs typeface="Tahoma"/>
                        </a:rPr>
                        <a:t>SQL เก็บ</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scrypt + salt + digest</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SHA-256 digest + prefix</a:t>
                      </a:r>
                    </a:p>
                  </a:txBody>
                  <a:tcPr marL="91440" marR="91440" marT="45720" marB="45720" anchor="ctr">
                    <a:solidFill>
                      <a:srgbClr val="FFFFFF"/>
                    </a:solidFill>
                  </a:tcPr>
                </a:tc>
              </a:tr>
              <a:tr h="666750">
                <a:tc>
                  <a:txBody>
                    <a:bodyPr lIns="95250" tIns="95250" rIns="95250" bIns="95250"/>
                    <a:lstStyle/>
                    <a:p>
                      <a:r>
                        <a:rPr sz="1800" b="0">
                          <a:solidFill>
                            <a:srgbClr val="12202B"/>
                          </a:solidFill>
                          <a:latin typeface="Tahoma"/>
                          <a:ea typeface="Tahoma"/>
                          <a:cs typeface="Tahoma"/>
                        </a:rPr>
                        <a:t>อายุ / เพิกถอน</a:t>
                      </a:r>
                    </a:p>
                  </a:txBody>
                  <a:tcPr marL="91440" marR="91440" marT="45720" marB="45720" anchor="ctr">
                    <a:solidFill>
                      <a:srgbClr val="F4F5F7"/>
                    </a:solidFill>
                  </a:tcPr>
                </a:tc>
                <a:tc>
                  <a:txBody>
                    <a:bodyPr lIns="95250" tIns="95250" rIns="95250" bIns="95250"/>
                    <a:lstStyle/>
                    <a:p>
                      <a:r>
                        <a:rPr sz="1800" b="0">
                          <a:solidFill>
                            <a:srgbClr val="12202B"/>
                          </a:solidFill>
                          <a:latin typeface="Tahoma"/>
                          <a:ea typeface="Tahoma"/>
                          <a:cs typeface="Tahoma"/>
                        </a:rPr>
                        <a:t>session 30 นาที / logout</a:t>
                      </a:r>
                    </a:p>
                  </a:txBody>
                  <a:tcPr marL="91440" marR="91440" marT="45720" marB="45720" anchor="ctr">
                    <a:solidFill>
                      <a:srgbClr val="F4F5F7"/>
                    </a:solidFill>
                  </a:tcPr>
                </a:tc>
                <a:tc>
                  <a:txBody>
                    <a:bodyPr lIns="95250" tIns="95250" rIns="95250" bIns="95250"/>
                    <a:lstStyle/>
                    <a:p>
                      <a:r>
                        <a:rPr sz="1800" b="0">
                          <a:solidFill>
                            <a:srgbClr val="12202B"/>
                          </a:solidFill>
                          <a:latin typeface="Tahoma"/>
                          <a:ea typeface="Tahoma"/>
                          <a:cs typeface="Tahoma"/>
                        </a:rPr>
                        <a:t>key 30 วัน / revoke</a:t>
                      </a:r>
                    </a:p>
                  </a:txBody>
                  <a:tcPr marL="91440" marR="91440" marT="45720" marB="45720" anchor="ctr">
                    <a:solidFill>
                      <a:srgbClr val="F4F5F7"/>
                    </a:solidFill>
                  </a:tcPr>
                </a:tc>
              </a:tr>
              <a:tr h="666750">
                <a:tc>
                  <a:txBody>
                    <a:bodyPr lIns="95250" tIns="95250" rIns="95250" bIns="95250"/>
                    <a:lstStyle/>
                    <a:p>
                      <a:r>
                        <a:rPr sz="1800" b="0">
                          <a:solidFill>
                            <a:srgbClr val="12202B"/>
                          </a:solidFill>
                          <a:latin typeface="Tahoma"/>
                          <a:ea typeface="Tahoma"/>
                          <a:cs typeface="Tahoma"/>
                        </a:rPr>
                        <a:t>สิทธิ์</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จัดการงานของตัวเอง</a:t>
                      </a:r>
                    </a:p>
                  </a:txBody>
                  <a:tcPr marL="91440" marR="91440" marT="45720" marB="45720" anchor="ctr">
                    <a:solidFill>
                      <a:srgbClr val="FFFFFF"/>
                    </a:solidFill>
                  </a:tcPr>
                </a:tc>
                <a:tc>
                  <a:txBody>
                    <a:bodyPr lIns="95250" tIns="95250" rIns="95250" bIns="95250"/>
                    <a:lstStyle/>
                    <a:p>
                      <a:r>
                        <a:rPr sz="1800" b="0">
                          <a:solidFill>
                            <a:srgbClr val="12202B"/>
                          </a:solidFill>
                          <a:latin typeface="Tahoma"/>
                          <a:ea typeface="Tahoma"/>
                          <a:cs typeface="Tahoma"/>
                        </a:rPr>
                        <a:t>scope reminders เท่านั้น</a:t>
                      </a:r>
                    </a:p>
                  </a:txBody>
                  <a:tcPr marL="91440" marR="91440" marT="45720" marB="4572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E9493D7-47DF-4E9A-B213-47219EE2B613}"/>
              </a:ext>
            </a:extLst>
          </p:cNvPr>
          <p:cNvSpPr>
            <a:spLocks xmlns:a="http://schemas.openxmlformats.org/drawingml/2006/main" noGrp="1"/>
          </p:cNvSpPr>
          <p:nvPr/>
        </p:nvSpPr>
        <p:spPr>
          <a:xfrm xmlns:a="http://schemas.openxmlformats.org/drawingml/2006/main">
            <a:off x="609600" y="601980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8C82"/>
                </a:solidFill>
                <a:latin typeface="Tahoma"/>
                <a:ea typeface="Tahoma"/>
                <a:cs typeface="Tahoma"/>
              </a:defRPr>
            </a:defPPr>
          </a:lstStyle>
          <a:p xmlns:a="http://schemas.openxmlformats.org/drawingml/2006/main">
            <a:pPr algn="l">
              <a:defRPr sz="1875" b="1">
                <a:solidFill>
                  <a:srgbClr val="0B8C82"/>
                </a:solidFill>
                <a:latin typeface="Tahoma"/>
                <a:ea typeface="Tahoma"/>
                <a:cs typeface="Tahoma"/>
              </a:defRPr>
            </a:pPr>
            <a:r>
              <a:rPr sz="1875" b="1">
                <a:solidFill>
                  <a:srgbClr val="0B8C82"/>
                </a:solidFill>
                <a:latin typeface="Tahoma"/>
                <a:ea typeface="Tahoma"/>
                <a:cs typeface="Tahoma"/>
              </a:rPr>
              <a:t>แสดง API key ฉบับเต็มครั้งเดียวตอนสร้าง และเก็บใน credential ของ n8n</a:t>
            </a:r>
          </a:p>
        </p:txBody>
      </p:sp>
    </p:spTree>
    <p:extLst>
      <p:ext uri="{BB962C8B-B14F-4D97-AF65-F5344CB8AC3E}">
        <p14:creationId xmlns:p14="http://schemas.microsoft.com/office/powerpoint/2010/main" val="1559929634"/>
      </p:ext>
    </p:extLst>
  </p:cSld>
</p:sld>
</file>

<file path=ppt/slides/slide1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BB764FD-AE2A-47C4-8DBF-6E01715229CC}"/>
              </a:ext>
            </a:extLst>
          </p:cNvPr>
          <p:cNvCxnSpPr>
            <a:stCxn xmlns:a="http://schemas.openxmlformats.org/drawingml/2006/main" id="7" idx="3"/>
            <a:endCxn xmlns:a="http://schemas.openxmlformats.org/drawingml/2006/main" id="8" idx="1"/>
          </p:cNvCxnSpPr>
          <p:nvPr/>
        </p:nvCxnSpPr>
        <p:spPr>
          <a:xfrm xmlns:a="http://schemas.openxmlformats.org/drawingml/2006/main">
            <a:off x="9391650" y="2947988"/>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11" name="">
            <a:extLst xmlns:a="http://schemas.openxmlformats.org/drawingml/2006/main">
              <a:ext uri="{FF2B5EF4-FFF2-40B4-BE49-F238E27FC236}">
                <a16:creationId xmlns:a16="http://schemas.microsoft.com/office/drawing/2014/main" id="{AD76D4C3-F431-4331-B4B7-B199D483BBB3}"/>
              </a:ext>
            </a:extLst>
          </p:cNvPr>
          <p:cNvCxnSpPr>
            <a:stCxn xmlns:a="http://schemas.openxmlformats.org/drawingml/2006/main" id="6" idx="3"/>
            <a:endCxn xmlns:a="http://schemas.openxmlformats.org/drawingml/2006/main" id="7" idx="1"/>
          </p:cNvCxnSpPr>
          <p:nvPr/>
        </p:nvCxnSpPr>
        <p:spPr>
          <a:xfrm xmlns:a="http://schemas.openxmlformats.org/drawingml/2006/main">
            <a:off x="7124700" y="2947988"/>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10" name="">
            <a:extLst xmlns:a="http://schemas.openxmlformats.org/drawingml/2006/main">
              <a:ext uri="{FF2B5EF4-FFF2-40B4-BE49-F238E27FC236}">
                <a16:creationId xmlns:a16="http://schemas.microsoft.com/office/drawing/2014/main" id="{263D217A-91D4-45BD-9147-84748C48A1EC}"/>
              </a:ext>
            </a:extLst>
          </p:cNvPr>
          <p:cNvCxnSpPr>
            <a:stCxn xmlns:a="http://schemas.openxmlformats.org/drawingml/2006/main" id="5" idx="3"/>
            <a:endCxn xmlns:a="http://schemas.openxmlformats.org/drawingml/2006/main" id="6" idx="1"/>
          </p:cNvCxnSpPr>
          <p:nvPr/>
        </p:nvCxnSpPr>
        <p:spPr>
          <a:xfrm xmlns:a="http://schemas.openxmlformats.org/drawingml/2006/main">
            <a:off x="4857750" y="2947988"/>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9" name="">
            <a:extLst xmlns:a="http://schemas.openxmlformats.org/drawingml/2006/main">
              <a:ext uri="{FF2B5EF4-FFF2-40B4-BE49-F238E27FC236}">
                <a16:creationId xmlns:a16="http://schemas.microsoft.com/office/drawing/2014/main" id="{B016715D-D2B5-4365-8F14-DC7178DC5A18}"/>
              </a:ext>
            </a:extLst>
          </p:cNvPr>
          <p:cNvCxnSpPr>
            <a:stCxn xmlns:a="http://schemas.openxmlformats.org/drawingml/2006/main" id="4" idx="3"/>
            <a:endCxn xmlns:a="http://schemas.openxmlformats.org/drawingml/2006/main" id="5" idx="1"/>
          </p:cNvCxnSpPr>
          <p:nvPr/>
        </p:nvCxnSpPr>
        <p:spPr>
          <a:xfrm xmlns:a="http://schemas.openxmlformats.org/drawingml/2006/main">
            <a:off x="2590800" y="2947988"/>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5" name="text-0">
            <a:extLst xmlns:a="http://schemas.openxmlformats.org/drawingml/2006/main">
              <a:ext uri="{FF2B5EF4-FFF2-40B4-BE49-F238E27FC236}">
                <a16:creationId xmlns:a16="http://schemas.microsoft.com/office/drawing/2014/main" id="{DC6BB688-E7D1-418D-BB03-C2980986911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การตรวจ request ก่อนแตะข้อมูล</a:t>
            </a:r>
          </a:p>
        </p:txBody>
      </p:sp>
      <p:sp>
        <p:nvSpPr>
          <p:cNvPr id="2" name="">
            <a:extLst xmlns:a="http://schemas.openxmlformats.org/drawingml/2006/main">
              <a:ext uri="{FF2B5EF4-FFF2-40B4-BE49-F238E27FC236}">
                <a16:creationId xmlns:a16="http://schemas.microsoft.com/office/drawing/2014/main" id="{1BAC2C0F-7136-4BBD-AE26-9B644439E854}"/>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3DA9D0B0-9849-4513-970B-199B6E42F1D8}"/>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13</a:t>
            </a:r>
          </a:p>
        </p:txBody>
      </p:sp>
      <p:sp>
        <p:nvSpPr>
          <p:cNvPr id="4" name="request_id&#10;secure headers">
            <a:extLst xmlns:a="http://schemas.openxmlformats.org/drawingml/2006/main">
              <a:ext uri="{FF2B5EF4-FFF2-40B4-BE49-F238E27FC236}">
                <a16:creationId xmlns:a16="http://schemas.microsoft.com/office/drawing/2014/main" id="{443BDC7C-C608-4AE4-913A-2D65AEF03029}"/>
              </a:ext>
            </a:extLst>
          </p:cNvPr>
          <p:cNvSpPr>
            <a:spLocks xmlns:a="http://schemas.openxmlformats.org/drawingml/2006/main" noGrp="1"/>
          </p:cNvSpPr>
          <p:nvPr/>
        </p:nvSpPr>
        <p:spPr>
          <a:xfrm xmlns:a="http://schemas.openxmlformats.org/drawingml/2006/main">
            <a:off x="609600" y="2371725"/>
            <a:ext cx="1981200" cy="1152525"/>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request_id</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secure headers</a:t>
            </a:r>
          </a:p>
        </p:txBody>
      </p:sp>
      <p:sp>
        <p:nvSpPr>
          <p:cNvPr id="5" name="16KB limit&#10;Origin guard">
            <a:extLst xmlns:a="http://schemas.openxmlformats.org/drawingml/2006/main">
              <a:ext uri="{FF2B5EF4-FFF2-40B4-BE49-F238E27FC236}">
                <a16:creationId xmlns:a16="http://schemas.microsoft.com/office/drawing/2014/main" id="{043A570C-542C-4D93-93B3-AD8A19F55D01}"/>
              </a:ext>
            </a:extLst>
          </p:cNvPr>
          <p:cNvSpPr>
            <a:spLocks xmlns:a="http://schemas.openxmlformats.org/drawingml/2006/main" noGrp="1"/>
          </p:cNvSpPr>
          <p:nvPr/>
        </p:nvSpPr>
        <p:spPr>
          <a:xfrm xmlns:a="http://schemas.openxmlformats.org/drawingml/2006/main">
            <a:off x="2876550" y="2371725"/>
            <a:ext cx="1981200" cy="1152525"/>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16KB limit</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Origin guard</a:t>
            </a:r>
          </a:p>
        </p:txBody>
      </p:sp>
      <p:sp>
        <p:nvSpPr>
          <p:cNvPr id="6" name="JWT + session&#10;หรือ API key">
            <a:extLst xmlns:a="http://schemas.openxmlformats.org/drawingml/2006/main">
              <a:ext uri="{FF2B5EF4-FFF2-40B4-BE49-F238E27FC236}">
                <a16:creationId xmlns:a16="http://schemas.microsoft.com/office/drawing/2014/main" id="{87B774CA-2917-4ABA-85FC-D0EAC9ACC24E}"/>
              </a:ext>
            </a:extLst>
          </p:cNvPr>
          <p:cNvSpPr>
            <a:spLocks xmlns:a="http://schemas.openxmlformats.org/drawingml/2006/main" noGrp="1"/>
          </p:cNvSpPr>
          <p:nvPr/>
        </p:nvSpPr>
        <p:spPr>
          <a:xfrm xmlns:a="http://schemas.openxmlformats.org/drawingml/2006/main">
            <a:off x="5143500" y="2371725"/>
            <a:ext cx="1981200" cy="1152525"/>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JWT + session</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หรือ API key</a:t>
            </a:r>
          </a:p>
        </p:txBody>
      </p:sp>
      <p:sp>
        <p:nvSpPr>
          <p:cNvPr id="7" name="Zod schema&#10;JSON type">
            <a:extLst xmlns:a="http://schemas.openxmlformats.org/drawingml/2006/main">
              <a:ext uri="{FF2B5EF4-FFF2-40B4-BE49-F238E27FC236}">
                <a16:creationId xmlns:a16="http://schemas.microsoft.com/office/drawing/2014/main" id="{D7EFC619-83AD-4151-9A83-65C8CCD9623B}"/>
              </a:ext>
            </a:extLst>
          </p:cNvPr>
          <p:cNvSpPr>
            <a:spLocks xmlns:a="http://schemas.openxmlformats.org/drawingml/2006/main" noGrp="1"/>
          </p:cNvSpPr>
          <p:nvPr/>
        </p:nvSpPr>
        <p:spPr>
          <a:xfrm xmlns:a="http://schemas.openxmlformats.org/drawingml/2006/main">
            <a:off x="7410450" y="2371725"/>
            <a:ext cx="1981200" cy="1152525"/>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Zod schema</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JSON type</a:t>
            </a:r>
          </a:p>
        </p:txBody>
      </p:sp>
      <p:sp>
        <p:nvSpPr>
          <p:cNvPr id="8" name="SQL + owner&#10;JSON response">
            <a:extLst xmlns:a="http://schemas.openxmlformats.org/drawingml/2006/main">
              <a:ext uri="{FF2B5EF4-FFF2-40B4-BE49-F238E27FC236}">
                <a16:creationId xmlns:a16="http://schemas.microsoft.com/office/drawing/2014/main" id="{D680B125-10A8-42B6-869F-2099917A3072}"/>
              </a:ext>
            </a:extLst>
          </p:cNvPr>
          <p:cNvSpPr>
            <a:spLocks xmlns:a="http://schemas.openxmlformats.org/drawingml/2006/main" noGrp="1"/>
          </p:cNvSpPr>
          <p:nvPr/>
        </p:nvSpPr>
        <p:spPr>
          <a:xfrm xmlns:a="http://schemas.openxmlformats.org/drawingml/2006/main">
            <a:off x="9677400" y="2371725"/>
            <a:ext cx="1981200" cy="1152525"/>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SQL + owner</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JSON response</a:t>
            </a:r>
          </a:p>
        </p:txBody>
      </p:sp>
      <p:sp>
        <p:nvSpPr>
          <p:cNvPr id="13" name="text-12">
            <a:extLst xmlns:a="http://schemas.openxmlformats.org/drawingml/2006/main">
              <a:ext uri="{FF2B5EF4-FFF2-40B4-BE49-F238E27FC236}">
                <a16:creationId xmlns:a16="http://schemas.microsoft.com/office/drawing/2014/main" id="{6D9C11A8-8B7D-436D-AC25-891B219DEB8D}"/>
              </a:ext>
            </a:extLst>
          </p:cNvPr>
          <p:cNvSpPr>
            <a:spLocks xmlns:a="http://schemas.openxmlformats.org/drawingml/2006/main" noGrp="1"/>
          </p:cNvSpPr>
          <p:nvPr/>
        </p:nvSpPr>
        <p:spPr>
          <a:xfrm xmlns:a="http://schemas.openxmlformats.org/drawingml/2006/main">
            <a:off x="609600" y="4181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Login / register เพิ่ม rate limit: 20 ครั้งใน 15 นาที</a:t>
            </a:r>
          </a:p>
        </p:txBody>
      </p:sp>
      <p:sp>
        <p:nvSpPr>
          <p:cNvPr id="14" name="text-13">
            <a:extLst xmlns:a="http://schemas.openxmlformats.org/drawingml/2006/main">
              <a:ext uri="{FF2B5EF4-FFF2-40B4-BE49-F238E27FC236}">
                <a16:creationId xmlns:a16="http://schemas.microsoft.com/office/drawing/2014/main" id="{1EA370CD-5744-4D9A-BFAA-F20A6F5F4EE9}"/>
              </a:ext>
            </a:extLst>
          </p:cNvPr>
          <p:cNvSpPr>
            <a:spLocks xmlns:a="http://schemas.openxmlformats.org/drawingml/2006/main" noGrp="1"/>
          </p:cNvSpPr>
          <p:nvPr/>
        </p:nvSpPr>
        <p:spPr>
          <a:xfrm xmlns:a="http://schemas.openxmlformats.org/drawingml/2006/main">
            <a:off x="609600" y="5038725"/>
            <a:ext cx="10810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02B"/>
                </a:solidFill>
                <a:latin typeface="Tahoma"/>
                <a:ea typeface="Tahoma"/>
                <a:cs typeface="Tahoma"/>
              </a:defRPr>
            </a:defPPr>
          </a:lstStyle>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ข้อมูลผิด: ปฏิเสธก่อนเขียนฐานข้อมูล</a:t>
            </a:r>
          </a:p>
          <a:p xmlns:a="http://schemas.openxmlformats.org/drawingml/2006/main">
            <a:pPr algn="l">
              <a:defRPr sz="2025" b="0">
                <a:solidFill>
                  <a:srgbClr val="12202B"/>
                </a:solidFill>
                <a:latin typeface="Tahoma"/>
                <a:ea typeface="Tahoma"/>
                <a:cs typeface="Tahoma"/>
              </a:defRPr>
            </a:pPr>
            <a:r>
              <a:rPr sz="2025" b="0">
                <a:solidFill>
                  <a:srgbClr val="12202B"/>
                </a:solidFill>
                <a:latin typeface="Tahoma"/>
                <a:ea typeface="Tahoma"/>
                <a:cs typeface="Tahoma"/>
              </a:rPr>
              <a:t>ข้อผิดพลาด: ส่ง code, message และ request_id ให้ตรวจตามได้</a:t>
            </a:r>
          </a:p>
        </p:txBody>
      </p:sp>
    </p:spTree>
    <p:extLst>
      <p:ext uri="{BB962C8B-B14F-4D97-AF65-F5344CB8AC3E}">
        <p14:creationId xmlns:p14="http://schemas.microsoft.com/office/powerpoint/2010/main" val="501230474"/>
      </p:ext>
    </p:extLst>
  </p:cSld>
</p:sld>
</file>

<file path=ppt/slides/slide1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884803D-E5C0-417D-9636-FE7E63DFA60B}"/>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สิทธิ์และสถานะของงาน</a:t>
            </a:r>
          </a:p>
        </p:txBody>
      </p:sp>
      <p:sp>
        <p:nvSpPr>
          <p:cNvPr id="2" name="">
            <a:extLst xmlns:a="http://schemas.openxmlformats.org/drawingml/2006/main">
              <a:ext uri="{FF2B5EF4-FFF2-40B4-BE49-F238E27FC236}">
                <a16:creationId xmlns:a16="http://schemas.microsoft.com/office/drawing/2014/main" id="{30A5F180-171D-41FA-8763-108AE6783124}"/>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0D337AB8-BC17-4FAD-A79B-E000C3943CF6}"/>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14</a:t>
            </a:r>
          </a:p>
        </p:txBody>
      </p:sp>
      <p:graphicFrame>
        <p:nvGraphicFramePr>
          <p:cNvPr id="4" name="">
            <a:extLst xmlns:a="http://schemas.openxmlformats.org/drawingml/2006/main">
              <a:ext uri="{FF2B5EF4-FFF2-40B4-BE49-F238E27FC236}">
                <a16:creationId xmlns:a16="http://schemas.microsoft.com/office/drawing/2014/main" id="{DD2156DE-7F20-45E0-9BF1-D1383DB66AE1}"/>
              </a:ext>
            </a:extLst>
          </p:cNvPr>
          <p:cNvGraphicFramePr/>
          <p:nvPr/>
        </p:nvGraphicFramePr>
        <p:xfrm>
          <a:off xmlns:a="http://schemas.openxmlformats.org/drawingml/2006/main" x="609600" y="1714500"/>
          <a:ext xmlns:a="http://schemas.openxmlformats.org/drawingml/2006/main" cx="10972800" cy="3038475"/>
        </p:xfrm>
        <a:graphic xmlns:a="http://schemas.openxmlformats.org/drawingml/2006/main">
          <a:graphicData uri="http://schemas.openxmlformats.org/drawingml/2006/table">
            <a:tbl>
              <a:tblPr/>
              <a:tblGrid>
                <a:gridCol w="3962400"/>
                <a:gridCol w="3371850"/>
                <a:gridCol w="3638550"/>
              </a:tblGrid>
              <a:tr h="607695">
                <a:tc>
                  <a:txBody>
                    <a:bodyPr lIns="95250" tIns="95250" rIns="95250" bIns="95250"/>
                    <a:lstStyle/>
                    <a:p>
                      <a:r>
                        <a:rPr sz="1725" b="1">
                          <a:solidFill>
                            <a:srgbClr val="FFFFFF"/>
                          </a:solidFill>
                          <a:latin typeface="Tahoma"/>
                          <a:ea typeface="Tahoma"/>
                          <a:cs typeface="Tahoma"/>
                        </a:rPr>
                        <a:t>การกระทำ</a:t>
                      </a:r>
                    </a:p>
                  </a:txBody>
                  <a:tcPr marL="91440" marR="91440" marT="45720" marB="45720" anchor="ctr">
                    <a:solidFill>
                      <a:srgbClr val="0B8C82"/>
                    </a:solidFill>
                  </a:tcPr>
                </a:tc>
                <a:tc>
                  <a:txBody>
                    <a:bodyPr lIns="95250" tIns="95250" rIns="95250" bIns="95250"/>
                    <a:lstStyle/>
                    <a:p>
                      <a:r>
                        <a:rPr sz="1725" b="1">
                          <a:solidFill>
                            <a:srgbClr val="FFFFFF"/>
                          </a:solidFill>
                          <a:latin typeface="Tahoma"/>
                          <a:ea typeface="Tahoma"/>
                          <a:cs typeface="Tahoma"/>
                        </a:rPr>
                        <a:t>Session ผู้ใช้</a:t>
                      </a:r>
                    </a:p>
                  </a:txBody>
                  <a:tcPr marL="91440" marR="91440" marT="45720" marB="45720" anchor="ctr">
                    <a:solidFill>
                      <a:srgbClr val="0B8C82"/>
                    </a:solidFill>
                  </a:tcPr>
                </a:tc>
                <a:tc>
                  <a:txBody>
                    <a:bodyPr lIns="95250" tIns="95250" rIns="95250" bIns="95250"/>
                    <a:lstStyle/>
                    <a:p>
                      <a:r>
                        <a:rPr sz="1725" b="1">
                          <a:solidFill>
                            <a:srgbClr val="FFFFFF"/>
                          </a:solidFill>
                          <a:latin typeface="Tahoma"/>
                          <a:ea typeface="Tahoma"/>
                          <a:cs typeface="Tahoma"/>
                        </a:rPr>
                        <a:t>API key reminders</a:t>
                      </a:r>
                    </a:p>
                  </a:txBody>
                  <a:tcPr marL="91440" marR="91440" marT="45720" marB="45720" anchor="ctr">
                    <a:solidFill>
                      <a:srgbClr val="0B8C82"/>
                    </a:solidFill>
                  </a:tcPr>
                </a:tc>
              </a:tr>
              <a:tr h="607695">
                <a:tc>
                  <a:txBody>
                    <a:bodyPr lIns="95250" tIns="95250" rIns="95250" bIns="95250"/>
                    <a:lstStyle/>
                    <a:p>
                      <a:r>
                        <a:rPr sz="1725" b="0">
                          <a:solidFill>
                            <a:srgbClr val="12202B"/>
                          </a:solidFill>
                          <a:latin typeface="Tahoma"/>
                          <a:ea typeface="Tahoma"/>
                          <a:cs typeface="Tahoma"/>
                        </a:rPr>
                        <a:t>Tasks CRUD</a:t>
                      </a:r>
                    </a:p>
                  </a:txBody>
                  <a:tcPr marL="91440" marR="91440" marT="45720" marB="45720" anchor="ctr">
                    <a:solidFill>
                      <a:srgbClr val="FFFFFF"/>
                    </a:solidFill>
                  </a:tcPr>
                </a:tc>
                <a:tc>
                  <a:txBody>
                    <a:bodyPr lIns="95250" tIns="95250" rIns="95250" bIns="95250"/>
                    <a:lstStyle/>
                    <a:p>
                      <a:r>
                        <a:rPr sz="1725" b="0">
                          <a:solidFill>
                            <a:srgbClr val="12202B"/>
                          </a:solidFill>
                          <a:latin typeface="Tahoma"/>
                          <a:ea typeface="Tahoma"/>
                          <a:cs typeface="Tahoma"/>
                        </a:rPr>
                        <a:t>งานตัวเอง</a:t>
                      </a:r>
                    </a:p>
                  </a:txBody>
                  <a:tcPr marL="91440" marR="91440" marT="45720" marB="45720" anchor="ctr">
                    <a:solidFill>
                      <a:srgbClr val="FFFFFF"/>
                    </a:solidFill>
                  </a:tcPr>
                </a:tc>
                <a:tc>
                  <a:txBody>
                    <a:bodyPr lIns="95250" tIns="95250" rIns="95250" bIns="95250"/>
                    <a:lstStyle/>
                    <a:p>
                      <a:r>
                        <a:rPr sz="1725" b="0">
                          <a:solidFill>
                            <a:srgbClr val="12202B"/>
                          </a:solidFill>
                          <a:latin typeface="Tahoma"/>
                          <a:ea typeface="Tahoma"/>
                          <a:cs typeface="Tahoma"/>
                        </a:rPr>
                        <a:t>ไม่ได้</a:t>
                      </a:r>
                    </a:p>
                  </a:txBody>
                  <a:tcPr marL="91440" marR="91440" marT="45720" marB="45720" anchor="ctr">
                    <a:solidFill>
                      <a:srgbClr val="FFFFFF"/>
                    </a:solidFill>
                  </a:tcPr>
                </a:tc>
              </a:tr>
              <a:tr h="607695">
                <a:tc>
                  <a:txBody>
                    <a:bodyPr lIns="95250" tIns="95250" rIns="95250" bIns="95250"/>
                    <a:lstStyle/>
                    <a:p>
                      <a:r>
                        <a:rPr sz="1725" b="0">
                          <a:solidFill>
                            <a:srgbClr val="12202B"/>
                          </a:solidFill>
                          <a:latin typeface="Tahoma"/>
                          <a:ea typeface="Tahoma"/>
                          <a:cs typeface="Tahoma"/>
                        </a:rPr>
                        <a:t>สร้าง / revoke key</a:t>
                      </a:r>
                    </a:p>
                  </a:txBody>
                  <a:tcPr marL="91440" marR="91440" marT="45720" marB="45720" anchor="ctr">
                    <a:solidFill>
                      <a:srgbClr val="F4F5F7"/>
                    </a:solidFill>
                  </a:tcPr>
                </a:tc>
                <a:tc>
                  <a:txBody>
                    <a:bodyPr lIns="95250" tIns="95250" rIns="95250" bIns="95250"/>
                    <a:lstStyle/>
                    <a:p>
                      <a:r>
                        <a:rPr sz="1725" b="0">
                          <a:solidFill>
                            <a:srgbClr val="12202B"/>
                          </a:solidFill>
                          <a:latin typeface="Tahoma"/>
                          <a:ea typeface="Tahoma"/>
                          <a:cs typeface="Tahoma"/>
                        </a:rPr>
                        <a:t>key ตัวเอง</a:t>
                      </a:r>
                    </a:p>
                  </a:txBody>
                  <a:tcPr marL="91440" marR="91440" marT="45720" marB="45720" anchor="ctr">
                    <a:solidFill>
                      <a:srgbClr val="F4F5F7"/>
                    </a:solidFill>
                  </a:tcPr>
                </a:tc>
                <a:tc>
                  <a:txBody>
                    <a:bodyPr lIns="95250" tIns="95250" rIns="95250" bIns="95250"/>
                    <a:lstStyle/>
                    <a:p>
                      <a:r>
                        <a:rPr sz="1725" b="0">
                          <a:solidFill>
                            <a:srgbClr val="12202B"/>
                          </a:solidFill>
                          <a:latin typeface="Tahoma"/>
                          <a:ea typeface="Tahoma"/>
                          <a:cs typeface="Tahoma"/>
                        </a:rPr>
                        <a:t>ไม่ได้</a:t>
                      </a:r>
                    </a:p>
                  </a:txBody>
                  <a:tcPr marL="91440" marR="91440" marT="45720" marB="45720" anchor="ctr">
                    <a:solidFill>
                      <a:srgbClr val="F4F5F7"/>
                    </a:solidFill>
                  </a:tcPr>
                </a:tc>
              </a:tr>
              <a:tr h="607695">
                <a:tc>
                  <a:txBody>
                    <a:bodyPr lIns="95250" tIns="95250" rIns="95250" bIns="95250"/>
                    <a:lstStyle/>
                    <a:p>
                      <a:r>
                        <a:rPr sz="1725" b="0">
                          <a:solidFill>
                            <a:srgbClr val="12202B"/>
                          </a:solidFill>
                          <a:latin typeface="Tahoma"/>
                          <a:ea typeface="Tahoma"/>
                          <a:cs typeface="Tahoma"/>
                        </a:rPr>
                        <a:t>อ่าน due-tasks</a:t>
                      </a:r>
                    </a:p>
                  </a:txBody>
                  <a:tcPr marL="91440" marR="91440" marT="45720" marB="45720" anchor="ctr">
                    <a:solidFill>
                      <a:srgbClr val="FFFFFF"/>
                    </a:solidFill>
                  </a:tcPr>
                </a:tc>
                <a:tc>
                  <a:txBody>
                    <a:bodyPr lIns="95250" tIns="95250" rIns="95250" bIns="95250"/>
                    <a:lstStyle/>
                    <a:p>
                      <a:r>
                        <a:rPr sz="1725" b="0">
                          <a:solidFill>
                            <a:srgbClr val="12202B"/>
                          </a:solidFill>
                          <a:latin typeface="Tahoma"/>
                          <a:ea typeface="Tahoma"/>
                          <a:cs typeface="Tahoma"/>
                        </a:rPr>
                        <a:t>Session อย่างเดียวไม่ได้</a:t>
                      </a:r>
                    </a:p>
                  </a:txBody>
                  <a:tcPr marL="91440" marR="91440" marT="45720" marB="45720" anchor="ctr">
                    <a:solidFill>
                      <a:srgbClr val="FFFFFF"/>
                    </a:solidFill>
                  </a:tcPr>
                </a:tc>
                <a:tc>
                  <a:txBody>
                    <a:bodyPr lIns="95250" tIns="95250" rIns="95250" bIns="95250"/>
                    <a:lstStyle/>
                    <a:p>
                      <a:r>
                        <a:rPr sz="1725" b="0">
                          <a:solidFill>
                            <a:srgbClr val="12202B"/>
                          </a:solidFill>
                          <a:latin typeface="Tahoma"/>
                          <a:ea typeface="Tahoma"/>
                          <a:cs typeface="Tahoma"/>
                        </a:rPr>
                        <a:t>งานของเจ้าของ key</a:t>
                      </a:r>
                    </a:p>
                  </a:txBody>
                  <a:tcPr marL="91440" marR="91440" marT="45720" marB="45720" anchor="ctr">
                    <a:solidFill>
                      <a:srgbClr val="FFFFFF"/>
                    </a:solidFill>
                  </a:tcPr>
                </a:tc>
              </a:tr>
              <a:tr h="607695">
                <a:tc>
                  <a:txBody>
                    <a:bodyPr lIns="95250" tIns="95250" rIns="95250" bIns="95250"/>
                    <a:lstStyle/>
                    <a:p>
                      <a:r>
                        <a:rPr sz="1725" b="0">
                          <a:solidFill>
                            <a:srgbClr val="12202B"/>
                          </a:solidFill>
                          <a:latin typeface="Tahoma"/>
                          <a:ea typeface="Tahoma"/>
                          <a:cs typeface="Tahoma"/>
                        </a:rPr>
                        <a:t>บันทึก reminder</a:t>
                      </a:r>
                    </a:p>
                  </a:txBody>
                  <a:tcPr marL="91440" marR="91440" marT="45720" marB="45720" anchor="ctr">
                    <a:solidFill>
                      <a:srgbClr val="F4F5F7"/>
                    </a:solidFill>
                  </a:tcPr>
                </a:tc>
                <a:tc>
                  <a:txBody>
                    <a:bodyPr lIns="95250" tIns="95250" rIns="95250" bIns="95250"/>
                    <a:lstStyle/>
                    <a:p>
                      <a:r>
                        <a:rPr sz="1725" b="0">
                          <a:solidFill>
                            <a:srgbClr val="12202B"/>
                          </a:solidFill>
                          <a:latin typeface="Tahoma"/>
                          <a:ea typeface="Tahoma"/>
                          <a:cs typeface="Tahoma"/>
                        </a:rPr>
                        <a:t>Session อย่างเดียวไม่ได้</a:t>
                      </a:r>
                    </a:p>
                  </a:txBody>
                  <a:tcPr marL="91440" marR="91440" marT="45720" marB="45720" anchor="ctr">
                    <a:solidFill>
                      <a:srgbClr val="F4F5F7"/>
                    </a:solidFill>
                  </a:tcPr>
                </a:tc>
                <a:tc>
                  <a:txBody>
                    <a:bodyPr lIns="95250" tIns="95250" rIns="95250" bIns="95250"/>
                    <a:lstStyle/>
                    <a:p>
                      <a:r>
                        <a:rPr sz="1725" b="0">
                          <a:solidFill>
                            <a:srgbClr val="12202B"/>
                          </a:solidFill>
                          <a:latin typeface="Tahoma"/>
                          <a:ea typeface="Tahoma"/>
                          <a:cs typeface="Tahoma"/>
                        </a:rPr>
                        <a:t>งานของเจ้าของ key</a:t>
                      </a:r>
                    </a:p>
                  </a:txBody>
                  <a:tcPr marL="91440" marR="91440" marT="45720" marB="45720" anchor="ctr">
                    <a:solidFill>
                      <a:srgbClr val="F4F5F7"/>
                    </a:solidFill>
                  </a:tcPr>
                </a:tc>
              </a:tr>
            </a:tbl>
          </a:graphicData>
        </a:graphic>
      </p:graphicFrame>
      <p:sp>
        <p:nvSpPr>
          <p:cNvPr id="5" name="text-3">
            <a:extLst xmlns:a="http://schemas.openxmlformats.org/drawingml/2006/main">
              <a:ext uri="{FF2B5EF4-FFF2-40B4-BE49-F238E27FC236}">
                <a16:creationId xmlns:a16="http://schemas.microsoft.com/office/drawing/2014/main" id="{9159E775-35FE-4164-B13A-654C135C4F8B}"/>
              </a:ext>
            </a:extLst>
          </p:cNvPr>
          <p:cNvSpPr>
            <a:spLocks xmlns:a="http://schemas.openxmlformats.org/drawingml/2006/main" noGrp="1"/>
          </p:cNvSpPr>
          <p:nvPr/>
        </p:nvSpPr>
        <p:spPr>
          <a:xfrm xmlns:a="http://schemas.openxmlformats.org/drawingml/2006/main">
            <a:off x="609600" y="52578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29255"/>
                </a:solidFill>
                <a:latin typeface="Tahoma"/>
                <a:ea typeface="Tahoma"/>
                <a:cs typeface="Tahoma"/>
              </a:defRPr>
            </a:defPPr>
          </a:lstStyle>
          <a:p xmlns:a="http://schemas.openxmlformats.org/drawingml/2006/main">
            <a:pPr algn="l">
              <a:defRPr sz="2250" b="1">
                <a:solidFill>
                  <a:srgbClr val="B29255"/>
                </a:solidFill>
                <a:latin typeface="Tahoma"/>
                <a:ea typeface="Tahoma"/>
                <a:cs typeface="Tahoma"/>
              </a:defRPr>
            </a:pPr>
            <a:r>
              <a:rPr sz="2250" b="1">
                <a:solidFill>
                  <a:srgbClr val="B29255"/>
                </a:solidFill>
                <a:latin typeface="Tahoma"/>
                <a:ea typeface="Tahoma"/>
                <a:cs typeface="Tahoma"/>
              </a:rPr>
              <a:t>pending</a:t>
            </a:r>
          </a:p>
        </p:txBody>
      </p:sp>
      <p:sp>
        <p:nvSpPr>
          <p:cNvPr id="6" name="text-4">
            <a:extLst xmlns:a="http://schemas.openxmlformats.org/drawingml/2006/main">
              <a:ext uri="{FF2B5EF4-FFF2-40B4-BE49-F238E27FC236}">
                <a16:creationId xmlns:a16="http://schemas.microsoft.com/office/drawing/2014/main" id="{9925AA3F-8ECA-4773-996A-429BBE857833}"/>
              </a:ext>
            </a:extLst>
          </p:cNvPr>
          <p:cNvSpPr>
            <a:spLocks xmlns:a="http://schemas.openxmlformats.org/drawingml/2006/main" noGrp="1"/>
          </p:cNvSpPr>
          <p:nvPr/>
        </p:nvSpPr>
        <p:spPr>
          <a:xfrm xmlns:a="http://schemas.openxmlformats.org/drawingml/2006/main">
            <a:off x="4486275" y="52578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8C82"/>
                </a:solidFill>
                <a:latin typeface="Tahoma"/>
                <a:ea typeface="Tahoma"/>
                <a:cs typeface="Tahoma"/>
              </a:defRPr>
            </a:defPPr>
          </a:lstStyle>
          <a:p xmlns:a="http://schemas.openxmlformats.org/drawingml/2006/main">
            <a:pPr algn="l">
              <a:defRPr sz="2250" b="1">
                <a:solidFill>
                  <a:srgbClr val="0B8C82"/>
                </a:solidFill>
                <a:latin typeface="Tahoma"/>
                <a:ea typeface="Tahoma"/>
                <a:cs typeface="Tahoma"/>
              </a:defRPr>
            </a:pPr>
            <a:r>
              <a:rPr sz="2250" b="1">
                <a:solidFill>
                  <a:srgbClr val="0B8C82"/>
                </a:solidFill>
                <a:latin typeface="Tahoma"/>
                <a:ea typeface="Tahoma"/>
                <a:cs typeface="Tahoma"/>
              </a:rPr>
              <a:t>in_progress</a:t>
            </a:r>
          </a:p>
        </p:txBody>
      </p:sp>
      <p:sp>
        <p:nvSpPr>
          <p:cNvPr id="7" name="text-5">
            <a:extLst xmlns:a="http://schemas.openxmlformats.org/drawingml/2006/main">
              <a:ext uri="{FF2B5EF4-FFF2-40B4-BE49-F238E27FC236}">
                <a16:creationId xmlns:a16="http://schemas.microsoft.com/office/drawing/2014/main" id="{20F7ED5A-7059-4834-8631-3298FFDD40C8}"/>
              </a:ext>
            </a:extLst>
          </p:cNvPr>
          <p:cNvSpPr>
            <a:spLocks xmlns:a="http://schemas.openxmlformats.org/drawingml/2006/main" noGrp="1"/>
          </p:cNvSpPr>
          <p:nvPr/>
        </p:nvSpPr>
        <p:spPr>
          <a:xfrm xmlns:a="http://schemas.openxmlformats.org/drawingml/2006/main">
            <a:off x="8562975" y="5257800"/>
            <a:ext cx="2981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8C82"/>
                </a:solidFill>
                <a:latin typeface="Tahoma"/>
                <a:ea typeface="Tahoma"/>
                <a:cs typeface="Tahoma"/>
              </a:defRPr>
            </a:defPPr>
          </a:lstStyle>
          <a:p xmlns:a="http://schemas.openxmlformats.org/drawingml/2006/main">
            <a:pPr algn="l">
              <a:defRPr sz="2250" b="1">
                <a:solidFill>
                  <a:srgbClr val="0B8C82"/>
                </a:solidFill>
                <a:latin typeface="Tahoma"/>
                <a:ea typeface="Tahoma"/>
                <a:cs typeface="Tahoma"/>
              </a:defRPr>
            </a:pPr>
            <a:r>
              <a:rPr sz="2250" b="1">
                <a:solidFill>
                  <a:srgbClr val="0B8C82"/>
                </a:solidFill>
                <a:latin typeface="Tahoma"/>
                <a:ea typeface="Tahoma"/>
                <a:cs typeface="Tahoma"/>
              </a:rPr>
              <a:t>completed</a:t>
            </a:r>
          </a:p>
        </p:txBody>
      </p:sp>
      <p:sp>
        <p:nvSpPr>
          <p:cNvPr id="8" name="text-6">
            <a:extLst xmlns:a="http://schemas.openxmlformats.org/drawingml/2006/main">
              <a:ext uri="{FF2B5EF4-FFF2-40B4-BE49-F238E27FC236}">
                <a16:creationId xmlns:a16="http://schemas.microsoft.com/office/drawing/2014/main" id="{ED08028F-41A2-4890-97C1-297AC2473053}"/>
              </a:ext>
            </a:extLst>
          </p:cNvPr>
          <p:cNvSpPr>
            <a:spLocks xmlns:a="http://schemas.openxmlformats.org/drawingml/2006/main" noGrp="1"/>
          </p:cNvSpPr>
          <p:nvPr/>
        </p:nvSpPr>
        <p:spPr>
          <a:xfrm xmlns:a="http://schemas.openxmlformats.org/drawingml/2006/main">
            <a:off x="609600" y="57912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ยังไม่เริ่ม</a:t>
            </a:r>
          </a:p>
        </p:txBody>
      </p:sp>
      <p:sp>
        <p:nvSpPr>
          <p:cNvPr id="9" name="text-7">
            <a:extLst xmlns:a="http://schemas.openxmlformats.org/drawingml/2006/main">
              <a:ext uri="{FF2B5EF4-FFF2-40B4-BE49-F238E27FC236}">
                <a16:creationId xmlns:a16="http://schemas.microsoft.com/office/drawing/2014/main" id="{65312D41-B59D-434E-8CF9-DB0FD460B7E8}"/>
              </a:ext>
            </a:extLst>
          </p:cNvPr>
          <p:cNvSpPr>
            <a:spLocks xmlns:a="http://schemas.openxmlformats.org/drawingml/2006/main" noGrp="1"/>
          </p:cNvSpPr>
          <p:nvPr/>
        </p:nvSpPr>
        <p:spPr>
          <a:xfrm xmlns:a="http://schemas.openxmlformats.org/drawingml/2006/main">
            <a:off x="4486275" y="57912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กำลังทำ</a:t>
            </a:r>
          </a:p>
        </p:txBody>
      </p:sp>
      <p:sp>
        <p:nvSpPr>
          <p:cNvPr id="10" name="text-8">
            <a:extLst xmlns:a="http://schemas.openxmlformats.org/drawingml/2006/main">
              <a:ext uri="{FF2B5EF4-FFF2-40B4-BE49-F238E27FC236}">
                <a16:creationId xmlns:a16="http://schemas.microsoft.com/office/drawing/2014/main" id="{EC2FFED0-D1A3-4CF0-85D2-493704D59C84}"/>
              </a:ext>
            </a:extLst>
          </p:cNvPr>
          <p:cNvSpPr>
            <a:spLocks xmlns:a="http://schemas.openxmlformats.org/drawingml/2006/main" noGrp="1"/>
          </p:cNvSpPr>
          <p:nvPr/>
        </p:nvSpPr>
        <p:spPr>
          <a:xfrm xmlns:a="http://schemas.openxmlformats.org/drawingml/2006/main">
            <a:off x="8562975" y="5791200"/>
            <a:ext cx="2981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เสร็จแล้ว</a:t>
            </a:r>
          </a:p>
        </p:txBody>
      </p:sp>
    </p:spTree>
    <p:extLst>
      <p:ext uri="{BB962C8B-B14F-4D97-AF65-F5344CB8AC3E}">
        <p14:creationId xmlns:p14="http://schemas.microsoft.com/office/powerpoint/2010/main" val="483879099"/>
      </p:ext>
    </p:extLst>
  </p:cSld>
</p:sld>
</file>

<file path=ppt/slides/slide1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26B31B9-7077-424A-B4BD-7BC2FCED26E7}"/>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API routes และข้อผิดพลาด</a:t>
            </a:r>
          </a:p>
        </p:txBody>
      </p:sp>
      <p:sp>
        <p:nvSpPr>
          <p:cNvPr id="2" name="">
            <a:extLst xmlns:a="http://schemas.openxmlformats.org/drawingml/2006/main">
              <a:ext uri="{FF2B5EF4-FFF2-40B4-BE49-F238E27FC236}">
                <a16:creationId xmlns:a16="http://schemas.microsoft.com/office/drawing/2014/main" id="{2CE9518F-32CD-4BC7-AC4E-DFB639169B43}"/>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3B056B18-E6C4-4ADF-B97F-1C96A3C22CE8}"/>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15</a:t>
            </a:r>
          </a:p>
        </p:txBody>
      </p:sp>
      <p:graphicFrame>
        <p:nvGraphicFramePr>
          <p:cNvPr id="4" name="">
            <a:extLst xmlns:a="http://schemas.openxmlformats.org/drawingml/2006/main">
              <a:ext uri="{FF2B5EF4-FFF2-40B4-BE49-F238E27FC236}">
                <a16:creationId xmlns:a16="http://schemas.microsoft.com/office/drawing/2014/main" id="{0703FF27-C247-49A4-AD65-CE9000DE0652}"/>
              </a:ext>
            </a:extLst>
          </p:cNvPr>
          <p:cNvGraphicFramePr/>
          <p:nvPr/>
        </p:nvGraphicFramePr>
        <p:xfrm>
          <a:off xmlns:a="http://schemas.openxmlformats.org/drawingml/2006/main" x="609600" y="1685925"/>
          <a:ext xmlns:a="http://schemas.openxmlformats.org/drawingml/2006/main" cx="10972800" cy="3448050"/>
        </p:xfrm>
        <a:graphic xmlns:a="http://schemas.openxmlformats.org/drawingml/2006/main">
          <a:graphicData uri="http://schemas.openxmlformats.org/drawingml/2006/table">
            <a:tbl>
              <a:tblPr/>
              <a:tblGrid>
                <a:gridCol w="6972300"/>
                <a:gridCol w="4000500"/>
              </a:tblGrid>
              <a:tr h="492579">
                <a:tc>
                  <a:txBody>
                    <a:bodyPr lIns="95250" tIns="95250" rIns="95250" bIns="95250"/>
                    <a:lstStyle/>
                    <a:p>
                      <a:r>
                        <a:rPr sz="1650" b="1">
                          <a:solidFill>
                            <a:srgbClr val="FFFFFF"/>
                          </a:solidFill>
                          <a:latin typeface="Tahoma"/>
                          <a:ea typeface="Tahoma"/>
                          <a:cs typeface="Tahoma"/>
                        </a:rPr>
                        <a:t>Method / path</a:t>
                      </a:r>
                    </a:p>
                  </a:txBody>
                  <a:tcPr marL="91440" marR="91440" marT="45720" marB="45720" anchor="ctr">
                    <a:solidFill>
                      <a:srgbClr val="0B8C82"/>
                    </a:solidFill>
                  </a:tcPr>
                </a:tc>
                <a:tc>
                  <a:txBody>
                    <a:bodyPr lIns="95250" tIns="95250" rIns="95250" bIns="95250"/>
                    <a:lstStyle/>
                    <a:p>
                      <a:r>
                        <a:rPr sz="1650" b="1">
                          <a:solidFill>
                            <a:srgbClr val="FFFFFF"/>
                          </a:solidFill>
                          <a:latin typeface="Tahoma"/>
                          <a:ea typeface="Tahoma"/>
                          <a:cs typeface="Tahoma"/>
                        </a:rPr>
                        <a:t>หน้าที่</a:t>
                      </a:r>
                    </a:p>
                  </a:txBody>
                  <a:tcPr marL="91440" marR="91440" marT="45720" marB="45720" anchor="ctr">
                    <a:solidFill>
                      <a:srgbClr val="0B8C82"/>
                    </a:solidFill>
                  </a:tcPr>
                </a:tc>
              </a:tr>
              <a:tr h="492579">
                <a:tc>
                  <a:txBody>
                    <a:bodyPr lIns="95250" tIns="95250" rIns="95250" bIns="95250"/>
                    <a:lstStyle/>
                    <a:p>
                      <a:r>
                        <a:rPr sz="1650" b="0">
                          <a:solidFill>
                            <a:srgbClr val="12202B"/>
                          </a:solidFill>
                          <a:latin typeface="Tahoma"/>
                          <a:ea typeface="Tahoma"/>
                          <a:cs typeface="Tahoma"/>
                        </a:rPr>
                        <a:t>POST /api/auth/register, /login</a:t>
                      </a:r>
                    </a:p>
                  </a:txBody>
                  <a:tcPr marL="91440" marR="91440" marT="45720" marB="45720" anchor="ctr">
                    <a:solidFill>
                      <a:srgbClr val="FFFFFF"/>
                    </a:solidFill>
                  </a:tcPr>
                </a:tc>
                <a:tc>
                  <a:txBody>
                    <a:bodyPr lIns="95250" tIns="95250" rIns="95250" bIns="95250"/>
                    <a:lstStyle/>
                    <a:p>
                      <a:r>
                        <a:rPr sz="1650" b="0">
                          <a:solidFill>
                            <a:srgbClr val="12202B"/>
                          </a:solidFill>
                          <a:latin typeface="Tahoma"/>
                          <a:ea typeface="Tahoma"/>
                          <a:cs typeface="Tahoma"/>
                        </a:rPr>
                        <a:t>บัญชีและ session cookie</a:t>
                      </a:r>
                    </a:p>
                  </a:txBody>
                  <a:tcPr marL="91440" marR="91440" marT="45720" marB="45720" anchor="ctr">
                    <a:solidFill>
                      <a:srgbClr val="FFFFFF"/>
                    </a:solidFill>
                  </a:tcPr>
                </a:tc>
              </a:tr>
              <a:tr h="492579">
                <a:tc>
                  <a:txBody>
                    <a:bodyPr lIns="95250" tIns="95250" rIns="95250" bIns="95250"/>
                    <a:lstStyle/>
                    <a:p>
                      <a:r>
                        <a:rPr sz="1650" b="0">
                          <a:solidFill>
                            <a:srgbClr val="12202B"/>
                          </a:solidFill>
                          <a:latin typeface="Tahoma"/>
                          <a:ea typeface="Tahoma"/>
                          <a:cs typeface="Tahoma"/>
                        </a:rPr>
                        <a:t>GET /api/tasks   POST /api/tasks</a:t>
                      </a:r>
                    </a:p>
                  </a:txBody>
                  <a:tcPr marL="91440" marR="91440" marT="45720" marB="45720" anchor="ctr">
                    <a:solidFill>
                      <a:srgbClr val="F4F5F7"/>
                    </a:solidFill>
                  </a:tcPr>
                </a:tc>
                <a:tc>
                  <a:txBody>
                    <a:bodyPr lIns="95250" tIns="95250" rIns="95250" bIns="95250"/>
                    <a:lstStyle/>
                    <a:p>
                      <a:r>
                        <a:rPr sz="1650" b="0">
                          <a:solidFill>
                            <a:srgbClr val="12202B"/>
                          </a:solidFill>
                          <a:latin typeface="Tahoma"/>
                          <a:ea typeface="Tahoma"/>
                          <a:cs typeface="Tahoma"/>
                        </a:rPr>
                        <a:t>รายการ / สร้างงาน</a:t>
                      </a:r>
                    </a:p>
                  </a:txBody>
                  <a:tcPr marL="91440" marR="91440" marT="45720" marB="45720" anchor="ctr">
                    <a:solidFill>
                      <a:srgbClr val="F4F5F7"/>
                    </a:solidFill>
                  </a:tcPr>
                </a:tc>
              </a:tr>
              <a:tr h="492579">
                <a:tc>
                  <a:txBody>
                    <a:bodyPr lIns="95250" tIns="95250" rIns="95250" bIns="95250"/>
                    <a:lstStyle/>
                    <a:p>
                      <a:r>
                        <a:rPr sz="1650" b="0">
                          <a:solidFill>
                            <a:srgbClr val="12202B"/>
                          </a:solidFill>
                          <a:latin typeface="Tahoma"/>
                          <a:ea typeface="Tahoma"/>
                          <a:cs typeface="Tahoma"/>
                        </a:rPr>
                        <a:t>GET, PATCH, DELETE /api/tasks/:id</a:t>
                      </a:r>
                    </a:p>
                  </a:txBody>
                  <a:tcPr marL="91440" marR="91440" marT="45720" marB="45720" anchor="ctr">
                    <a:solidFill>
                      <a:srgbClr val="FFFFFF"/>
                    </a:solidFill>
                  </a:tcPr>
                </a:tc>
                <a:tc>
                  <a:txBody>
                    <a:bodyPr lIns="95250" tIns="95250" rIns="95250" bIns="95250"/>
                    <a:lstStyle/>
                    <a:p>
                      <a:r>
                        <a:rPr sz="1650" b="0">
                          <a:solidFill>
                            <a:srgbClr val="12202B"/>
                          </a:solidFill>
                          <a:latin typeface="Tahoma"/>
                          <a:ea typeface="Tahoma"/>
                          <a:cs typeface="Tahoma"/>
                        </a:rPr>
                        <a:t>อ่าน / แก้ไข / ลบงานตัวเอง</a:t>
                      </a:r>
                    </a:p>
                  </a:txBody>
                  <a:tcPr marL="91440" marR="91440" marT="45720" marB="45720" anchor="ctr">
                    <a:solidFill>
                      <a:srgbClr val="FFFFFF"/>
                    </a:solidFill>
                  </a:tcPr>
                </a:tc>
              </a:tr>
              <a:tr h="492579">
                <a:tc>
                  <a:txBody>
                    <a:bodyPr lIns="95250" tIns="95250" rIns="95250" bIns="95250"/>
                    <a:lstStyle/>
                    <a:p>
                      <a:r>
                        <a:rPr sz="1650" b="0">
                          <a:solidFill>
                            <a:srgbClr val="12202B"/>
                          </a:solidFill>
                          <a:latin typeface="Tahoma"/>
                          <a:ea typeface="Tahoma"/>
                          <a:cs typeface="Tahoma"/>
                        </a:rPr>
                        <a:t>GET, POST /api/keys   DELETE /:id</a:t>
                      </a:r>
                    </a:p>
                  </a:txBody>
                  <a:tcPr marL="91440" marR="91440" marT="45720" marB="45720" anchor="ctr">
                    <a:solidFill>
                      <a:srgbClr val="F4F5F7"/>
                    </a:solidFill>
                  </a:tcPr>
                </a:tc>
                <a:tc>
                  <a:txBody>
                    <a:bodyPr lIns="95250" tIns="95250" rIns="95250" bIns="95250"/>
                    <a:lstStyle/>
                    <a:p>
                      <a:r>
                        <a:rPr sz="1650" b="0">
                          <a:solidFill>
                            <a:srgbClr val="12202B"/>
                          </a:solidFill>
                          <a:latin typeface="Tahoma"/>
                          <a:ea typeface="Tahoma"/>
                          <a:cs typeface="Tahoma"/>
                        </a:rPr>
                        <a:t>list / สร้าง / revoke key</a:t>
                      </a:r>
                    </a:p>
                  </a:txBody>
                  <a:tcPr marL="91440" marR="91440" marT="45720" marB="45720" anchor="ctr">
                    <a:solidFill>
                      <a:srgbClr val="F4F5F7"/>
                    </a:solidFill>
                  </a:tcPr>
                </a:tc>
              </a:tr>
              <a:tr h="492579">
                <a:tc>
                  <a:txBody>
                    <a:bodyPr lIns="95250" tIns="95250" rIns="95250" bIns="95250"/>
                    <a:lstStyle/>
                    <a:p>
                      <a:r>
                        <a:rPr sz="1650" b="0">
                          <a:solidFill>
                            <a:srgbClr val="12202B"/>
                          </a:solidFill>
                          <a:latin typeface="Tahoma"/>
                          <a:ea typeface="Tahoma"/>
                          <a:cs typeface="Tahoma"/>
                        </a:rPr>
                        <a:t>GET /api/integrations/due-tasks</a:t>
                      </a:r>
                    </a:p>
                  </a:txBody>
                  <a:tcPr marL="91440" marR="91440" marT="45720" marB="45720" anchor="ctr">
                    <a:solidFill>
                      <a:srgbClr val="FFFFFF"/>
                    </a:solidFill>
                  </a:tcPr>
                </a:tc>
                <a:tc>
                  <a:txBody>
                    <a:bodyPr lIns="95250" tIns="95250" rIns="95250" bIns="95250"/>
                    <a:lstStyle/>
                    <a:p>
                      <a:r>
                        <a:rPr sz="1650" b="0">
                          <a:solidFill>
                            <a:srgbClr val="12202B"/>
                          </a:solidFill>
                          <a:latin typeface="Tahoma"/>
                          <a:ea typeface="Tahoma"/>
                          <a:cs typeface="Tahoma"/>
                        </a:rPr>
                        <a:t>งานครบกำหนดผ่าน x-api-key</a:t>
                      </a:r>
                    </a:p>
                  </a:txBody>
                  <a:tcPr marL="91440" marR="91440" marT="45720" marB="45720" anchor="ctr">
                    <a:solidFill>
                      <a:srgbClr val="FFFFFF"/>
                    </a:solidFill>
                  </a:tcPr>
                </a:tc>
              </a:tr>
              <a:tr h="492579">
                <a:tc>
                  <a:txBody>
                    <a:bodyPr lIns="95250" tIns="95250" rIns="95250" bIns="95250"/>
                    <a:lstStyle/>
                    <a:p>
                      <a:r>
                        <a:rPr sz="1650" b="0">
                          <a:solidFill>
                            <a:srgbClr val="12202B"/>
                          </a:solidFill>
                          <a:latin typeface="Tahoma"/>
                          <a:ea typeface="Tahoma"/>
                          <a:cs typeface="Tahoma"/>
                        </a:rPr>
                        <a:t>POST /api/integrations/reminders</a:t>
                      </a:r>
                    </a:p>
                  </a:txBody>
                  <a:tcPr marL="91440" marR="91440" marT="45720" marB="45720" anchor="ctr">
                    <a:solidFill>
                      <a:srgbClr val="F4F5F7"/>
                    </a:solidFill>
                  </a:tcPr>
                </a:tc>
                <a:tc>
                  <a:txBody>
                    <a:bodyPr lIns="95250" tIns="95250" rIns="95250" bIns="95250"/>
                    <a:lstStyle/>
                    <a:p>
                      <a:r>
                        <a:rPr sz="1650" b="0">
                          <a:solidFill>
                            <a:srgbClr val="12202B"/>
                          </a:solidFill>
                          <a:latin typeface="Tahoma"/>
                          <a:ea typeface="Tahoma"/>
                          <a:cs typeface="Tahoma"/>
                        </a:rPr>
                        <a:t>บันทึกส่งผ่าน x-api-key</a:t>
                      </a:r>
                    </a:p>
                  </a:txBody>
                  <a:tcPr marL="91440" marR="91440" marT="45720" marB="45720" anchor="ctr">
                    <a:solidFill>
                      <a:srgbClr val="F4F5F7"/>
                    </a:solidFill>
                  </a:tcPr>
                </a:tc>
              </a:tr>
            </a:tbl>
          </a:graphicData>
        </a:graphic>
      </p:graphicFrame>
      <p:sp>
        <p:nvSpPr>
          <p:cNvPr id="5" name="text-3">
            <a:extLst xmlns:a="http://schemas.openxmlformats.org/drawingml/2006/main">
              <a:ext uri="{FF2B5EF4-FFF2-40B4-BE49-F238E27FC236}">
                <a16:creationId xmlns:a16="http://schemas.microsoft.com/office/drawing/2014/main" id="{BF1C41E8-4864-4135-8275-F97031BDB55A}"/>
              </a:ext>
            </a:extLst>
          </p:cNvPr>
          <p:cNvSpPr>
            <a:spLocks xmlns:a="http://schemas.openxmlformats.org/drawingml/2006/main" noGrp="1"/>
          </p:cNvSpPr>
          <p:nvPr/>
        </p:nvSpPr>
        <p:spPr>
          <a:xfrm xmlns:a="http://schemas.openxmlformats.org/drawingml/2006/main">
            <a:off x="609600" y="548640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473"/>
                </a:solidFill>
                <a:latin typeface="Tahoma"/>
                <a:ea typeface="Tahoma"/>
                <a:cs typeface="Tahoma"/>
              </a:defRPr>
            </a:defPPr>
          </a:lstStyle>
          <a:p xmlns:a="http://schemas.openxmlformats.org/drawingml/2006/main">
            <a:pPr algn="l">
              <a:defRPr sz="1800" b="0">
                <a:solidFill>
                  <a:srgbClr val="526473"/>
                </a:solidFill>
                <a:latin typeface="Tahoma"/>
                <a:ea typeface="Tahoma"/>
                <a:cs typeface="Tahoma"/>
              </a:defRPr>
            </a:pPr>
            <a:r>
              <a:rPr sz="1800" b="0">
                <a:solidFill>
                  <a:srgbClr val="526473"/>
                </a:solidFill>
                <a:latin typeface="Tahoma"/>
                <a:ea typeface="Tahoma"/>
                <a:cs typeface="Tahoma"/>
              </a:rPr>
              <a:t>400 ข้อมูลผิด    401 credential    403 Origin    404 ไม่พบ / ผิดเจ้าของ</a:t>
            </a:r>
          </a:p>
          <a:p xmlns:a="http://schemas.openxmlformats.org/drawingml/2006/main">
            <a:pPr algn="l">
              <a:defRPr sz="1800" b="0">
                <a:solidFill>
                  <a:srgbClr val="526473"/>
                </a:solidFill>
                <a:latin typeface="Tahoma"/>
                <a:ea typeface="Tahoma"/>
                <a:cs typeface="Tahoma"/>
              </a:defRPr>
            </a:pPr>
            <a:r>
              <a:rPr sz="1800" b="0">
                <a:solidFill>
                  <a:srgbClr val="526473"/>
                </a:solidFill>
                <a:latin typeface="Tahoma"/>
                <a:ea typeface="Tahoma"/>
                <a:cs typeface="Tahoma"/>
              </a:rPr>
              <a:t>409 ข้อมูลขัดแย้ง    413 body ใหญ่    429 ลองมากไป    500 ระบบผิดพลาด</a:t>
            </a:r>
          </a:p>
        </p:txBody>
      </p:sp>
    </p:spTree>
    <p:extLst>
      <p:ext uri="{BB962C8B-B14F-4D97-AF65-F5344CB8AC3E}">
        <p14:creationId xmlns:p14="http://schemas.microsoft.com/office/powerpoint/2010/main" val="482044474"/>
      </p:ext>
    </p:extLst>
  </p:cSld>
</p:sld>
</file>

<file path=ppt/slides/slide1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BB995DB-1CDE-4823-BFA3-E99FFB8058A6}"/>
              </a:ext>
            </a:extLst>
          </p:cNvPr>
          <p:cNvCxnSpPr>
            <a:stCxn xmlns:a="http://schemas.openxmlformats.org/drawingml/2006/main" id="7" idx="3"/>
            <a:endCxn xmlns:a="http://schemas.openxmlformats.org/drawingml/2006/main" id="8" idx="1"/>
          </p:cNvCxnSpPr>
          <p:nvPr/>
        </p:nvCxnSpPr>
        <p:spPr>
          <a:xfrm xmlns:a="http://schemas.openxmlformats.org/drawingml/2006/main">
            <a:off x="9391650" y="2790825"/>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11" name="">
            <a:extLst xmlns:a="http://schemas.openxmlformats.org/drawingml/2006/main">
              <a:ext uri="{FF2B5EF4-FFF2-40B4-BE49-F238E27FC236}">
                <a16:creationId xmlns:a16="http://schemas.microsoft.com/office/drawing/2014/main" id="{0756453B-B3DB-4F05-97D0-1FAEA8469BE9}"/>
              </a:ext>
            </a:extLst>
          </p:cNvPr>
          <p:cNvCxnSpPr>
            <a:stCxn xmlns:a="http://schemas.openxmlformats.org/drawingml/2006/main" id="6" idx="3"/>
            <a:endCxn xmlns:a="http://schemas.openxmlformats.org/drawingml/2006/main" id="7" idx="1"/>
          </p:cNvCxnSpPr>
          <p:nvPr/>
        </p:nvCxnSpPr>
        <p:spPr>
          <a:xfrm xmlns:a="http://schemas.openxmlformats.org/drawingml/2006/main">
            <a:off x="7124700" y="2790825"/>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10" name="">
            <a:extLst xmlns:a="http://schemas.openxmlformats.org/drawingml/2006/main">
              <a:ext uri="{FF2B5EF4-FFF2-40B4-BE49-F238E27FC236}">
                <a16:creationId xmlns:a16="http://schemas.microsoft.com/office/drawing/2014/main" id="{56CDD489-CE6E-40D8-B577-7DE6F60E4208}"/>
              </a:ext>
            </a:extLst>
          </p:cNvPr>
          <p:cNvCxnSpPr>
            <a:stCxn xmlns:a="http://schemas.openxmlformats.org/drawingml/2006/main" id="5" idx="3"/>
            <a:endCxn xmlns:a="http://schemas.openxmlformats.org/drawingml/2006/main" id="6" idx="1"/>
          </p:cNvCxnSpPr>
          <p:nvPr/>
        </p:nvCxnSpPr>
        <p:spPr>
          <a:xfrm xmlns:a="http://schemas.openxmlformats.org/drawingml/2006/main">
            <a:off x="4857750" y="2790825"/>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cxnSp>
        <p:nvCxnSpPr>
          <p:cNvPr id="9" name="">
            <a:extLst xmlns:a="http://schemas.openxmlformats.org/drawingml/2006/main">
              <a:ext uri="{FF2B5EF4-FFF2-40B4-BE49-F238E27FC236}">
                <a16:creationId xmlns:a16="http://schemas.microsoft.com/office/drawing/2014/main" id="{4A5EA71F-95A0-4340-94DE-AAB83011DA1B}"/>
              </a:ext>
            </a:extLst>
          </p:cNvPr>
          <p:cNvCxnSpPr>
            <a:stCxn xmlns:a="http://schemas.openxmlformats.org/drawingml/2006/main" id="4" idx="3"/>
            <a:endCxn xmlns:a="http://schemas.openxmlformats.org/drawingml/2006/main" id="5" idx="1"/>
          </p:cNvCxnSpPr>
          <p:nvPr/>
        </p:nvCxnSpPr>
        <p:spPr>
          <a:xfrm xmlns:a="http://schemas.openxmlformats.org/drawingml/2006/main">
            <a:off x="2590800" y="2790825"/>
            <a:ext cx="285750"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7" name="text-0">
            <a:extLst xmlns:a="http://schemas.openxmlformats.org/drawingml/2006/main">
              <a:ext uri="{FF2B5EF4-FFF2-40B4-BE49-F238E27FC236}">
                <a16:creationId xmlns:a16="http://schemas.microsoft.com/office/drawing/2014/main" id="{F8DF3C6A-CEEB-4387-A18F-72A141AF78F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n8n workflow แจ้งเตือนรายวัน</a:t>
            </a:r>
          </a:p>
        </p:txBody>
      </p:sp>
      <p:sp>
        <p:nvSpPr>
          <p:cNvPr id="2" name="">
            <a:extLst xmlns:a="http://schemas.openxmlformats.org/drawingml/2006/main">
              <a:ext uri="{FF2B5EF4-FFF2-40B4-BE49-F238E27FC236}">
                <a16:creationId xmlns:a16="http://schemas.microsoft.com/office/drawing/2014/main" id="{73E87A07-7FF0-446C-95F7-46EE1834ECF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074DFABD-3E06-427A-AADF-8326CD8017B6}"/>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16</a:t>
            </a:r>
          </a:p>
        </p:txBody>
      </p:sp>
      <p:sp>
        <p:nvSpPr>
          <p:cNvPr id="4" name="Schedule&#10;07:30 Bangkok">
            <a:extLst xmlns:a="http://schemas.openxmlformats.org/drawingml/2006/main">
              <a:ext uri="{FF2B5EF4-FFF2-40B4-BE49-F238E27FC236}">
                <a16:creationId xmlns:a16="http://schemas.microsoft.com/office/drawing/2014/main" id="{ACF9A10D-F578-42FA-8BB9-3206ADE59A14}"/>
              </a:ext>
            </a:extLst>
          </p:cNvPr>
          <p:cNvSpPr>
            <a:spLocks xmlns:a="http://schemas.openxmlformats.org/drawingml/2006/main" noGrp="1"/>
          </p:cNvSpPr>
          <p:nvPr/>
        </p:nvSpPr>
        <p:spPr>
          <a:xfrm xmlns:a="http://schemas.openxmlformats.org/drawingml/2006/main">
            <a:off x="609600" y="2190750"/>
            <a:ext cx="1981200" cy="12001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Schedule</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07:30 Bangkok</a:t>
            </a:r>
          </a:p>
        </p:txBody>
      </p:sp>
      <p:sp>
        <p:nvSpPr>
          <p:cNvPr id="5" name="HTTP GET&#10;due-tasks">
            <a:extLst xmlns:a="http://schemas.openxmlformats.org/drawingml/2006/main">
              <a:ext uri="{FF2B5EF4-FFF2-40B4-BE49-F238E27FC236}">
                <a16:creationId xmlns:a16="http://schemas.microsoft.com/office/drawing/2014/main" id="{D280458F-C058-4B8E-8EFD-D5DA9EFCEF7D}"/>
              </a:ext>
            </a:extLst>
          </p:cNvPr>
          <p:cNvSpPr>
            <a:spLocks xmlns:a="http://schemas.openxmlformats.org/drawingml/2006/main" noGrp="1"/>
          </p:cNvSpPr>
          <p:nvPr/>
        </p:nvSpPr>
        <p:spPr>
          <a:xfrm xmlns:a="http://schemas.openxmlformats.org/drawingml/2006/main">
            <a:off x="2876550" y="2190750"/>
            <a:ext cx="1981200" cy="12001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HTTP GET</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due-tasks</a:t>
            </a:r>
          </a:p>
        </p:txBody>
      </p:sp>
      <p:sp>
        <p:nvSpPr>
          <p:cNvPr id="6" name="IF&#10;มีงานค้าง">
            <a:extLst xmlns:a="http://schemas.openxmlformats.org/drawingml/2006/main">
              <a:ext uri="{FF2B5EF4-FFF2-40B4-BE49-F238E27FC236}">
                <a16:creationId xmlns:a16="http://schemas.microsoft.com/office/drawing/2014/main" id="{3D6AE9F0-8A4D-4692-B3C8-BB6C49132BA6}"/>
              </a:ext>
            </a:extLst>
          </p:cNvPr>
          <p:cNvSpPr>
            <a:spLocks xmlns:a="http://schemas.openxmlformats.org/drawingml/2006/main" noGrp="1"/>
          </p:cNvSpPr>
          <p:nvPr/>
        </p:nvSpPr>
        <p:spPr>
          <a:xfrm xmlns:a="http://schemas.openxmlformats.org/drawingml/2006/main">
            <a:off x="5143500" y="2190750"/>
            <a:ext cx="1981200" cy="12001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IF</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มีงานค้าง</a:t>
            </a:r>
          </a:p>
        </p:txBody>
      </p:sp>
      <p:sp>
        <p:nvSpPr>
          <p:cNvPr id="7" name="SMTP&#10;Send Email">
            <a:extLst xmlns:a="http://schemas.openxmlformats.org/drawingml/2006/main">
              <a:ext uri="{FF2B5EF4-FFF2-40B4-BE49-F238E27FC236}">
                <a16:creationId xmlns:a16="http://schemas.microsoft.com/office/drawing/2014/main" id="{FDDBC16D-1EB5-4AAA-B1E9-39437C268ED8}"/>
              </a:ext>
            </a:extLst>
          </p:cNvPr>
          <p:cNvSpPr>
            <a:spLocks xmlns:a="http://schemas.openxmlformats.org/drawingml/2006/main" noGrp="1"/>
          </p:cNvSpPr>
          <p:nvPr/>
        </p:nvSpPr>
        <p:spPr>
          <a:xfrm xmlns:a="http://schemas.openxmlformats.org/drawingml/2006/main">
            <a:off x="7410450" y="2190750"/>
            <a:ext cx="1981200" cy="12001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SMTP</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Send Email</a:t>
            </a:r>
          </a:p>
        </p:txBody>
      </p:sp>
      <p:sp>
        <p:nvSpPr>
          <p:cNvPr id="8" name="HTTP POST&#10;record delivery">
            <a:extLst xmlns:a="http://schemas.openxmlformats.org/drawingml/2006/main">
              <a:ext uri="{FF2B5EF4-FFF2-40B4-BE49-F238E27FC236}">
                <a16:creationId xmlns:a16="http://schemas.microsoft.com/office/drawing/2014/main" id="{EDCC4AF6-4BE8-4F2D-8190-5563BC4E8F04}"/>
              </a:ext>
            </a:extLst>
          </p:cNvPr>
          <p:cNvSpPr>
            <a:spLocks xmlns:a="http://schemas.openxmlformats.org/drawingml/2006/main" noGrp="1"/>
          </p:cNvSpPr>
          <p:nvPr/>
        </p:nvSpPr>
        <p:spPr>
          <a:xfrm xmlns:a="http://schemas.openxmlformats.org/drawingml/2006/main">
            <a:off x="9677400" y="2190750"/>
            <a:ext cx="1981200" cy="1200150"/>
          </a:xfrm>
          <a:prstGeom xmlns:a="http://schemas.openxmlformats.org/drawingml/2006/main" prst="rect">
            <a:avLst/>
          </a:prstGeom>
          <a:solidFill xmlns:a="http://schemas.openxmlformats.org/drawingml/2006/main">
            <a:srgbClr val="FFFFFF"/>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725" b="0">
                <a:solidFill>
                  <a:srgbClr val="12202B"/>
                </a:solidFill>
                <a:latin typeface="Tahoma"/>
                <a:ea typeface="Tahoma"/>
                <a:cs typeface="Tahoma"/>
              </a:defRPr>
            </a:defPPr>
          </a:lstStyle>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HTTP POST</a:t>
            </a:r>
          </a:p>
          <a:p xmlns:a="http://schemas.openxmlformats.org/drawingml/2006/main">
            <a:pPr algn="ctr">
              <a:defRPr sz="1725" b="0">
                <a:solidFill>
                  <a:srgbClr val="12202B"/>
                </a:solidFill>
                <a:latin typeface="Tahoma"/>
                <a:ea typeface="Tahoma"/>
                <a:cs typeface="Tahoma"/>
              </a:defRPr>
            </a:pPr>
            <a:r>
              <a:rPr sz="1725" b="0">
                <a:solidFill>
                  <a:srgbClr val="12202B"/>
                </a:solidFill>
                <a:latin typeface="Tahoma"/>
                <a:ea typeface="Tahoma"/>
                <a:cs typeface="Tahoma"/>
              </a:rPr>
              <a:t>record delivery</a:t>
            </a:r>
          </a:p>
        </p:txBody>
      </p:sp>
      <p:sp>
        <p:nvSpPr>
          <p:cNvPr id="13" name="text-12">
            <a:extLst xmlns:a="http://schemas.openxmlformats.org/drawingml/2006/main">
              <a:ext uri="{FF2B5EF4-FFF2-40B4-BE49-F238E27FC236}">
                <a16:creationId xmlns:a16="http://schemas.microsoft.com/office/drawing/2014/main" id="{00B95DBE-587B-4FED-99BD-24FEA4511D73}"/>
              </a:ext>
            </a:extLst>
          </p:cNvPr>
          <p:cNvSpPr>
            <a:spLocks xmlns:a="http://schemas.openxmlformats.org/drawingml/2006/main" noGrp="1"/>
          </p:cNvSpPr>
          <p:nvPr/>
        </p:nvSpPr>
        <p:spPr>
          <a:xfrm xmlns:a="http://schemas.openxmlformats.org/drawingml/2006/main">
            <a:off x="609600" y="41148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8C82"/>
                </a:solidFill>
                <a:latin typeface="Tahoma"/>
                <a:ea typeface="Tahoma"/>
                <a:cs typeface="Tahoma"/>
              </a:defRPr>
            </a:defPPr>
          </a:lstStyle>
          <a:p xmlns:a="http://schemas.openxmlformats.org/drawingml/2006/main">
            <a:pPr algn="l">
              <a:defRPr sz="2325" b="1">
                <a:solidFill>
                  <a:srgbClr val="0B8C82"/>
                </a:solidFill>
                <a:latin typeface="Tahoma"/>
                <a:ea typeface="Tahoma"/>
                <a:cs typeface="Tahoma"/>
              </a:defRPr>
            </a:pPr>
            <a:r>
              <a:rPr sz="2325" b="1">
                <a:solidFill>
                  <a:srgbClr val="0B8C82"/>
                </a:solidFill>
                <a:latin typeface="Tahoma"/>
                <a:ea typeface="Tahoma"/>
                <a:cs typeface="Tahoma"/>
              </a:rPr>
              <a:t>Credential</a:t>
            </a:r>
          </a:p>
        </p:txBody>
      </p:sp>
      <p:sp>
        <p:nvSpPr>
          <p:cNvPr id="14" name="text-13">
            <a:extLst xmlns:a="http://schemas.openxmlformats.org/drawingml/2006/main">
              <a:ext uri="{FF2B5EF4-FFF2-40B4-BE49-F238E27FC236}">
                <a16:creationId xmlns:a16="http://schemas.microsoft.com/office/drawing/2014/main" id="{63AAC57E-B148-40D5-A629-9686E31983BE}"/>
              </a:ext>
            </a:extLst>
          </p:cNvPr>
          <p:cNvSpPr>
            <a:spLocks xmlns:a="http://schemas.openxmlformats.org/drawingml/2006/main" noGrp="1"/>
          </p:cNvSpPr>
          <p:nvPr/>
        </p:nvSpPr>
        <p:spPr>
          <a:xfrm xmlns:a="http://schemas.openxmlformats.org/drawingml/2006/main">
            <a:off x="609600" y="4733925"/>
            <a:ext cx="5286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02B"/>
                </a:solidFill>
                <a:latin typeface="Tahoma"/>
                <a:ea typeface="Tahoma"/>
                <a:cs typeface="Tahoma"/>
              </a:defRPr>
            </a:defPPr>
          </a:lstStyle>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ต้องตั้งค่า API key และ SMTP ของผู้ใช้</a:t>
            </a:r>
          </a:p>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workflow ใช้ API key ของบัญชีเดียว</a:t>
            </a:r>
          </a:p>
        </p:txBody>
      </p:sp>
      <p:sp>
        <p:nvSpPr>
          <p:cNvPr id="15" name="text-14">
            <a:extLst xmlns:a="http://schemas.openxmlformats.org/drawingml/2006/main">
              <a:ext uri="{FF2B5EF4-FFF2-40B4-BE49-F238E27FC236}">
                <a16:creationId xmlns:a16="http://schemas.microsoft.com/office/drawing/2014/main" id="{6F5A0623-AFB3-44D4-BAE2-697401E628AD}"/>
              </a:ext>
            </a:extLst>
          </p:cNvPr>
          <p:cNvSpPr>
            <a:spLocks xmlns:a="http://schemas.openxmlformats.org/drawingml/2006/main" noGrp="1"/>
          </p:cNvSpPr>
          <p:nvPr/>
        </p:nvSpPr>
        <p:spPr>
          <a:xfrm xmlns:a="http://schemas.openxmlformats.org/drawingml/2006/main">
            <a:off x="6686550" y="4114800"/>
            <a:ext cx="454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8C82"/>
                </a:solidFill>
                <a:latin typeface="Tahoma"/>
                <a:ea typeface="Tahoma"/>
                <a:cs typeface="Tahoma"/>
              </a:defRPr>
            </a:defPPr>
          </a:lstStyle>
          <a:p xmlns:a="http://schemas.openxmlformats.org/drawingml/2006/main">
            <a:pPr algn="l">
              <a:defRPr sz="2325" b="1">
                <a:solidFill>
                  <a:srgbClr val="0B8C82"/>
                </a:solidFill>
                <a:latin typeface="Tahoma"/>
                <a:ea typeface="Tahoma"/>
                <a:cs typeface="Tahoma"/>
              </a:defRPr>
            </a:pPr>
            <a:r>
              <a:rPr sz="2325" b="1">
                <a:solidFill>
                  <a:srgbClr val="0B8C82"/>
                </a:solidFill>
                <a:latin typeface="Tahoma"/>
                <a:ea typeface="Tahoma"/>
                <a:cs typeface="Tahoma"/>
              </a:rPr>
              <a:t>ผลที่ตรวจแล้ว</a:t>
            </a:r>
          </a:p>
        </p:txBody>
      </p:sp>
      <p:sp>
        <p:nvSpPr>
          <p:cNvPr id="16" name="text-15">
            <a:extLst xmlns:a="http://schemas.openxmlformats.org/drawingml/2006/main">
              <a:ext uri="{FF2B5EF4-FFF2-40B4-BE49-F238E27FC236}">
                <a16:creationId xmlns:a16="http://schemas.microsoft.com/office/drawing/2014/main" id="{7E4BF310-8C96-4A5C-B94C-035E32E6EE1B}"/>
              </a:ext>
            </a:extLst>
          </p:cNvPr>
          <p:cNvSpPr>
            <a:spLocks xmlns:a="http://schemas.openxmlformats.org/drawingml/2006/main" noGrp="1"/>
          </p:cNvSpPr>
          <p:nvPr/>
        </p:nvSpPr>
        <p:spPr>
          <a:xfrm xmlns:a="http://schemas.openxmlformats.org/drawingml/2006/main">
            <a:off x="6686550" y="4733925"/>
            <a:ext cx="48291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02B"/>
                </a:solidFill>
                <a:latin typeface="Tahoma"/>
                <a:ea typeface="Tahoma"/>
                <a:cs typeface="Tahoma"/>
              </a:defRPr>
            </a:defPPr>
          </a:lstStyle>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ไฟล์และ expression ผ่าน static validation</a:t>
            </a:r>
          </a:p>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ยังไม่ได้ส่งอีเมลจริง</a:t>
            </a:r>
          </a:p>
        </p:txBody>
      </p:sp>
    </p:spTree>
    <p:extLst>
      <p:ext uri="{BB962C8B-B14F-4D97-AF65-F5344CB8AC3E}">
        <p14:creationId xmlns:p14="http://schemas.microsoft.com/office/powerpoint/2010/main" val="514867860"/>
      </p:ext>
    </p:extLst>
  </p:cSld>
</p:sld>
</file>

<file path=ppt/slides/slide17.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FBF14C6F-E048-4F19-90BB-B88DB422D4CD}"/>
              </a:ext>
            </a:extLst>
          </p:cNvPr>
          <p:cNvCxnSpPr>
            <a:stCxn xmlns:a="http://schemas.openxmlformats.org/drawingml/2006/main" id="5" idx="3"/>
            <a:endCxn xmlns:a="http://schemas.openxmlformats.org/drawingml/2006/main" id="6" idx="1"/>
          </p:cNvCxnSpPr>
          <p:nvPr/>
        </p:nvCxnSpPr>
        <p:spPr>
          <a:xfrm xmlns:a="http://schemas.openxmlformats.org/drawingml/2006/main">
            <a:off x="4914900" y="3419475"/>
            <a:ext cx="2371725" cy="0"/>
          </a:xfrm>
          <a:prstGeom xmlns:a="http://schemas.openxmlformats.org/drawingml/2006/main" prst="straightConnector1">
            <a:avLst/>
          </a:prstGeom>
          <a:ln xmlns:a="http://schemas.openxmlformats.org/drawingml/2006/main" w="19050">
            <a:solidFill>
              <a:srgbClr val="0B8C82"/>
            </a:solidFill>
            <a:tailEnd type="arrow" w="med" len="med"/>
          </a:ln>
        </p:spPr>
      </p:cxnSp>
      <p:sp>
        <p:nvSpPr>
          <p:cNvPr id="15" name="text-0">
            <a:extLst xmlns:a="http://schemas.openxmlformats.org/drawingml/2006/main">
              <a:ext uri="{FF2B5EF4-FFF2-40B4-BE49-F238E27FC236}">
                <a16:creationId xmlns:a16="http://schemas.microsoft.com/office/drawing/2014/main" id="{AC92F22F-CAB8-444F-8915-DDC308854A5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การป้องกันแจ้งซ้ำและข้อจำกัด</a:t>
            </a:r>
          </a:p>
        </p:txBody>
      </p:sp>
      <p:sp>
        <p:nvSpPr>
          <p:cNvPr id="2" name="">
            <a:extLst xmlns:a="http://schemas.openxmlformats.org/drawingml/2006/main">
              <a:ext uri="{FF2B5EF4-FFF2-40B4-BE49-F238E27FC236}">
                <a16:creationId xmlns:a16="http://schemas.microsoft.com/office/drawing/2014/main" id="{2D3CC070-588E-4BA9-B85C-BA74C8A030F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5B709805-210F-495F-9E35-9F03C4CB51AF}"/>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17</a:t>
            </a:r>
          </a:p>
        </p:txBody>
      </p:sp>
      <p:sp>
        <p:nvSpPr>
          <p:cNvPr id="4" name="text-3">
            <a:extLst xmlns:a="http://schemas.openxmlformats.org/drawingml/2006/main">
              <a:ext uri="{FF2B5EF4-FFF2-40B4-BE49-F238E27FC236}">
                <a16:creationId xmlns:a16="http://schemas.microsoft.com/office/drawing/2014/main" id="{9CD1F888-CFA9-46B5-9756-E4929197C489}"/>
              </a:ext>
            </a:extLst>
          </p:cNvPr>
          <p:cNvSpPr>
            <a:spLocks xmlns:a="http://schemas.openxmlformats.org/drawingml/2006/main" noGrp="1"/>
          </p:cNvSpPr>
          <p:nvPr/>
        </p:nvSpPr>
        <p:spPr>
          <a:xfrm xmlns:a="http://schemas.openxmlformats.org/drawingml/2006/main">
            <a:off x="609600" y="18192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8C82"/>
                </a:solidFill>
                <a:latin typeface="Tahoma"/>
                <a:ea typeface="Tahoma"/>
                <a:cs typeface="Tahoma"/>
              </a:defRPr>
            </a:defPPr>
          </a:lstStyle>
          <a:p xmlns:a="http://schemas.openxmlformats.org/drawingml/2006/main">
            <a:pPr algn="l">
              <a:defRPr sz="2025" b="1">
                <a:solidFill>
                  <a:srgbClr val="0B8C82"/>
                </a:solidFill>
                <a:latin typeface="Tahoma"/>
                <a:ea typeface="Tahoma"/>
                <a:cs typeface="Tahoma"/>
              </a:defRPr>
            </a:pPr>
            <a:r>
              <a:rPr sz="2025" b="1">
                <a:solidFill>
                  <a:srgbClr val="0B8C82"/>
                </a:solidFill>
                <a:latin typeface="Tahoma"/>
                <a:ea typeface="Tahoma"/>
                <a:cs typeface="Tahoma"/>
              </a:rPr>
              <a:t>UNIQUE(user_id, task_id, notification_date, channel)</a:t>
            </a:r>
          </a:p>
        </p:txBody>
      </p:sp>
      <p:sp>
        <p:nvSpPr>
          <p:cNvPr id="5" name="SMTP สำเร็จ">
            <a:extLst xmlns:a="http://schemas.openxmlformats.org/drawingml/2006/main">
              <a:ext uri="{FF2B5EF4-FFF2-40B4-BE49-F238E27FC236}">
                <a16:creationId xmlns:a16="http://schemas.microsoft.com/office/drawing/2014/main" id="{D22473B6-E35A-46D9-961A-1CECBCC81A3A}"/>
              </a:ext>
            </a:extLst>
          </p:cNvPr>
          <p:cNvSpPr>
            <a:spLocks xmlns:a="http://schemas.openxmlformats.org/drawingml/2006/main" noGrp="1"/>
          </p:cNvSpPr>
          <p:nvPr/>
        </p:nvSpPr>
        <p:spPr>
          <a:xfrm xmlns:a="http://schemas.openxmlformats.org/drawingml/2006/main">
            <a:off x="609600" y="2981325"/>
            <a:ext cx="4305300" cy="8763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SMTP สำเร็จ</a:t>
            </a:r>
          </a:p>
        </p:txBody>
      </p:sp>
      <p:sp>
        <p:nvSpPr>
          <p:cNvPr id="6" name="SQL บันทึก receipt">
            <a:extLst xmlns:a="http://schemas.openxmlformats.org/drawingml/2006/main">
              <a:ext uri="{FF2B5EF4-FFF2-40B4-BE49-F238E27FC236}">
                <a16:creationId xmlns:a16="http://schemas.microsoft.com/office/drawing/2014/main" id="{3BD4F0BD-E45E-46B9-B19E-F0D92B2EAF23}"/>
              </a:ext>
            </a:extLst>
          </p:cNvPr>
          <p:cNvSpPr>
            <a:spLocks xmlns:a="http://schemas.openxmlformats.org/drawingml/2006/main" noGrp="1"/>
          </p:cNvSpPr>
          <p:nvPr/>
        </p:nvSpPr>
        <p:spPr>
          <a:xfrm xmlns:a="http://schemas.openxmlformats.org/drawingml/2006/main">
            <a:off x="7286625" y="2981325"/>
            <a:ext cx="4305300" cy="876300"/>
          </a:xfrm>
          <a:prstGeom xmlns:a="http://schemas.openxmlformats.org/drawingml/2006/main" prst="rect">
            <a:avLst/>
          </a:prstGeom>
          <a:solidFill xmlns:a="http://schemas.openxmlformats.org/drawingml/2006/main">
            <a:srgbClr val="E0F2EE"/>
          </a:solidFill>
          <a:ln xmlns:a="http://schemas.openxmlformats.org/drawingml/2006/main" w="14288">
            <a:solidFill>
              <a:srgbClr val="0B8C82"/>
            </a:solidFill>
          </a:ln>
        </p:spPr>
        <p:txBody>
          <a:bodyPr xmlns:a="http://schemas.openxmlformats.org/drawingml/2006/main" lIns="95250" tIns="95250" rIns="95250" bIns="95250" anchor="ctr"/>
          <a:lstStyle xmlns:a="http://schemas.openxmlformats.org/drawingml/2006/main">
            <a:defPPr algn="ctr">
              <a:defRPr sz="1875" b="0">
                <a:solidFill>
                  <a:srgbClr val="12202B"/>
                </a:solidFill>
                <a:latin typeface="Tahoma"/>
                <a:ea typeface="Tahoma"/>
                <a:cs typeface="Tahoma"/>
              </a:defRPr>
            </a:defPPr>
          </a:lstStyle>
          <a:p xmlns:a="http://schemas.openxmlformats.org/drawingml/2006/main">
            <a:pPr algn="ctr">
              <a:defRPr sz="1875" b="0">
                <a:solidFill>
                  <a:srgbClr val="12202B"/>
                </a:solidFill>
                <a:latin typeface="Tahoma"/>
                <a:ea typeface="Tahoma"/>
                <a:cs typeface="Tahoma"/>
              </a:defRPr>
            </a:pPr>
            <a:r>
              <a:rPr sz="1875" b="0">
                <a:solidFill>
                  <a:srgbClr val="12202B"/>
                </a:solidFill>
                <a:latin typeface="Tahoma"/>
                <a:ea typeface="Tahoma"/>
                <a:cs typeface="Tahoma"/>
              </a:rPr>
              <a:t>SQL บันทึก receipt</a:t>
            </a:r>
          </a:p>
        </p:txBody>
      </p:sp>
      <p:sp>
        <p:nvSpPr>
          <p:cNvPr id="8" name="text-7">
            <a:extLst xmlns:a="http://schemas.openxmlformats.org/drawingml/2006/main">
              <a:ext uri="{FF2B5EF4-FFF2-40B4-BE49-F238E27FC236}">
                <a16:creationId xmlns:a16="http://schemas.microsoft.com/office/drawing/2014/main" id="{407C3CBA-545D-4882-9338-3BCDE956D0CA}"/>
              </a:ext>
            </a:extLst>
          </p:cNvPr>
          <p:cNvSpPr>
            <a:spLocks xmlns:a="http://schemas.openxmlformats.org/drawingml/2006/main" noGrp="1"/>
          </p:cNvSpPr>
          <p:nvPr/>
        </p:nvSpPr>
        <p:spPr>
          <a:xfrm xmlns:a="http://schemas.openxmlformats.org/drawingml/2006/main">
            <a:off x="5010150" y="3933825"/>
            <a:ext cx="2200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29255"/>
                </a:solidFill>
                <a:latin typeface="Tahoma"/>
                <a:ea typeface="Tahoma"/>
                <a:cs typeface="Tahoma"/>
              </a:defRPr>
            </a:defPPr>
          </a:lstStyle>
          <a:p xmlns:a="http://schemas.openxmlformats.org/drawingml/2006/main">
            <a:pPr algn="ctr">
              <a:defRPr sz="1800" b="1">
                <a:solidFill>
                  <a:srgbClr val="B29255"/>
                </a:solidFill>
                <a:latin typeface="Tahoma"/>
                <a:ea typeface="Tahoma"/>
                <a:cs typeface="Tahoma"/>
              </a:defRPr>
            </a:pPr>
            <a:r>
              <a:rPr sz="1800" b="1">
                <a:solidFill>
                  <a:srgbClr val="B29255"/>
                </a:solidFill>
                <a:latin typeface="Tahoma"/>
                <a:ea typeface="Tahoma"/>
                <a:cs typeface="Tahoma"/>
              </a:rPr>
              <a:t>ช่วงที่อาจเกิด crash</a:t>
            </a:r>
          </a:p>
        </p:txBody>
      </p:sp>
      <p:sp>
        <p:nvSpPr>
          <p:cNvPr id="9" name="text-8">
            <a:extLst xmlns:a="http://schemas.openxmlformats.org/drawingml/2006/main">
              <a:ext uri="{FF2B5EF4-FFF2-40B4-BE49-F238E27FC236}">
                <a16:creationId xmlns:a16="http://schemas.microsoft.com/office/drawing/2014/main" id="{B52D8E83-E665-4204-BE86-9023E1EC448F}"/>
              </a:ext>
            </a:extLst>
          </p:cNvPr>
          <p:cNvSpPr>
            <a:spLocks xmlns:a="http://schemas.openxmlformats.org/drawingml/2006/main" noGrp="1"/>
          </p:cNvSpPr>
          <p:nvPr/>
        </p:nvSpPr>
        <p:spPr>
          <a:xfrm xmlns:a="http://schemas.openxmlformats.org/drawingml/2006/main">
            <a:off x="609600" y="442912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01</a:t>
            </a:r>
          </a:p>
        </p:txBody>
      </p:sp>
      <p:sp>
        <p:nvSpPr>
          <p:cNvPr id="10" name="text-9">
            <a:extLst xmlns:a="http://schemas.openxmlformats.org/drawingml/2006/main">
              <a:ext uri="{FF2B5EF4-FFF2-40B4-BE49-F238E27FC236}">
                <a16:creationId xmlns:a16="http://schemas.microsoft.com/office/drawing/2014/main" id="{D68B96FD-1AFC-496B-9FA0-9C3CD4FB6372}"/>
              </a:ext>
            </a:extLst>
          </p:cNvPr>
          <p:cNvSpPr>
            <a:spLocks xmlns:a="http://schemas.openxmlformats.org/drawingml/2006/main" noGrp="1"/>
          </p:cNvSpPr>
          <p:nvPr/>
        </p:nvSpPr>
        <p:spPr>
          <a:xfrm xmlns:a="http://schemas.openxmlformats.org/drawingml/2006/main">
            <a:off x="1238250" y="4429125"/>
            <a:ext cx="1032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GET ข้ามงานที่มี receipt ในวันนั้นแล้ว</a:t>
            </a:r>
          </a:p>
        </p:txBody>
      </p:sp>
      <p:sp>
        <p:nvSpPr>
          <p:cNvPr id="11" name="text-10">
            <a:extLst xmlns:a="http://schemas.openxmlformats.org/drawingml/2006/main">
              <a:ext uri="{FF2B5EF4-FFF2-40B4-BE49-F238E27FC236}">
                <a16:creationId xmlns:a16="http://schemas.microsoft.com/office/drawing/2014/main" id="{7516CFA5-75C1-4C4F-BBB5-58B526CBE452}"/>
              </a:ext>
            </a:extLst>
          </p:cNvPr>
          <p:cNvSpPr>
            <a:spLocks xmlns:a="http://schemas.openxmlformats.org/drawingml/2006/main" noGrp="1"/>
          </p:cNvSpPr>
          <p:nvPr/>
        </p:nvSpPr>
        <p:spPr>
          <a:xfrm xmlns:a="http://schemas.openxmlformats.org/drawingml/2006/main">
            <a:off x="609600" y="5029200"/>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02</a:t>
            </a:r>
          </a:p>
        </p:txBody>
      </p:sp>
      <p:sp>
        <p:nvSpPr>
          <p:cNvPr id="12" name="text-11">
            <a:extLst xmlns:a="http://schemas.openxmlformats.org/drawingml/2006/main">
              <a:ext uri="{FF2B5EF4-FFF2-40B4-BE49-F238E27FC236}">
                <a16:creationId xmlns:a16="http://schemas.microsoft.com/office/drawing/2014/main" id="{650903AF-C69C-4DAB-A42E-097D2F4A03D6}"/>
              </a:ext>
            </a:extLst>
          </p:cNvPr>
          <p:cNvSpPr>
            <a:spLocks xmlns:a="http://schemas.openxmlformats.org/drawingml/2006/main" noGrp="1"/>
          </p:cNvSpPr>
          <p:nvPr/>
        </p:nvSpPr>
        <p:spPr>
          <a:xfrm xmlns:a="http://schemas.openxmlformats.org/drawingml/2006/main">
            <a:off x="1238250" y="5029200"/>
            <a:ext cx="1032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POST ซ้ำไม่สร้าง row ซ้ำ และผิดเจ้าของ rollback ทั้ง batch</a:t>
            </a:r>
          </a:p>
        </p:txBody>
      </p:sp>
      <p:sp>
        <p:nvSpPr>
          <p:cNvPr id="13" name="text-12">
            <a:extLst xmlns:a="http://schemas.openxmlformats.org/drawingml/2006/main">
              <a:ext uri="{FF2B5EF4-FFF2-40B4-BE49-F238E27FC236}">
                <a16:creationId xmlns:a16="http://schemas.microsoft.com/office/drawing/2014/main" id="{5DF597BA-3AE8-46BF-B6C6-5FD3A12D8D73}"/>
              </a:ext>
            </a:extLst>
          </p:cNvPr>
          <p:cNvSpPr>
            <a:spLocks xmlns:a="http://schemas.openxmlformats.org/drawingml/2006/main" noGrp="1"/>
          </p:cNvSpPr>
          <p:nvPr/>
        </p:nvSpPr>
        <p:spPr>
          <a:xfrm xmlns:a="http://schemas.openxmlformats.org/drawingml/2006/main">
            <a:off x="609600" y="56292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03</a:t>
            </a:r>
          </a:p>
        </p:txBody>
      </p:sp>
      <p:sp>
        <p:nvSpPr>
          <p:cNvPr id="14" name="text-13">
            <a:extLst xmlns:a="http://schemas.openxmlformats.org/drawingml/2006/main">
              <a:ext uri="{FF2B5EF4-FFF2-40B4-BE49-F238E27FC236}">
                <a16:creationId xmlns:a16="http://schemas.microsoft.com/office/drawing/2014/main" id="{B2F7EC94-0749-4CC9-B635-F8CDC98C3270}"/>
              </a:ext>
            </a:extLst>
          </p:cNvPr>
          <p:cNvSpPr>
            <a:spLocks xmlns:a="http://schemas.openxmlformats.org/drawingml/2006/main" noGrp="1"/>
          </p:cNvSpPr>
          <p:nvPr/>
        </p:nvSpPr>
        <p:spPr>
          <a:xfrm xmlns:a="http://schemas.openxmlformats.org/drawingml/2006/main">
            <a:off x="1238250" y="5629275"/>
            <a:ext cx="1032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ใช้ workflow เดียวและหลีกเลี่ยงการรันพร้อมกัน</a:t>
            </a:r>
          </a:p>
        </p:txBody>
      </p:sp>
    </p:spTree>
    <p:extLst>
      <p:ext uri="{BB962C8B-B14F-4D97-AF65-F5344CB8AC3E}">
        <p14:creationId xmlns:p14="http://schemas.microsoft.com/office/powerpoint/2010/main" val="386959756"/>
      </p:ext>
    </p:extLst>
  </p:cSld>
</p:sld>
</file>

<file path=ppt/slides/slide18.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03B79688-427E-4414-9CE8-6F653A59EE03}"/>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หลักฐานการทดสอบที่รันจริง</a:t>
            </a:r>
          </a:p>
        </p:txBody>
      </p:sp>
      <p:sp>
        <p:nvSpPr>
          <p:cNvPr id="2" name="">
            <a:extLst xmlns:a="http://schemas.openxmlformats.org/drawingml/2006/main">
              <a:ext uri="{FF2B5EF4-FFF2-40B4-BE49-F238E27FC236}">
                <a16:creationId xmlns:a16="http://schemas.microsoft.com/office/drawing/2014/main" id="{FAE8D8FC-F603-4A9A-853B-2B66583102E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46F8DC01-18B7-4C3C-A4BB-C5CAE95C99BE}"/>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18</a:t>
            </a:r>
          </a:p>
        </p:txBody>
      </p:sp>
      <p:sp>
        <p:nvSpPr>
          <p:cNvPr id="4" name="text-3">
            <a:extLst xmlns:a="http://schemas.openxmlformats.org/drawingml/2006/main">
              <a:ext uri="{FF2B5EF4-FFF2-40B4-BE49-F238E27FC236}">
                <a16:creationId xmlns:a16="http://schemas.microsoft.com/office/drawing/2014/main" id="{9D149A1F-3B56-4667-AD24-E7AC75D14CE5}"/>
              </a:ext>
            </a:extLst>
          </p:cNvPr>
          <p:cNvSpPr>
            <a:spLocks xmlns:a="http://schemas.openxmlformats.org/drawingml/2006/main" noGrp="1"/>
          </p:cNvSpPr>
          <p:nvPr/>
        </p:nvSpPr>
        <p:spPr>
          <a:xfrm xmlns:a="http://schemas.openxmlformats.org/drawingml/2006/main">
            <a:off x="609600" y="1724025"/>
            <a:ext cx="5191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0B8C82"/>
                </a:solidFill>
                <a:latin typeface="Tahoma"/>
                <a:ea typeface="Tahoma"/>
                <a:cs typeface="Tahoma"/>
              </a:defRPr>
            </a:defPPr>
          </a:lstStyle>
          <a:p xmlns:a="http://schemas.openxmlformats.org/drawingml/2006/main">
            <a:pPr algn="l">
              <a:defRPr sz="6150" b="1">
                <a:solidFill>
                  <a:srgbClr val="0B8C82"/>
                </a:solidFill>
                <a:latin typeface="Tahoma"/>
                <a:ea typeface="Tahoma"/>
                <a:cs typeface="Tahoma"/>
              </a:defRPr>
            </a:pPr>
            <a:r>
              <a:rPr sz="6150" b="1">
                <a:solidFill>
                  <a:srgbClr val="0B8C82"/>
                </a:solidFill>
                <a:latin typeface="Tahoma"/>
                <a:ea typeface="Tahoma"/>
                <a:cs typeface="Tahoma"/>
              </a:rPr>
              <a:t>35 / 35</a:t>
            </a:r>
          </a:p>
        </p:txBody>
      </p:sp>
      <p:sp>
        <p:nvSpPr>
          <p:cNvPr id="5" name="text-4">
            <a:extLst xmlns:a="http://schemas.openxmlformats.org/drawingml/2006/main">
              <a:ext uri="{FF2B5EF4-FFF2-40B4-BE49-F238E27FC236}">
                <a16:creationId xmlns:a16="http://schemas.microsoft.com/office/drawing/2014/main" id="{EF09A977-A217-45C2-971E-7AE7034107B5}"/>
              </a:ext>
            </a:extLst>
          </p:cNvPr>
          <p:cNvSpPr>
            <a:spLocks xmlns:a="http://schemas.openxmlformats.org/drawingml/2006/main" noGrp="1"/>
          </p:cNvSpPr>
          <p:nvPr/>
        </p:nvSpPr>
        <p:spPr>
          <a:xfrm xmlns:a="http://schemas.openxmlformats.org/drawingml/2006/main">
            <a:off x="609600" y="293370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202B"/>
                </a:solidFill>
                <a:latin typeface="Tahoma"/>
                <a:ea typeface="Tahoma"/>
                <a:cs typeface="Tahoma"/>
              </a:defRPr>
            </a:defPPr>
          </a:lstStyle>
          <a:p xmlns:a="http://schemas.openxmlformats.org/drawingml/2006/main">
            <a:pPr algn="l">
              <a:defRPr sz="2400" b="1">
                <a:solidFill>
                  <a:srgbClr val="12202B"/>
                </a:solidFill>
                <a:latin typeface="Tahoma"/>
                <a:ea typeface="Tahoma"/>
                <a:cs typeface="Tahoma"/>
              </a:defRPr>
            </a:pPr>
            <a:r>
              <a:rPr sz="2400" b="1">
                <a:solidFill>
                  <a:srgbClr val="12202B"/>
                </a:solidFill>
                <a:latin typeface="Tahoma"/>
                <a:ea typeface="Tahoma"/>
                <a:cs typeface="Tahoma"/>
              </a:rPr>
              <a:t>API tests ผ่าน</a:t>
            </a:r>
          </a:p>
        </p:txBody>
      </p:sp>
      <p:sp>
        <p:nvSpPr>
          <p:cNvPr id="6" name="text-5">
            <a:extLst xmlns:a="http://schemas.openxmlformats.org/drawingml/2006/main">
              <a:ext uri="{FF2B5EF4-FFF2-40B4-BE49-F238E27FC236}">
                <a16:creationId xmlns:a16="http://schemas.microsoft.com/office/drawing/2014/main" id="{5F677FB6-9EFE-4D4F-B426-75EE4562FD18}"/>
              </a:ext>
            </a:extLst>
          </p:cNvPr>
          <p:cNvSpPr>
            <a:spLocks xmlns:a="http://schemas.openxmlformats.org/drawingml/2006/main" noGrp="1"/>
          </p:cNvSpPr>
          <p:nvPr/>
        </p:nvSpPr>
        <p:spPr>
          <a:xfrm xmlns:a="http://schemas.openxmlformats.org/drawingml/2006/main">
            <a:off x="609600" y="3590925"/>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473"/>
                </a:solidFill>
                <a:latin typeface="Tahoma"/>
                <a:ea typeface="Tahoma"/>
                <a:cs typeface="Tahoma"/>
              </a:defRPr>
            </a:defPPr>
          </a:lstStyle>
          <a:p xmlns:a="http://schemas.openxmlformats.org/drawingml/2006/main">
            <a:pPr algn="l">
              <a:defRPr sz="2100" b="0">
                <a:solidFill>
                  <a:srgbClr val="526473"/>
                </a:solidFill>
                <a:latin typeface="Tahoma"/>
                <a:ea typeface="Tahoma"/>
                <a:cs typeface="Tahoma"/>
              </a:defRPr>
            </a:pPr>
            <a:r>
              <a:rPr sz="2100" b="0">
                <a:solidFill>
                  <a:srgbClr val="526473"/>
                </a:solidFill>
                <a:latin typeface="Tahoma"/>
                <a:ea typeface="Tahoma"/>
                <a:cs typeface="Tahoma"/>
              </a:rPr>
              <a:t>Hono request จริง + SQLite in-memory</a:t>
            </a:r>
          </a:p>
        </p:txBody>
      </p:sp>
      <p:sp>
        <p:nvSpPr>
          <p:cNvPr id="7" name="text-6">
            <a:extLst xmlns:a="http://schemas.openxmlformats.org/drawingml/2006/main">
              <a:ext uri="{FF2B5EF4-FFF2-40B4-BE49-F238E27FC236}">
                <a16:creationId xmlns:a16="http://schemas.microsoft.com/office/drawing/2014/main" id="{9EE43585-4CA4-4027-BD39-84DE88B781F1}"/>
              </a:ext>
            </a:extLst>
          </p:cNvPr>
          <p:cNvSpPr>
            <a:spLocks xmlns:a="http://schemas.openxmlformats.org/drawingml/2006/main" noGrp="1"/>
          </p:cNvSpPr>
          <p:nvPr/>
        </p:nvSpPr>
        <p:spPr>
          <a:xfrm xmlns:a="http://schemas.openxmlformats.org/drawingml/2006/main">
            <a:off x="6619875" y="18192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01</a:t>
            </a:r>
          </a:p>
        </p:txBody>
      </p:sp>
      <p:sp>
        <p:nvSpPr>
          <p:cNvPr id="8" name="text-7">
            <a:extLst xmlns:a="http://schemas.openxmlformats.org/drawingml/2006/main">
              <a:ext uri="{FF2B5EF4-FFF2-40B4-BE49-F238E27FC236}">
                <a16:creationId xmlns:a16="http://schemas.microsoft.com/office/drawing/2014/main" id="{A8BFA81E-3661-4196-9E87-B302B5E505AA}"/>
              </a:ext>
            </a:extLst>
          </p:cNvPr>
          <p:cNvSpPr>
            <a:spLocks xmlns:a="http://schemas.openxmlformats.org/drawingml/2006/main" noGrp="1"/>
          </p:cNvSpPr>
          <p:nvPr/>
        </p:nvSpPr>
        <p:spPr>
          <a:xfrm xmlns:a="http://schemas.openxmlformats.org/drawingml/2006/main">
            <a:off x="7248525" y="1819275"/>
            <a:ext cx="4295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02B"/>
                </a:solidFill>
                <a:latin typeface="Tahoma"/>
                <a:ea typeface="Tahoma"/>
                <a:cs typeface="Tahoma"/>
              </a:defRPr>
            </a:defPPr>
          </a:lstStyle>
          <a:p xmlns:a="http://schemas.openxmlformats.org/drawingml/2006/main">
            <a:pPr algn="l">
              <a:defRPr sz="1800" b="0">
                <a:solidFill>
                  <a:srgbClr val="12202B"/>
                </a:solidFill>
                <a:latin typeface="Tahoma"/>
                <a:ea typeface="Tahoma"/>
                <a:cs typeface="Tahoma"/>
              </a:defRPr>
            </a:pPr>
            <a:r>
              <a:rPr sz="1800" b="0">
                <a:solidFill>
                  <a:srgbClr val="12202B"/>
                </a:solidFill>
                <a:latin typeface="Tahoma"/>
                <a:ea typeface="Tahoma"/>
                <a:cs typeface="Tahoma"/>
              </a:rPr>
              <a:t>Auth และ logout replay</a:t>
            </a:r>
          </a:p>
        </p:txBody>
      </p:sp>
      <p:sp>
        <p:nvSpPr>
          <p:cNvPr id="9" name="text-8">
            <a:extLst xmlns:a="http://schemas.openxmlformats.org/drawingml/2006/main">
              <a:ext uri="{FF2B5EF4-FFF2-40B4-BE49-F238E27FC236}">
                <a16:creationId xmlns:a16="http://schemas.microsoft.com/office/drawing/2014/main" id="{67CF144C-2E73-4692-9F6F-A9BE87CCA415}"/>
              </a:ext>
            </a:extLst>
          </p:cNvPr>
          <p:cNvSpPr>
            <a:spLocks xmlns:a="http://schemas.openxmlformats.org/drawingml/2006/main" noGrp="1"/>
          </p:cNvSpPr>
          <p:nvPr/>
        </p:nvSpPr>
        <p:spPr>
          <a:xfrm xmlns:a="http://schemas.openxmlformats.org/drawingml/2006/main">
            <a:off x="6619875" y="25431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02</a:t>
            </a:r>
          </a:p>
        </p:txBody>
      </p:sp>
      <p:sp>
        <p:nvSpPr>
          <p:cNvPr id="10" name="text-9">
            <a:extLst xmlns:a="http://schemas.openxmlformats.org/drawingml/2006/main">
              <a:ext uri="{FF2B5EF4-FFF2-40B4-BE49-F238E27FC236}">
                <a16:creationId xmlns:a16="http://schemas.microsoft.com/office/drawing/2014/main" id="{A2E613E8-634B-4761-8969-150663A36389}"/>
              </a:ext>
            </a:extLst>
          </p:cNvPr>
          <p:cNvSpPr>
            <a:spLocks xmlns:a="http://schemas.openxmlformats.org/drawingml/2006/main" noGrp="1"/>
          </p:cNvSpPr>
          <p:nvPr/>
        </p:nvSpPr>
        <p:spPr>
          <a:xfrm xmlns:a="http://schemas.openxmlformats.org/drawingml/2006/main">
            <a:off x="7248525" y="2543175"/>
            <a:ext cx="4295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02B"/>
                </a:solidFill>
                <a:latin typeface="Tahoma"/>
                <a:ea typeface="Tahoma"/>
                <a:cs typeface="Tahoma"/>
              </a:defRPr>
            </a:defPPr>
          </a:lstStyle>
          <a:p xmlns:a="http://schemas.openxmlformats.org/drawingml/2006/main">
            <a:pPr algn="l">
              <a:defRPr sz="1800" b="0">
                <a:solidFill>
                  <a:srgbClr val="12202B"/>
                </a:solidFill>
                <a:latin typeface="Tahoma"/>
                <a:ea typeface="Tahoma"/>
                <a:cs typeface="Tahoma"/>
              </a:defRPr>
            </a:pPr>
            <a:r>
              <a:rPr sz="1800" b="0">
                <a:solidFill>
                  <a:srgbClr val="12202B"/>
                </a:solidFill>
                <a:latin typeface="Tahoma"/>
                <a:ea typeface="Tahoma"/>
                <a:cs typeface="Tahoma"/>
              </a:rPr>
              <a:t>Ownership และ prepared SQL</a:t>
            </a:r>
          </a:p>
        </p:txBody>
      </p:sp>
      <p:sp>
        <p:nvSpPr>
          <p:cNvPr id="11" name="text-10">
            <a:extLst xmlns:a="http://schemas.openxmlformats.org/drawingml/2006/main">
              <a:ext uri="{FF2B5EF4-FFF2-40B4-BE49-F238E27FC236}">
                <a16:creationId xmlns:a16="http://schemas.microsoft.com/office/drawing/2014/main" id="{771B36B4-40E5-4F36-A5F4-FC54EF0B2BFB}"/>
              </a:ext>
            </a:extLst>
          </p:cNvPr>
          <p:cNvSpPr>
            <a:spLocks xmlns:a="http://schemas.openxmlformats.org/drawingml/2006/main" noGrp="1"/>
          </p:cNvSpPr>
          <p:nvPr/>
        </p:nvSpPr>
        <p:spPr>
          <a:xfrm xmlns:a="http://schemas.openxmlformats.org/drawingml/2006/main">
            <a:off x="6619875" y="32670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03</a:t>
            </a:r>
          </a:p>
        </p:txBody>
      </p:sp>
      <p:sp>
        <p:nvSpPr>
          <p:cNvPr id="12" name="text-11">
            <a:extLst xmlns:a="http://schemas.openxmlformats.org/drawingml/2006/main">
              <a:ext uri="{FF2B5EF4-FFF2-40B4-BE49-F238E27FC236}">
                <a16:creationId xmlns:a16="http://schemas.microsoft.com/office/drawing/2014/main" id="{9A9E4238-C164-496B-8B12-C1612E309FC7}"/>
              </a:ext>
            </a:extLst>
          </p:cNvPr>
          <p:cNvSpPr>
            <a:spLocks xmlns:a="http://schemas.openxmlformats.org/drawingml/2006/main" noGrp="1"/>
          </p:cNvSpPr>
          <p:nvPr/>
        </p:nvSpPr>
        <p:spPr>
          <a:xfrm xmlns:a="http://schemas.openxmlformats.org/drawingml/2006/main">
            <a:off x="7248525" y="3267075"/>
            <a:ext cx="4295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02B"/>
                </a:solidFill>
                <a:latin typeface="Tahoma"/>
                <a:ea typeface="Tahoma"/>
                <a:cs typeface="Tahoma"/>
              </a:defRPr>
            </a:defPPr>
          </a:lstStyle>
          <a:p xmlns:a="http://schemas.openxmlformats.org/drawingml/2006/main">
            <a:pPr algn="l">
              <a:defRPr sz="1800" b="0">
                <a:solidFill>
                  <a:srgbClr val="12202B"/>
                </a:solidFill>
                <a:latin typeface="Tahoma"/>
                <a:ea typeface="Tahoma"/>
                <a:cs typeface="Tahoma"/>
              </a:defRPr>
            </a:pPr>
            <a:r>
              <a:rPr sz="1800" b="0">
                <a:solidFill>
                  <a:srgbClr val="12202B"/>
                </a:solidFill>
                <a:latin typeface="Tahoma"/>
                <a:ea typeface="Tahoma"/>
                <a:cs typeface="Tahoma"/>
              </a:rPr>
              <a:t>Validation และ PATCH รักษาค่าเดิม</a:t>
            </a:r>
          </a:p>
        </p:txBody>
      </p:sp>
      <p:sp>
        <p:nvSpPr>
          <p:cNvPr id="13" name="text-12">
            <a:extLst xmlns:a="http://schemas.openxmlformats.org/drawingml/2006/main">
              <a:ext uri="{FF2B5EF4-FFF2-40B4-BE49-F238E27FC236}">
                <a16:creationId xmlns:a16="http://schemas.microsoft.com/office/drawing/2014/main" id="{B02E359F-9F9D-4040-A3D4-A89FB324911F}"/>
              </a:ext>
            </a:extLst>
          </p:cNvPr>
          <p:cNvSpPr>
            <a:spLocks xmlns:a="http://schemas.openxmlformats.org/drawingml/2006/main" noGrp="1"/>
          </p:cNvSpPr>
          <p:nvPr/>
        </p:nvSpPr>
        <p:spPr>
          <a:xfrm xmlns:a="http://schemas.openxmlformats.org/drawingml/2006/main">
            <a:off x="6619875" y="3990975"/>
            <a:ext cx="495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29255"/>
                </a:solidFill>
                <a:latin typeface="Tahoma"/>
                <a:ea typeface="Tahoma"/>
                <a:cs typeface="Tahoma"/>
              </a:defRPr>
            </a:defPPr>
          </a:lstStyle>
          <a:p xmlns:a="http://schemas.openxmlformats.org/drawingml/2006/main">
            <a:pPr algn="l">
              <a:defRPr sz="2025" b="1">
                <a:solidFill>
                  <a:srgbClr val="B29255"/>
                </a:solidFill>
                <a:latin typeface="Tahoma"/>
                <a:ea typeface="Tahoma"/>
                <a:cs typeface="Tahoma"/>
              </a:defRPr>
            </a:pPr>
            <a:r>
              <a:rPr sz="2025" b="1">
                <a:solidFill>
                  <a:srgbClr val="B29255"/>
                </a:solidFill>
                <a:latin typeface="Tahoma"/>
                <a:ea typeface="Tahoma"/>
                <a:cs typeface="Tahoma"/>
              </a:rPr>
              <a:t>04</a:t>
            </a:r>
          </a:p>
        </p:txBody>
      </p:sp>
      <p:sp>
        <p:nvSpPr>
          <p:cNvPr id="14" name="text-13">
            <a:extLst xmlns:a="http://schemas.openxmlformats.org/drawingml/2006/main">
              <a:ext uri="{FF2B5EF4-FFF2-40B4-BE49-F238E27FC236}">
                <a16:creationId xmlns:a16="http://schemas.microsoft.com/office/drawing/2014/main" id="{BAB3540E-7D51-46DC-AEEE-893545543192}"/>
              </a:ext>
            </a:extLst>
          </p:cNvPr>
          <p:cNvSpPr>
            <a:spLocks xmlns:a="http://schemas.openxmlformats.org/drawingml/2006/main" noGrp="1"/>
          </p:cNvSpPr>
          <p:nvPr/>
        </p:nvSpPr>
        <p:spPr>
          <a:xfrm xmlns:a="http://schemas.openxmlformats.org/drawingml/2006/main">
            <a:off x="7248525" y="3990975"/>
            <a:ext cx="4295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02B"/>
                </a:solidFill>
                <a:latin typeface="Tahoma"/>
                <a:ea typeface="Tahoma"/>
                <a:cs typeface="Tahoma"/>
              </a:defRPr>
            </a:defPPr>
          </a:lstStyle>
          <a:p xmlns:a="http://schemas.openxmlformats.org/drawingml/2006/main">
            <a:pPr algn="l">
              <a:defRPr sz="1800" b="0">
                <a:solidFill>
                  <a:srgbClr val="12202B"/>
                </a:solidFill>
                <a:latin typeface="Tahoma"/>
                <a:ea typeface="Tahoma"/>
                <a:cs typeface="Tahoma"/>
              </a:defRPr>
            </a:pPr>
            <a:r>
              <a:rPr sz="1800" b="0">
                <a:solidFill>
                  <a:srgbClr val="12202B"/>
                </a:solidFill>
                <a:latin typeface="Tahoma"/>
                <a:ea typeface="Tahoma"/>
                <a:cs typeface="Tahoma"/>
              </a:rPr>
              <a:t>Key scope / revoke / reminder dedup</a:t>
            </a:r>
          </a:p>
        </p:txBody>
      </p:sp>
      <p:sp>
        <p:nvSpPr>
          <p:cNvPr id="15" name="">
            <a:extLst xmlns:a="http://schemas.openxmlformats.org/drawingml/2006/main">
              <a:ext uri="{FF2B5EF4-FFF2-40B4-BE49-F238E27FC236}">
                <a16:creationId xmlns:a16="http://schemas.microsoft.com/office/drawing/2014/main" id="{BFEE586F-820E-435D-85D7-EAE32059AA4B}"/>
              </a:ext>
            </a:extLst>
          </p:cNvPr>
          <p:cNvSpPr>
            <a:spLocks xmlns:a="http://schemas.openxmlformats.org/drawingml/2006/main" noGrp="1"/>
          </p:cNvSpPr>
          <p:nvPr/>
        </p:nvSpPr>
        <p:spPr>
          <a:xfrm xmlns:a="http://schemas.openxmlformats.org/drawingml/2006/main">
            <a:off x="609600" y="49339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16" name="text-15">
            <a:extLst xmlns:a="http://schemas.openxmlformats.org/drawingml/2006/main">
              <a:ext uri="{FF2B5EF4-FFF2-40B4-BE49-F238E27FC236}">
                <a16:creationId xmlns:a16="http://schemas.microsoft.com/office/drawing/2014/main" id="{149479AC-B919-4400-A13C-7B96D0AD564B}"/>
              </a:ext>
            </a:extLst>
          </p:cNvPr>
          <p:cNvSpPr>
            <a:spLocks xmlns:a="http://schemas.openxmlformats.org/drawingml/2006/main" noGrp="1"/>
          </p:cNvSpPr>
          <p:nvPr/>
        </p:nvSpPr>
        <p:spPr>
          <a:xfrm xmlns:a="http://schemas.openxmlformats.org/drawingml/2006/main">
            <a:off x="609600" y="5257800"/>
            <a:ext cx="10906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02B"/>
                </a:solidFill>
                <a:latin typeface="Tahoma"/>
                <a:ea typeface="Tahoma"/>
                <a:cs typeface="Tahoma"/>
              </a:defRPr>
            </a:defPPr>
          </a:lstStyle>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Build ผ่าน  /  Browser flow และ responsive ผ่าน</a:t>
            </a:r>
          </a:p>
          <a:p xmlns:a="http://schemas.openxmlformats.org/drawingml/2006/main">
            <a:pPr algn="l">
              <a:defRPr sz="1950" b="0">
                <a:solidFill>
                  <a:srgbClr val="12202B"/>
                </a:solidFill>
                <a:latin typeface="Tahoma"/>
                <a:ea typeface="Tahoma"/>
                <a:cs typeface="Tahoma"/>
              </a:defRPr>
            </a:pPr>
            <a:r>
              <a:rPr sz="1950" b="0">
                <a:solidFill>
                  <a:srgbClr val="12202B"/>
                </a:solidFill>
                <a:latin typeface="Tahoma"/>
                <a:ea typeface="Tahoma"/>
                <a:cs typeface="Tahoma"/>
              </a:rPr>
              <a:t>n8n: static validation ผ่าน ยังไม่ทดสอบส่ง SMTP จริง</a:t>
            </a:r>
          </a:p>
        </p:txBody>
      </p:sp>
    </p:spTree>
    <p:extLst>
      <p:ext uri="{BB962C8B-B14F-4D97-AF65-F5344CB8AC3E}">
        <p14:creationId xmlns:p14="http://schemas.microsoft.com/office/powerpoint/2010/main" val="225291785"/>
      </p:ext>
    </p:extLst>
  </p:cSld>
</p:sld>
</file>

<file path=ppt/slides/slide19.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B733F61-1768-44B5-871A-BBE4584BE0A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Demo และสิ่งที่ต้องเพิ่มก่อนเปิดใช้งาน</a:t>
            </a:r>
          </a:p>
        </p:txBody>
      </p:sp>
      <p:sp>
        <p:nvSpPr>
          <p:cNvPr id="2" name="">
            <a:extLst xmlns:a="http://schemas.openxmlformats.org/drawingml/2006/main">
              <a:ext uri="{FF2B5EF4-FFF2-40B4-BE49-F238E27FC236}">
                <a16:creationId xmlns:a16="http://schemas.microsoft.com/office/drawing/2014/main" id="{5393CE9A-C60E-4D58-B650-1F60A5BFB68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B750631A-CDCA-4E96-B61D-3C1BB977AE79}"/>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19</a:t>
            </a:r>
          </a:p>
        </p:txBody>
      </p:sp>
      <p:sp>
        <p:nvSpPr>
          <p:cNvPr id="4" name="text-3">
            <a:extLst xmlns:a="http://schemas.openxmlformats.org/drawingml/2006/main">
              <a:ext uri="{FF2B5EF4-FFF2-40B4-BE49-F238E27FC236}">
                <a16:creationId xmlns:a16="http://schemas.microsoft.com/office/drawing/2014/main" id="{7B256D51-5A50-424A-AF74-492D9ED3AB5B}"/>
              </a:ext>
            </a:extLst>
          </p:cNvPr>
          <p:cNvSpPr>
            <a:spLocks xmlns:a="http://schemas.openxmlformats.org/drawingml/2006/main" noGrp="1"/>
          </p:cNvSpPr>
          <p:nvPr/>
        </p:nvSpPr>
        <p:spPr>
          <a:xfrm xmlns:a="http://schemas.openxmlformats.org/drawingml/2006/main">
            <a:off x="609600" y="1743075"/>
            <a:ext cx="5200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Demo ที่อธิบายได้</a:t>
            </a:r>
          </a:p>
        </p:txBody>
      </p:sp>
      <p:sp>
        <p:nvSpPr>
          <p:cNvPr id="5" name="text-4">
            <a:extLst xmlns:a="http://schemas.openxmlformats.org/drawingml/2006/main">
              <a:ext uri="{FF2B5EF4-FFF2-40B4-BE49-F238E27FC236}">
                <a16:creationId xmlns:a16="http://schemas.microsoft.com/office/drawing/2014/main" id="{6343B2F1-0186-43D6-9793-A505E8DCD688}"/>
              </a:ext>
            </a:extLst>
          </p:cNvPr>
          <p:cNvSpPr>
            <a:spLocks xmlns:a="http://schemas.openxmlformats.org/drawingml/2006/main" noGrp="1"/>
          </p:cNvSpPr>
          <p:nvPr/>
        </p:nvSpPr>
        <p:spPr>
          <a:xfrm xmlns:a="http://schemas.openxmlformats.org/drawingml/2006/main">
            <a:off x="609600" y="2286000"/>
            <a:ext cx="52006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1  Login และเพิ่มงาน</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2  แก้วัน / สถานะ / ค้นหา</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3  สร้าง key แล้ว GET due-tasks</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4  Revoke และลอง key เดิม</a:t>
            </a:r>
          </a:p>
        </p:txBody>
      </p:sp>
      <p:sp>
        <p:nvSpPr>
          <p:cNvPr id="6" name="text-5">
            <a:extLst xmlns:a="http://schemas.openxmlformats.org/drawingml/2006/main">
              <a:ext uri="{FF2B5EF4-FFF2-40B4-BE49-F238E27FC236}">
                <a16:creationId xmlns:a16="http://schemas.microsoft.com/office/drawing/2014/main" id="{26B59A4C-25BF-4E8D-8512-995D56BC9F89}"/>
              </a:ext>
            </a:extLst>
          </p:cNvPr>
          <p:cNvSpPr>
            <a:spLocks xmlns:a="http://schemas.openxmlformats.org/drawingml/2006/main" noGrp="1"/>
          </p:cNvSpPr>
          <p:nvPr/>
        </p:nvSpPr>
        <p:spPr>
          <a:xfrm xmlns:a="http://schemas.openxmlformats.org/drawingml/2006/main">
            <a:off x="6667500" y="1743075"/>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8C82"/>
                </a:solidFill>
                <a:latin typeface="Tahoma"/>
                <a:ea typeface="Tahoma"/>
                <a:cs typeface="Tahoma"/>
              </a:defRPr>
            </a:defPPr>
          </a:lstStyle>
          <a:p xmlns:a="http://schemas.openxmlformats.org/drawingml/2006/main">
            <a:pPr algn="l">
              <a:defRPr sz="2175" b="1">
                <a:solidFill>
                  <a:srgbClr val="0B8C82"/>
                </a:solidFill>
                <a:latin typeface="Tahoma"/>
                <a:ea typeface="Tahoma"/>
                <a:cs typeface="Tahoma"/>
              </a:defRPr>
            </a:pPr>
            <a:r>
              <a:rPr sz="2175" b="1">
                <a:solidFill>
                  <a:srgbClr val="0B8C82"/>
                </a:solidFill>
                <a:latin typeface="Tahoma"/>
                <a:ea typeface="Tahoma"/>
                <a:cs typeface="Tahoma"/>
              </a:rPr>
              <a:t>ก่อนใช้งานภายนอก</a:t>
            </a:r>
          </a:p>
        </p:txBody>
      </p:sp>
      <p:sp>
        <p:nvSpPr>
          <p:cNvPr id="7" name="text-6">
            <a:extLst xmlns:a="http://schemas.openxmlformats.org/drawingml/2006/main">
              <a:ext uri="{FF2B5EF4-FFF2-40B4-BE49-F238E27FC236}">
                <a16:creationId xmlns:a16="http://schemas.microsoft.com/office/drawing/2014/main" id="{4E899FA0-332D-4CDC-8C6C-6AAB756B93EC}"/>
              </a:ext>
            </a:extLst>
          </p:cNvPr>
          <p:cNvSpPr>
            <a:spLocks xmlns:a="http://schemas.openxmlformats.org/drawingml/2006/main" noGrp="1"/>
          </p:cNvSpPr>
          <p:nvPr/>
        </p:nvSpPr>
        <p:spPr>
          <a:xfrm xmlns:a="http://schemas.openxmlformats.org/drawingml/2006/main">
            <a:off x="6667500" y="2286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02B"/>
                </a:solidFill>
                <a:latin typeface="Tahoma"/>
                <a:ea typeface="Tahoma"/>
                <a:cs typeface="Tahoma"/>
              </a:defRPr>
            </a:defPPr>
          </a:lstStyle>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HTTPS และ secret management</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Backup + restore และ migrations</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Monitoring และทดสอบโหลด</a:t>
            </a:r>
          </a:p>
          <a:p xmlns:a="http://schemas.openxmlformats.org/drawingml/2006/main">
            <a:pPr algn="l">
              <a:defRPr sz="1875" b="0">
                <a:solidFill>
                  <a:srgbClr val="12202B"/>
                </a:solidFill>
                <a:latin typeface="Tahoma"/>
                <a:ea typeface="Tahoma"/>
                <a:cs typeface="Tahoma"/>
              </a:defRPr>
            </a:pPr>
            <a:r>
              <a:rPr sz="1875" b="0">
                <a:solidFill>
                  <a:srgbClr val="12202B"/>
                </a:solidFill>
                <a:latin typeface="Tahoma"/>
                <a:ea typeface="Tahoma"/>
                <a:cs typeface="Tahoma"/>
              </a:rPr>
              <a:t>SMTP จริงกับการ retry ที่เหมาะสม</a:t>
            </a:r>
          </a:p>
        </p:txBody>
      </p:sp>
      <p:sp>
        <p:nvSpPr>
          <p:cNvPr id="8" name="">
            <a:extLst xmlns:a="http://schemas.openxmlformats.org/drawingml/2006/main">
              <a:ext uri="{FF2B5EF4-FFF2-40B4-BE49-F238E27FC236}">
                <a16:creationId xmlns:a16="http://schemas.microsoft.com/office/drawing/2014/main" id="{74CD2361-7317-4985-81D0-B58D599F51F2}"/>
              </a:ext>
            </a:extLst>
          </p:cNvPr>
          <p:cNvSpPr>
            <a:spLocks xmlns:a="http://schemas.openxmlformats.org/drawingml/2006/main" noGrp="1"/>
          </p:cNvSpPr>
          <p:nvPr/>
        </p:nvSpPr>
        <p:spPr>
          <a:xfrm xmlns:a="http://schemas.openxmlformats.org/drawingml/2006/main">
            <a:off x="609600" y="4695825"/>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9" name="text-8">
            <a:extLst xmlns:a="http://schemas.openxmlformats.org/drawingml/2006/main">
              <a:ext uri="{FF2B5EF4-FFF2-40B4-BE49-F238E27FC236}">
                <a16:creationId xmlns:a16="http://schemas.microsoft.com/office/drawing/2014/main" id="{EE778630-7157-487A-8B81-FEB51FAB0B5E}"/>
              </a:ext>
            </a:extLst>
          </p:cNvPr>
          <p:cNvSpPr>
            <a:spLocks xmlns:a="http://schemas.openxmlformats.org/drawingml/2006/main" noGrp="1"/>
          </p:cNvSpPr>
          <p:nvPr/>
        </p:nvSpPr>
        <p:spPr>
          <a:xfrm xmlns:a="http://schemas.openxmlformats.org/drawingml/2006/main">
            <a:off x="609600" y="5029200"/>
            <a:ext cx="1081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473"/>
                </a:solidFill>
                <a:latin typeface="Tahoma"/>
                <a:ea typeface="Tahoma"/>
                <a:cs typeface="Tahoma"/>
              </a:defRPr>
            </a:defPPr>
          </a:lstStyle>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ข้อจำกัดปัจจุบัน: process เดียว  /  SQLite local  /  limiter ใน memory</a:t>
            </a:r>
          </a:p>
          <a:p xmlns:a="http://schemas.openxmlformats.org/drawingml/2006/main">
            <a:pPr algn="l">
              <a:defRPr sz="1875" b="0">
                <a:solidFill>
                  <a:srgbClr val="526473"/>
                </a:solidFill>
                <a:latin typeface="Tahoma"/>
                <a:ea typeface="Tahoma"/>
                <a:cs typeface="Tahoma"/>
              </a:defRPr>
            </a:pPr>
            <a:r>
              <a:rPr sz="1875" b="0">
                <a:solidFill>
                  <a:srgbClr val="526473"/>
                </a:solidFill>
                <a:latin typeface="Tahoma"/>
                <a:ea typeface="Tahoma"/>
                <a:cs typeface="Tahoma"/>
              </a:rPr>
              <a:t>JWT หมดอายุ login ใหม่  /  email และ receipt ไม่ atomic</a:t>
            </a:r>
          </a:p>
        </p:txBody>
      </p:sp>
    </p:spTree>
    <p:extLst>
      <p:ext uri="{BB962C8B-B14F-4D97-AF65-F5344CB8AC3E}">
        <p14:creationId xmlns:p14="http://schemas.microsoft.com/office/powerpoint/2010/main" val="1901871317"/>
      </p:ext>
    </p:extLst>
  </p:cSld>
</p:sld>
</file>

<file path=ppt/slides/slide20.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FB59848-79C5-4E29-9433-9A3EE51EBA2C}"/>
              </a:ext>
            </a:extLst>
          </p:cNvPr>
          <p:cNvSpPr>
            <a:spLocks xmlns:a="http://schemas.openxmlformats.org/drawingml/2006/main" noGrp="1"/>
          </p:cNvSpPr>
          <p:nvPr/>
        </p:nvSpPr>
        <p:spPr>
          <a:xfrm xmlns:a="http://schemas.openxmlformats.org/drawingml/2006/main">
            <a:off x="609600" y="4191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202B"/>
                </a:solidFill>
                <a:latin typeface="Tahoma"/>
                <a:ea typeface="Tahoma"/>
                <a:cs typeface="Tahoma"/>
              </a:defRPr>
            </a:defPPr>
          </a:lstStyle>
          <a:p xmlns:a="http://schemas.openxmlformats.org/drawingml/2006/main">
            <a:pPr algn="l">
              <a:defRPr sz="3150" b="1">
                <a:solidFill>
                  <a:srgbClr val="12202B"/>
                </a:solidFill>
                <a:latin typeface="Tahoma"/>
                <a:ea typeface="Tahoma"/>
                <a:cs typeface="Tahoma"/>
              </a:defRPr>
            </a:pPr>
            <a:r>
              <a:rPr sz="3150" b="1">
                <a:solidFill>
                  <a:srgbClr val="12202B"/>
                </a:solidFill>
                <a:latin typeface="Tahoma"/>
                <a:ea typeface="Tahoma"/>
                <a:cs typeface="Tahoma"/>
              </a:rPr>
              <a:t>หัวใจของระบบและแหล่งศึกษา</a:t>
            </a:r>
          </a:p>
        </p:txBody>
      </p:sp>
      <p:sp>
        <p:nvSpPr>
          <p:cNvPr id="2" name="">
            <a:extLst xmlns:a="http://schemas.openxmlformats.org/drawingml/2006/main">
              <a:ext uri="{FF2B5EF4-FFF2-40B4-BE49-F238E27FC236}">
                <a16:creationId xmlns:a16="http://schemas.microsoft.com/office/drawing/2014/main" id="{961E279A-9CE3-4097-AE9D-E614D8BCFFDD}"/>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4288">
            <a:solidFill>
              <a:srgbClr val="CDD8D9"/>
            </a:solidFill>
          </a:ln>
        </p:spPr>
      </p:sp>
      <p:sp>
        <p:nvSpPr>
          <p:cNvPr id="3" name="text-2">
            <a:extLst xmlns:a="http://schemas.openxmlformats.org/drawingml/2006/main">
              <a:ext uri="{FF2B5EF4-FFF2-40B4-BE49-F238E27FC236}">
                <a16:creationId xmlns:a16="http://schemas.microsoft.com/office/drawing/2014/main" id="{29C6A420-D0C8-47E9-A2F9-E1B5DE14D3E3}"/>
              </a:ext>
            </a:extLst>
          </p:cNvPr>
          <p:cNvSpPr>
            <a:spLocks xmlns:a="http://schemas.openxmlformats.org/drawingml/2006/main" noGrp="1"/>
          </p:cNvSpPr>
          <p:nvPr/>
        </p:nvSpPr>
        <p:spPr>
          <a:xfrm xmlns:a="http://schemas.openxmlformats.org/drawingml/2006/main">
            <a:off x="11239500" y="64579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473"/>
                </a:solidFill>
                <a:latin typeface="Tahoma"/>
                <a:ea typeface="Tahoma"/>
                <a:cs typeface="Tahoma"/>
              </a:defRPr>
            </a:defPPr>
          </a:lstStyle>
          <a:p xmlns:a="http://schemas.openxmlformats.org/drawingml/2006/main">
            <a:pPr algn="r">
              <a:defRPr sz="1200" b="0">
                <a:solidFill>
                  <a:srgbClr val="526473"/>
                </a:solidFill>
                <a:latin typeface="Tahoma"/>
                <a:ea typeface="Tahoma"/>
                <a:cs typeface="Tahoma"/>
              </a:defRPr>
            </a:pPr>
            <a:r>
              <a:rPr sz="1200" b="0">
                <a:solidFill>
                  <a:srgbClr val="526473"/>
                </a:solidFill>
                <a:latin typeface="Tahoma"/>
                <a:ea typeface="Tahoma"/>
                <a:cs typeface="Tahoma"/>
              </a:rPr>
              <a:t>20</a:t>
            </a:r>
          </a:p>
        </p:txBody>
      </p:sp>
      <p:sp>
        <p:nvSpPr>
          <p:cNvPr id="4" name="text-3">
            <a:extLst xmlns:a="http://schemas.openxmlformats.org/drawingml/2006/main">
              <a:ext uri="{FF2B5EF4-FFF2-40B4-BE49-F238E27FC236}">
                <a16:creationId xmlns:a16="http://schemas.microsoft.com/office/drawing/2014/main" id="{50AAEB00-5853-42A5-981A-46374B3D9C64}"/>
              </a:ext>
            </a:extLst>
          </p:cNvPr>
          <p:cNvSpPr>
            <a:spLocks xmlns:a="http://schemas.openxmlformats.org/drawingml/2006/main" noGrp="1"/>
          </p:cNvSpPr>
          <p:nvPr/>
        </p:nvSpPr>
        <p:spPr>
          <a:xfrm xmlns:a="http://schemas.openxmlformats.org/drawingml/2006/main">
            <a:off x="609600" y="1733550"/>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B8C82"/>
                </a:solidFill>
                <a:latin typeface="Tahoma"/>
                <a:ea typeface="Tahoma"/>
                <a:cs typeface="Tahoma"/>
              </a:defRPr>
            </a:defPPr>
          </a:lstStyle>
          <a:p xmlns:a="http://schemas.openxmlformats.org/drawingml/2006/main">
            <a:pPr algn="l">
              <a:defRPr sz="2550" b="1">
                <a:solidFill>
                  <a:srgbClr val="0B8C82"/>
                </a:solidFill>
                <a:latin typeface="Tahoma"/>
                <a:ea typeface="Tahoma"/>
                <a:cs typeface="Tahoma"/>
              </a:defRPr>
            </a:pPr>
            <a:r>
              <a:rPr sz="2550" b="1">
                <a:solidFill>
                  <a:srgbClr val="0B8C82"/>
                </a:solidFill>
                <a:latin typeface="Tahoma"/>
                <a:ea typeface="Tahoma"/>
                <a:cs typeface="Tahoma"/>
              </a:rPr>
              <a:t>รู้ว่าใครเรียก  /  ตรวจว่าเป็นเจ้าของ  /  ตรวจข้อมูลก่อน SQL</a:t>
            </a:r>
          </a:p>
        </p:txBody>
      </p:sp>
      <p:sp>
        <p:nvSpPr>
          <p:cNvPr id="5" name="text-4">
            <a:extLst xmlns:a="http://schemas.openxmlformats.org/drawingml/2006/main">
              <a:ext uri="{FF2B5EF4-FFF2-40B4-BE49-F238E27FC236}">
                <a16:creationId xmlns:a16="http://schemas.microsoft.com/office/drawing/2014/main" id="{7543E082-AEDE-49BD-9D20-66085DCC3DE2}"/>
              </a:ext>
            </a:extLst>
          </p:cNvPr>
          <p:cNvSpPr>
            <a:spLocks xmlns:a="http://schemas.openxmlformats.org/drawingml/2006/main" noGrp="1"/>
          </p:cNvSpPr>
          <p:nvPr/>
        </p:nvSpPr>
        <p:spPr>
          <a:xfrm xmlns:a="http://schemas.openxmlformats.org/drawingml/2006/main">
            <a:off x="609600" y="3143250"/>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02B"/>
                </a:solidFill>
                <a:latin typeface="Tahoma"/>
                <a:ea typeface="Tahoma"/>
                <a:cs typeface="Tahoma"/>
              </a:defRPr>
            </a:defPPr>
          </a:lstStyle>
          <a:p xmlns:a="http://schemas.openxmlformats.org/drawingml/2006/main">
            <a:pPr algn="l">
              <a:defRPr sz="2325" b="1">
                <a:solidFill>
                  <a:srgbClr val="12202B"/>
                </a:solidFill>
                <a:latin typeface="Tahoma"/>
                <a:ea typeface="Tahoma"/>
                <a:cs typeface="Tahoma"/>
              </a:defRPr>
            </a:pPr>
            <a:r>
              <a:rPr sz="2325" b="1">
                <a:solidFill>
                  <a:srgbClr val="12202B"/>
                </a:solidFill>
                <a:latin typeface="Tahoma"/>
                <a:ea typeface="Tahoma"/>
                <a:cs typeface="Tahoma"/>
              </a:rPr>
              <a:t>คำถามที่ต้องตอบได้</a:t>
            </a:r>
          </a:p>
        </p:txBody>
      </p:sp>
      <p:sp>
        <p:nvSpPr>
          <p:cNvPr id="6" name="text-5">
            <a:extLst xmlns:a="http://schemas.openxmlformats.org/drawingml/2006/main">
              <a:ext uri="{FF2B5EF4-FFF2-40B4-BE49-F238E27FC236}">
                <a16:creationId xmlns:a16="http://schemas.microsoft.com/office/drawing/2014/main" id="{CF241565-1309-4CEC-A929-50F3068F8561}"/>
              </a:ext>
            </a:extLst>
          </p:cNvPr>
          <p:cNvSpPr>
            <a:spLocks xmlns:a="http://schemas.openxmlformats.org/drawingml/2006/main" noGrp="1"/>
          </p:cNvSpPr>
          <p:nvPr/>
        </p:nvSpPr>
        <p:spPr>
          <a:xfrm xmlns:a="http://schemas.openxmlformats.org/drawingml/2006/main">
            <a:off x="609600" y="3781425"/>
            <a:ext cx="1095375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02B"/>
                </a:solidFill>
                <a:latin typeface="Tahoma"/>
                <a:ea typeface="Tahoma"/>
                <a:cs typeface="Tahoma"/>
              </a:defRPr>
            </a:defPPr>
          </a:lstStyle>
          <a:p xmlns:a="http://schemas.openxmlformats.org/drawingml/2006/main">
            <a:pPr algn="l">
              <a:defRPr sz="2100" b="0">
                <a:solidFill>
                  <a:srgbClr val="12202B"/>
                </a:solidFill>
                <a:latin typeface="Tahoma"/>
                <a:ea typeface="Tahoma"/>
                <a:cs typeface="Tahoma"/>
              </a:defRPr>
            </a:pPr>
            <a:r>
              <a:rPr sz="2100" b="0">
                <a:solidFill>
                  <a:srgbClr val="12202B"/>
                </a:solidFill>
                <a:latin typeface="Tahoma"/>
                <a:ea typeface="Tahoma"/>
                <a:cs typeface="Tahoma"/>
              </a:rPr>
              <a:t>JWT กับ session ใช้ร่วมกันทำไม?</a:t>
            </a:r>
          </a:p>
          <a:p xmlns:a="http://schemas.openxmlformats.org/drawingml/2006/main">
            <a:pPr algn="l">
              <a:defRPr sz="2100" b="0">
                <a:solidFill>
                  <a:srgbClr val="12202B"/>
                </a:solidFill>
                <a:latin typeface="Tahoma"/>
                <a:ea typeface="Tahoma"/>
                <a:cs typeface="Tahoma"/>
              </a:defRPr>
            </a:pPr>
            <a:r>
              <a:rPr sz="2100" b="0">
                <a:solidFill>
                  <a:srgbClr val="12202B"/>
                </a:solidFill>
                <a:latin typeface="Tahoma"/>
                <a:ea typeface="Tahoma"/>
                <a:cs typeface="Tahoma"/>
              </a:rPr>
              <a:t>Shared types ทำไมยังต้อง validate?</a:t>
            </a:r>
          </a:p>
          <a:p xmlns:a="http://schemas.openxmlformats.org/drawingml/2006/main">
            <a:pPr algn="l">
              <a:defRPr sz="2100" b="0">
                <a:solidFill>
                  <a:srgbClr val="12202B"/>
                </a:solidFill>
                <a:latin typeface="Tahoma"/>
                <a:ea typeface="Tahoma"/>
                <a:cs typeface="Tahoma"/>
              </a:defRPr>
            </a:pPr>
            <a:r>
              <a:rPr sz="2100" b="0">
                <a:solidFill>
                  <a:srgbClr val="12202B"/>
                </a:solidFill>
                <a:latin typeface="Tahoma"/>
                <a:ea typeface="Tahoma"/>
                <a:cs typeface="Tahoma"/>
              </a:rPr>
              <a:t>API key มีสิทธิ์อะไร และ revoke อย่างไร?</a:t>
            </a:r>
          </a:p>
          <a:p xmlns:a="http://schemas.openxmlformats.org/drawingml/2006/main">
            <a:pPr algn="l">
              <a:defRPr sz="2100" b="0">
                <a:solidFill>
                  <a:srgbClr val="12202B"/>
                </a:solidFill>
                <a:latin typeface="Tahoma"/>
                <a:ea typeface="Tahoma"/>
                <a:cs typeface="Tahoma"/>
              </a:defRPr>
            </a:pPr>
            <a:r>
              <a:rPr sz="2100" b="0">
                <a:solidFill>
                  <a:srgbClr val="12202B"/>
                </a:solidFill>
                <a:latin typeface="Tahoma"/>
                <a:ea typeface="Tahoma"/>
                <a:cs typeface="Tahoma"/>
              </a:rPr>
              <a:t>ส่ง email แล้วบันทึกไม่สำเร็จเกิดอะไรขึ้น?</a:t>
            </a:r>
          </a:p>
        </p:txBody>
      </p:sp>
      <p:sp>
        <p:nvSpPr>
          <p:cNvPr id="7" name="text-6">
            <a:extLst xmlns:a="http://schemas.openxmlformats.org/drawingml/2006/main">
              <a:ext uri="{FF2B5EF4-FFF2-40B4-BE49-F238E27FC236}">
                <a16:creationId xmlns:a16="http://schemas.microsoft.com/office/drawing/2014/main" id="{B7313D42-C2F3-4092-A1C0-5D4928104BED}"/>
              </a:ext>
            </a:extLst>
          </p:cNvPr>
          <p:cNvSpPr>
            <a:spLocks xmlns:a="http://schemas.openxmlformats.org/drawingml/2006/main" noGrp="1"/>
          </p:cNvSpPr>
          <p:nvPr/>
        </p:nvSpPr>
        <p:spPr>
          <a:xfrm xmlns:a="http://schemas.openxmlformats.org/drawingml/2006/main">
            <a:off x="609600" y="5838825"/>
            <a:ext cx="1087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473"/>
                </a:solidFill>
                <a:latin typeface="Tahoma"/>
                <a:ea typeface="Tahoma"/>
                <a:cs typeface="Tahoma"/>
              </a:defRPr>
            </a:defPPr>
          </a:lstStyle>
          <a:p xmlns:a="http://schemas.openxmlformats.org/drawingml/2006/main">
            <a:pPr algn="l">
              <a:defRPr sz="1575" b="0">
                <a:solidFill>
                  <a:srgbClr val="526473"/>
                </a:solidFill>
                <a:latin typeface="Tahoma"/>
                <a:ea typeface="Tahoma"/>
                <a:cs typeface="Tahoma"/>
              </a:defRPr>
            </a:pPr>
            <a:r>
              <a:rPr sz="1575" b="0">
                <a:solidFill>
                  <a:srgbClr val="526473"/>
                </a:solidFill>
                <a:latin typeface="Tahoma"/>
                <a:ea typeface="Tahoma"/>
                <a:cs typeface="Tahoma"/>
              </a:rPr>
              <a:t>แหล่งหลัก: วิดีโอทั้งสองและโค้ดผู้สอน</a:t>
            </a:r>
          </a:p>
          <a:p xmlns:a="http://schemas.openxmlformats.org/drawingml/2006/main">
            <a:pPr algn="l">
              <a:defRPr sz="1575" b="0">
                <a:solidFill>
                  <a:srgbClr val="526473"/>
                </a:solidFill>
                <a:latin typeface="Tahoma"/>
                <a:ea typeface="Tahoma"/>
                <a:cs typeface="Tahoma"/>
              </a:defRPr>
            </a:pPr>
            <a:r>
              <a:rPr sz="1575" b="0">
                <a:solidFill>
                  <a:srgbClr val="526473"/>
                </a:solidFill>
                <a:latin typeface="Tahoma"/>
                <a:ea typeface="Tahoma"/>
                <a:cs typeface="Tahoma"/>
              </a:rPr>
              <a:t>เอกสาร Hono, Zod, Node.js, jose, npm, Tailwind และ n8n ใน speaker notes</a:t>
            </a:r>
          </a:p>
        </p:txBody>
      </p:sp>
    </p:spTree>
    <p:extLst>
      <p:ext uri="{BB962C8B-B14F-4D97-AF65-F5344CB8AC3E}">
        <p14:creationId xmlns:p14="http://schemas.microsoft.com/office/powerpoint/2010/main" val="624944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2026-10-13T14:36:40.8820000Z</dcterms:created>
  <dcterms:modified xsi:type="dcterms:W3CDTF">2026-10-13T14:36:40.8820000Z</dcterms:modified>
</coreProperties>
</file>