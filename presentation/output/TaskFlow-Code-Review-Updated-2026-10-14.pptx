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9476f0745a4859" /><Relationship Type="http://schemas.openxmlformats.org/officeDocument/2006/relationships/extended-properties" Target="/docProps/app.xml" Id="Re3e654acf2e144e6" /><Relationship Type="http://schemas.openxmlformats.org/officeDocument/2006/relationships/officeDocument" Target="/ppt/presentation.xml" Id="R36ceecf2e46549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4702f5e15d4f30"/>
  </p:sldMasterIdLst>
  <p:notesMasterIdLst>
    <p:notesMasterId xmlns:r="http://schemas.openxmlformats.org/officeDocument/2006/relationships" r:id="R1a543366adfc46e3"/>
  </p:notesMasterIdLst>
  <p:sldIdLst>
    <p:sldId xmlns:r="http://schemas.openxmlformats.org/officeDocument/2006/relationships" id="256" r:id="R750816f9f8974bc9"/>
    <p:sldId xmlns:r="http://schemas.openxmlformats.org/officeDocument/2006/relationships" id="257" r:id="R2b2a15a36ec644ac"/>
    <p:sldId xmlns:r="http://schemas.openxmlformats.org/officeDocument/2006/relationships" id="258" r:id="R9c0f303cd50e4f1a"/>
    <p:sldId xmlns:r="http://schemas.openxmlformats.org/officeDocument/2006/relationships" id="259" r:id="R3c978f092cc94b1f"/>
    <p:sldId xmlns:r="http://schemas.openxmlformats.org/officeDocument/2006/relationships" id="260" r:id="R1dd88bc30e1b4e1f"/>
    <p:sldId xmlns:r="http://schemas.openxmlformats.org/officeDocument/2006/relationships" id="261" r:id="R3db3471b57314f6a"/>
    <p:sldId xmlns:r="http://schemas.openxmlformats.org/officeDocument/2006/relationships" id="262" r:id="Reb97ad6f6677469b"/>
    <p:sldId xmlns:r="http://schemas.openxmlformats.org/officeDocument/2006/relationships" id="263" r:id="Ra3360a9c01d64237"/>
    <p:sldId xmlns:r="http://schemas.openxmlformats.org/officeDocument/2006/relationships" id="264" r:id="R8fab09e0f48f44f0"/>
    <p:sldId xmlns:r="http://schemas.openxmlformats.org/officeDocument/2006/relationships" id="265" r:id="R1b2e011925ee4a26"/>
    <p:sldId xmlns:r="http://schemas.openxmlformats.org/officeDocument/2006/relationships" id="266" r:id="Rc5c1f865b6994a34"/>
    <p:sldId xmlns:r="http://schemas.openxmlformats.org/officeDocument/2006/relationships" id="267" r:id="Rc3d10d97c4844d76"/>
    <p:sldId xmlns:r="http://schemas.openxmlformats.org/officeDocument/2006/relationships" id="268" r:id="R16b9b20860c14e65"/>
    <p:sldId xmlns:r="http://schemas.openxmlformats.org/officeDocument/2006/relationships" id="269" r:id="Reeeddb503df041cd"/>
    <p:sldId xmlns:r="http://schemas.openxmlformats.org/officeDocument/2006/relationships" id="270" r:id="R0dc26ddc51b34394"/>
    <p:sldId xmlns:r="http://schemas.openxmlformats.org/officeDocument/2006/relationships" id="271" r:id="Rb67e4b11ce834283"/>
    <p:sldId xmlns:r="http://schemas.openxmlformats.org/officeDocument/2006/relationships" id="272" r:id="R8d163d4e1a2b4a87"/>
    <p:sldId xmlns:r="http://schemas.openxmlformats.org/officeDocument/2006/relationships" id="273" r:id="Rbf4b990e70fe4530"/>
    <p:sldId xmlns:r="http://schemas.openxmlformats.org/officeDocument/2006/relationships" id="274" r:id="R0920954226074346"/>
    <p:sldId xmlns:r="http://schemas.openxmlformats.org/officeDocument/2006/relationships" id="275" r:id="R3963a4b4c9a74e0e"/>
    <p:sldId xmlns:r="http://schemas.openxmlformats.org/officeDocument/2006/relationships" id="276" r:id="Rd9488f119d4b4cb7"/>
    <p:sldId xmlns:r="http://schemas.openxmlformats.org/officeDocument/2006/relationships" id="277" r:id="R229d24ed4db94637"/>
    <p:sldId xmlns:r="http://schemas.openxmlformats.org/officeDocument/2006/relationships" id="278" r:id="Rd7831cd8eb5c4651"/>
    <p:sldId xmlns:r="http://schemas.openxmlformats.org/officeDocument/2006/relationships" id="279" r:id="Rd38c56bec6074e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b6fd2a88684f46" /><Relationship Type="http://schemas.openxmlformats.org/officeDocument/2006/relationships/slideMaster" Target="/ppt/slideMasters/slideMaster1.xml" Id="R114702f5e15d4f30" /><Relationship Type="http://schemas.openxmlformats.org/officeDocument/2006/relationships/notesMaster" Target="/ppt/notesMasters/notesMaster1.xml" Id="R1a543366adfc46e3" /><Relationship Type="http://schemas.openxmlformats.org/officeDocument/2006/relationships/presProps" Target="/ppt/presProps.xml" Id="Rb981a45fe5b34597" /><Relationship Type="http://schemas.openxmlformats.org/officeDocument/2006/relationships/tableStyles" Target="/ppt/tableStyles.xml" Id="R233f5d2d28e746ef" /><Relationship Type="http://schemas.openxmlformats.org/officeDocument/2006/relationships/slide" Target="/ppt/slides/slide1.xml" Id="R750816f9f8974bc9" /><Relationship Type="http://schemas.openxmlformats.org/officeDocument/2006/relationships/slide" Target="/ppt/slides/slide2.xml" Id="R2b2a15a36ec644ac" /><Relationship Type="http://schemas.openxmlformats.org/officeDocument/2006/relationships/slide" Target="/ppt/slides/slide3.xml" Id="R9c0f303cd50e4f1a" /><Relationship Type="http://schemas.openxmlformats.org/officeDocument/2006/relationships/slide" Target="/ppt/slides/slide4.xml" Id="R3c978f092cc94b1f" /><Relationship Type="http://schemas.openxmlformats.org/officeDocument/2006/relationships/slide" Target="/ppt/slides/slide5.xml" Id="R1dd88bc30e1b4e1f" /><Relationship Type="http://schemas.openxmlformats.org/officeDocument/2006/relationships/slide" Target="/ppt/slides/slide6.xml" Id="R3db3471b57314f6a" /><Relationship Type="http://schemas.openxmlformats.org/officeDocument/2006/relationships/slide" Target="/ppt/slides/slide7.xml" Id="Reb97ad6f6677469b" /><Relationship Type="http://schemas.openxmlformats.org/officeDocument/2006/relationships/slide" Target="/ppt/slides/slide8.xml" Id="Ra3360a9c01d64237" /><Relationship Type="http://schemas.openxmlformats.org/officeDocument/2006/relationships/slide" Target="/ppt/slides/slide9.xml" Id="R8fab09e0f48f44f0" /><Relationship Type="http://schemas.openxmlformats.org/officeDocument/2006/relationships/slide" Target="/ppt/slides/slide10.xml" Id="R1b2e011925ee4a26" /><Relationship Type="http://schemas.openxmlformats.org/officeDocument/2006/relationships/slide" Target="/ppt/slides/slide11.xml" Id="Rc5c1f865b6994a34" /><Relationship Type="http://schemas.openxmlformats.org/officeDocument/2006/relationships/slide" Target="/ppt/slides/slide12.xml" Id="Rc3d10d97c4844d76" /><Relationship Type="http://schemas.openxmlformats.org/officeDocument/2006/relationships/slide" Target="/ppt/slides/slide13.xml" Id="R16b9b20860c14e65" /><Relationship Type="http://schemas.openxmlformats.org/officeDocument/2006/relationships/slide" Target="/ppt/slides/slide14.xml" Id="Reeeddb503df041cd" /><Relationship Type="http://schemas.openxmlformats.org/officeDocument/2006/relationships/slide" Target="/ppt/slides/slide15.xml" Id="R0dc26ddc51b34394" /><Relationship Type="http://schemas.openxmlformats.org/officeDocument/2006/relationships/slide" Target="/ppt/slides/slide16.xml" Id="Rb67e4b11ce834283" /><Relationship Type="http://schemas.openxmlformats.org/officeDocument/2006/relationships/slide" Target="/ppt/slides/slide17.xml" Id="R8d163d4e1a2b4a87" /><Relationship Type="http://schemas.openxmlformats.org/officeDocument/2006/relationships/slide" Target="/ppt/slides/slide18.xml" Id="Rbf4b990e70fe4530" /><Relationship Type="http://schemas.openxmlformats.org/officeDocument/2006/relationships/slide" Target="/ppt/slides/slide19.xml" Id="R0920954226074346" /><Relationship Type="http://schemas.openxmlformats.org/officeDocument/2006/relationships/slide" Target="/ppt/slides/slide20.xml" Id="R3963a4b4c9a74e0e" /><Relationship Type="http://schemas.openxmlformats.org/officeDocument/2006/relationships/slide" Target="/ppt/slides/slide21.xml" Id="Rd9488f119d4b4cb7" /><Relationship Type="http://schemas.openxmlformats.org/officeDocument/2006/relationships/slide" Target="/ppt/slides/slide22.xml" Id="R229d24ed4db94637" /><Relationship Type="http://schemas.openxmlformats.org/officeDocument/2006/relationships/slide" Target="/ppt/slides/slide23.xml" Id="Rd7831cd8eb5c4651" /><Relationship Type="http://schemas.openxmlformats.org/officeDocument/2006/relationships/slide" Target="/ppt/slides/slide24.xml" Id="Rd38c56bec6074e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ef98abcb7b46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10a8b8d60441e0" /><Relationship Type="http://schemas.openxmlformats.org/officeDocument/2006/relationships/notesMaster" Target="/ppt/notesMasters/notesMaster1.xml" Id="R09bd7704416441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6e9087e97843b2" /><Relationship Type="http://schemas.openxmlformats.org/officeDocument/2006/relationships/notesMaster" Target="/ppt/notesMasters/notesMaster1.xml" Id="R8587f7930c8046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502923ab634a2e" /><Relationship Type="http://schemas.openxmlformats.org/officeDocument/2006/relationships/notesMaster" Target="/ppt/notesMasters/notesMaster1.xml" Id="R0afaf05ea7f144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e7240aeaf2404f" /><Relationship Type="http://schemas.openxmlformats.org/officeDocument/2006/relationships/notesMaster" Target="/ppt/notesMasters/notesMaster1.xml" Id="R4a7eec6e1a3648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31908e051d43bf" /><Relationship Type="http://schemas.openxmlformats.org/officeDocument/2006/relationships/notesMaster" Target="/ppt/notesMasters/notesMaster1.xml" Id="R2f342edd7ded4a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5a7cfc1e3246ed" /><Relationship Type="http://schemas.openxmlformats.org/officeDocument/2006/relationships/notesMaster" Target="/ppt/notesMasters/notesMaster1.xml" Id="Rbedb309d91744b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ad5c8a678c4104" /><Relationship Type="http://schemas.openxmlformats.org/officeDocument/2006/relationships/notesMaster" Target="/ppt/notesMasters/notesMaster1.xml" Id="R54ffc8ebeefa40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bb29342dd94d22" /><Relationship Type="http://schemas.openxmlformats.org/officeDocument/2006/relationships/notesMaster" Target="/ppt/notesMasters/notesMaster1.xml" Id="Rad276050f26342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5ff53bfc6a407b" /><Relationship Type="http://schemas.openxmlformats.org/officeDocument/2006/relationships/notesMaster" Target="/ppt/notesMasters/notesMaster1.xml" Id="Re4e4a577bb9543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76609333f74f30" /><Relationship Type="http://schemas.openxmlformats.org/officeDocument/2006/relationships/notesMaster" Target="/ppt/notesMasters/notesMaster1.xml" Id="Ra0b1cc1ced774f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f2cd864f524520" /><Relationship Type="http://schemas.openxmlformats.org/officeDocument/2006/relationships/notesMaster" Target="/ppt/notesMasters/notesMaster1.xml" Id="R2d795e637e444e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cf7ec06311455a" /><Relationship Type="http://schemas.openxmlformats.org/officeDocument/2006/relationships/notesMaster" Target="/ppt/notesMasters/notesMaster1.xml" Id="R2cf1151c0cb844d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ed89f64b685456d" /><Relationship Type="http://schemas.openxmlformats.org/officeDocument/2006/relationships/notesMaster" Target="/ppt/notesMasters/notesMaster1.xml" Id="Ra7eae6c0d3a94c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c9d05647a941c1" /><Relationship Type="http://schemas.openxmlformats.org/officeDocument/2006/relationships/notesMaster" Target="/ppt/notesMasters/notesMaster1.xml" Id="R70168de3606a4b6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fbd6a51ab2b41de" /><Relationship Type="http://schemas.openxmlformats.org/officeDocument/2006/relationships/notesMaster" Target="/ppt/notesMasters/notesMaster1.xml" Id="R03e52148afd34aa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3222ae3ba124212" /><Relationship Type="http://schemas.openxmlformats.org/officeDocument/2006/relationships/notesMaster" Target="/ppt/notesMasters/notesMaster1.xml" Id="R809d239cb01a435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31846a9a0cb491e" /><Relationship Type="http://schemas.openxmlformats.org/officeDocument/2006/relationships/notesMaster" Target="/ppt/notesMasters/notesMaster1.xml" Id="R7615445af5ff44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cd687f3c80e4f26" /><Relationship Type="http://schemas.openxmlformats.org/officeDocument/2006/relationships/notesMaster" Target="/ppt/notesMasters/notesMaster1.xml" Id="R8361f184d5a84bd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e44b8b9572d425a" /><Relationship Type="http://schemas.openxmlformats.org/officeDocument/2006/relationships/notesMaster" Target="/ppt/notesMasters/notesMaster1.xml" Id="R593ee760be5b424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cfd705d70694875" /><Relationship Type="http://schemas.openxmlformats.org/officeDocument/2006/relationships/notesMaster" Target="/ppt/notesMasters/notesMaster1.xml" Id="R180928293a454f6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760589ec57443ed" /><Relationship Type="http://schemas.openxmlformats.org/officeDocument/2006/relationships/notesMaster" Target="/ppt/notesMasters/notesMaster1.xml" Id="R6a3985fd3f584bc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cf8192fad724d45" /><Relationship Type="http://schemas.openxmlformats.org/officeDocument/2006/relationships/notesMaster" Target="/ppt/notesMasters/notesMaster1.xml" Id="R80e7358d45f64f0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5304c9009594869" /><Relationship Type="http://schemas.openxmlformats.org/officeDocument/2006/relationships/notesMaster" Target="/ppt/notesMasters/notesMaster1.xml" Id="R743659ecacfd412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c4032c747be4237" /><Relationship Type="http://schemas.openxmlformats.org/officeDocument/2006/relationships/notesMaster" Target="/ppt/notesMasters/notesMaster1.xml" Id="R7d289fa7092c4b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ใช้เปิดการนำเสนอ: TaskFlow เป็นระบบจัดการงานส่วนตัว ผู้ใช้สมัครบัญชีและจัดการเฉพาะงานของตัวเอง มี frontend, backend และ SQL ที่เชื่อมกันจริง เป้าหมายคือเข้าใจเส้นทางของข้อมูลและอธิบายเหตุผลของโค้ดแต่ละชั้นได้ ใช้แนวคิด API authentication กับ monorepo จากบทเรียนมาเลือกขอบเขตที่เล็กพอสำหรับ code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งานหนึ่งรายการต้องมีเจ้าของ และ backend ตรวจเจ้าของทุกครั้งที่อ่านหรือแก้ไข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พร้อม production ทันทีหรือไม่? ตอบ: เป็นพื้นฐานสำหรับเรียนรู้ที่มีการทดสอบด้านความปลอดภัย ต้องเพิ่มงานปฏิบัติการและตรวจระบบจริงก่อนเปิดใช้กับคนภายนอก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https://www.youtube.com/watch?v=U_D14T5TYuk</a:t>
            </a:r>
          </a:p>
          <a:p xmlns:a="http://schemas.openxmlformats.org/drawingml/2006/main">
            <a:r>
              <a:t>https://syntax.fm/videos/syntax-side-dish-explainers/monorepos-what-why-when-and-how-or-full-stack-react-hono-example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อัปเดต 14 ตุลาคม 2026</a:t>
            </a:r>
          </a:p>
          <a:p xmlns:a="http://schemas.openxmlformats.org/drawingml/2006/main">
            <a:r>
              <a:t>รุ่นนี้เพิ่ม Forgot Password ผ่าน Gmail SMTP โดย backend ส่งลิงก์โดยตรง ผู้ใช้ตั้งรหัสใหม่ได้ด้วย token อายุ 15 นาทีและใช้ได้ครั้งเดียว ส่วนหลักฐานการส่งมี SMTP receiver จริงในเครื่อง ยังไม่ยืนยันการส่งผ่าน Gmail จริงหรือการถึง inbox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โจทย์: งานส่วนตัวอยู่หลายที่และไม่เห็นว่างานใดค้างหรือครบกำหนด TaskFlow รวมรายการไว้หน้าเดียว ให้ค้นหา กรองตามสถานะและความสำคัญ และดูจำนวนงาน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ใช้ทำอะไร: CRUD ย่อจาก Create, Read, Update, Delete คือสร้าง อ่าน แก้ไข ลบงาน ผู้ใช้กำหนดสถานะ ความสำคัญ และวันครบกำหนดที่อาจเว้นว่างได้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มีผู้ใช้ประเภทเดียว ทุกคนเข้าถึงเฉพาะงานตัวเอง จึงไม่เพิ่มระบบแอดมินหรือการมอบหมายทีมที่เกินโจทย์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เหตุใดเลือก To-do? ตอบ: ทำให้ตรวจ authentication, ownership, validation, SQL และ integration ได้ในเรื่องที่เข้าใจง่าย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จุดชี้โค้ด: apps/api/src/tasks.ts และ packages/shared/src/index.ts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อัปเดต 14 ตุลาคม 2026</a:t>
            </a:r>
          </a:p>
          <a:p xmlns:a="http://schemas.openxmlformats.org/drawingml/2006/main">
            <a:r>
              <a:t>เพิ่มขอบเขตการกู้บัญชีด้วยลิงก์ทางอีเมล ไม่มีการเพิ่ม admin หรือสิทธิ์ข้ามเจ้าของงาน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ขอบเขตการศึกษาอย่างตรงไปตรงมา: วิดีโอ Auth ได้อ่านคำบรรยายภาษาอังกฤษอัตโนมัติทั้งหมด 3,450 บรรทัดถึงเวลา 1:44:21 และศึกษาโค้ดของผู้สอน คำบรรยายอัตโนมัติอาจถอดคำผิด จึงตรวจสาระกับ repository และเอกสารหลัก วิดีโอ Monorepo ไม่มี transcript ที่ดึงได้ ศึกษาหน้าผู้สอน ลำดับหัวข้อ และตัวอย่าง repository จึงไม่อ้างว่ารับชมภาพและเสียงครบทั้งสองวิดีโอ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วิดีโอแรกสอน Hono CRUD, scrypt พร้อม salt, JWT, การสร้าง API key แบบสุ่มแล้วเก็บ SHA-256 digest และการตรวจเจ้าของข้อมูล วิดีโอสองอธิบาย workspace และ package ที่แชร์ config/types ระหว่าง React กับ Hono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TaskFlow เลือกต่างจากตัวอย่าง: SQLite แทน PostgreSQL/ORM, npm workspaces แทน pnpm, JWT ใน cookie อายุ 30 นาทีและ SQL session สำหรับเพิกถอน, ไม่มี admin, API key เฉพาะ reminders และเพิ่ม n8n แบบ optional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ทำตามทุกบรรทัดหรือไม่? ตอบ: นำหลักการมาใช้และบอกเหตุผลของความต่าง ไม่อ้างว่าระบบเหมือน tutorial ทุกส่วน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https://www.youtube.com/watch?v=U_D14T5TYuk</a:t>
            </a:r>
          </a:p>
          <a:p xmlns:a="http://schemas.openxmlformats.org/drawingml/2006/main">
            <a:r>
              <a:t>https://github.com/WebDevSimplified/hono-api-with-auth-crash-course</a:t>
            </a:r>
          </a:p>
          <a:p xmlns:a="http://schemas.openxmlformats.org/drawingml/2006/main">
            <a:r>
              <a:t>https://syntax.fm/videos/syntax-side-dish-explainers/monorepos-what-why-when-and-how-or-full-stack-react-hono-example</a:t>
            </a:r>
          </a:p>
          <a:p xmlns:a="http://schemas.openxmlformats.org/drawingml/2006/main">
            <a:r>
              <a:t>https://github.com/w3cj/monorepo-example-tasks-app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อัปเดต 14 ตุลาคม 2026</a:t>
            </a:r>
          </a:p>
          <a:p xmlns:a="http://schemas.openxmlformats.org/drawingml/2006/main">
            <a:r>
              <a:t>Forgot Password เป็นส่วนที่พัฒนาต่อสำหรับ TaskFlow ไม่อ้างว่าเป็นเนื้อหาจากวิดีโอต้นฉบับ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ภาพเป็น screenshot จาก TaskFlow ที่รันจริง ไม่ใช่ mockup ตัวอย่างบัญชีมีงาน 5 รายการ ภาพด้านซ้ายแสดงหน้าจอมือถือ ส่วนคำอธิบายด้านขวาให้พูดต่อโดยไม่ต้องอ่านข้อความเล็กในภาพ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ใช้ทำอะไร: React จัดหน้าจอและสถานะของ UI เช่น modal เพิ่มงาน การค้นหา ตัวกรอง และแสดงผล API Tailwind CSS ใช้ utility classes สำหรับระยะห่าง สี และ responsive layout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หน้าจอช่วยผู้ใช้ทำงาน แต่ backend เป็นผู้ตัดสินสิทธิ์และความถูกต้องของข้อมูล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หลักฐานที่ตรวจแล้ว: สมัครบัญชีใหม่และเห็นรายการว่าง เข้าสู่ระบบ เพิ่ม แก้ไขวันครบกำหนด เปลี่ยนสถานะ ค้นหา ลบ สร้าง key แสดง secret ครั้งเดียว เพิกถอน และออกจากระบบ ตรวจหน้าจอ desktop 1440 และ mobile 390 ไม่มี page overflow แนวนอน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การซ่อนปุ่มเพียงพอหรือไม่? ตอบ: ไม่พอ ผู้ใช้เรียก API เองได้ จึงต้องตรวจสิทธิ์ที่ 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จุดชี้โค้ด: apps/web/src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https://tailwindcss.com/docs/styling-with-utility-classes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อ่าน diagram: browser เรียก HTTP API ที่ Hono และ API ใช้ prepared SQL กับ SQLite ข้อมูลมี 6 ตารางเพราะเพิ่ม password_reset_tokens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ใช้ทำอะไร: React เป็น UI, Hono ตรวจ request และสิทธิ์, SQLite เก็บข้อมูล ส่วน backend ใช้ Nodemailer ส่งลิงก์ตั้งรหัสผ่านผ่าน Gmail SMTP โดยตรง n8n ยังเป็น workflow อีกชุดสำหรับงานครบกำหนดและตั้ง credentials แยกต่างหาก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เส้นทาง reset อยู่ใน backend จึงใช้ได้โดยไม่เปิด n8n ตัวส่ง SMTP ไม่ให้สิทธิ์อ่านหรือแก้ SQL โดยตรง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Dev มี server สองตัวจาก npm run dev: Vite 5173 proxy /api ไป Hono 3000 หากเปิด npm start เดิมอยู่ต้องหยุดก่อนเพื่อไม่ชน port หลัง build npm start ใช้ Hono ตัวเดียว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ตั้ง Gmail ของ backend แล้ว n8n จะพร้อมหรือไม่? ตอบ: ไม่ได้ ทั้งสองชุดอ่าน configuration/credentials คนละที่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ขอบเขตหลักฐาน: ทดสอบ SMTP receiver ใน loopback จริงแล้ว ยังไม่มีหลักฐานส่ง Gmail จริงหรือถึง inbox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https://hono.dev/docs/</a:t>
            </a:r>
          </a:p>
          <a:p xmlns:a="http://schemas.openxmlformats.org/drawingml/2006/main">
            <a:r>
              <a:t>https://nodejs.org/api/sqlite.html</a:t>
            </a:r>
          </a:p>
          <a:p xmlns:a="http://schemas.openxmlformats.org/drawingml/2006/main">
            <a:r>
              <a:t>https://nodemailer.com/smtp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npm workspaces รวม package ที่เกี่ยวข้องไว้ใน repository เดียวและเชื่อม dependency ที่ประกาศไว้อย่างชัดเจน apps/web ใช้ React และ Tailwind apps/api ใช้ Hono และ node:sqlite packages/shared เก็บ Zod schema กับ TypeScript types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ใช้ทำอะไร: schema ที่ frontend ใช้ตรวจฟอร์มและ backend ใช้ตรวจ request มาจากแหล่งเดียว ลดการกำหนดชื่อ field หรือ enum ไม่ตรงกัน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แชร์เฉพาะ contract ที่ทั้งสองฝั่งต้องรู้ ไม่แชร์ database connection หรือ secret ไป frontend เพราะโค้ดเว็บถูกส่งถึง browser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Monorepo เหมาะทุกระบบหรือไม่? ตอบ: เหมาะเมื่อทีมและ release เกี่ยวข้องกัน แต่ repo โตขึ้นต้องดูเวลา build การแบ่งสิทธิ์และ dependency นี่เป็นงานเล็กจึงไม่ต้องเพิ่ม Turborepo หรือระบบ build ซับซ้อน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TypeScript เพียงพอตรวจ request หรือไม่? ตอบ: type หายไประหว่างรันและ client ภายนอกส่งข้อมูลอะไรก็ได้ ต้องตรวจ Zod ที่ backend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จุดชี้โค้ด: package.json workspaces และ packages/shared/src/index.ts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https://syntax.fm/videos/syntax-side-dish-explainers/monorepos-what-why-when-and-how-or-full-stack-react-hono-example</a:t>
            </a:r>
          </a:p>
          <a:p xmlns:a="http://schemas.openxmlformats.org/drawingml/2006/main">
            <a:r>
              <a:t>https://docs.npmjs.com/cli/using-npm/workspaces</a:t>
            </a:r>
          </a:p>
          <a:p xmlns:a="http://schemas.openxmlformats.org/drawingml/2006/main">
            <a:r>
              <a:t>https://zod.dev/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Zod เป็น runtime validator รับข้อมูลที่ยังไม่เชื่อถือ แล้วตรวจรูปแบบและข้อจำกัดก่อนนำไปใช้ taskFields กำหนด title ยาว 3 ถึง 120 ตัวอักษร status เป็น enum และ due_date เป็นวันที่จริงหรือ null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ใช้ทำอะไร: frontend แจ้งข้อผิดพลาดได้ไว ส่วน backend ปฏิเสธ request ที่ผิดแม้ client ข้ามหน้าเว็บ TypeScript type ช่วยระหว่างพัฒนา แต่ Zod ทำงานเมื่อ request มาถึงจริง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create schema มี defaults เช่น pending และ medium แต่ PATCH schema ใช้ partial โดยไม่รับ defaults ของ create การละ field ต้องรักษาค่าเดิม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ข้อผิดพลาดที่ test พบ: การใช้ create schema พร้อม partial เคยเติม default ใน field ที่ไม่ได้ส่ง ทำให้ PATCH เปลี่ยนค่าที่ไม่ตั้งใจ จึงแยก taskUpdateSchema จาก field definitions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due_date เป็น YYYY-MM-DD ก็พอหรือไม่? ตอบ: regex ตรวจรูปแบบ แต่วันที่เช่น 2026-02-30 ยังผิด จึง refine เทียบวันจริงอีกครั้ง SQL เก็บ TEXT และไม่ได้ตรวจปฏิทินเอง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จุดชี้โค้ด: packages/shared/src/index.ts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https://zod.dev/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ฐานข้อมูลมี 6 ตาราง users เป็นเจ้าของ auth_sessions, password_reset_tokens, tasks, api_keys และ reminder_deliveries งานหนึ่งมี reminder ได้หลายวัน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ใช้ทำอะไร: PK ระบุ row ไม่ซ้ำ FK รักษาความสัมพันธ์ของข้อมูล CHECK จำกัดค่าที่ SQL รู้จัก UNIQUE ป้องกันข้อมูลซ้ำในเงื่อนไขที่กำหนด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ตาราง password_reset_tokens เก็บ id, user_id, token_hash, expires_at, used_at และ created_at เก็บเฉพาะ SHA-256 digest ไม่เก็บ raw token ทำ index ตาม user_id และ created_at เพื่อนับ cooldown/rolling hour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FK ไม่ได้เป็น authorization การอ่านแก้ task ยังต้อง WHERE user_id จาก session และ reset route ต้อง claim token ที่ไม่หมดอายุ/ยังไม่ใช้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ขอลิงก์ใหม่ไม่ยกเลิกลิงก์เก่าทันที ลิงก์ที่ยังค้างของบัญชีจะถูกทำให้ใช้ไม่ได้ทั้งหมดเมื่อ reset สำเร็จ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reset รหัสแล้ว API keys หายด้วยหรือไม่? ตอบ: ไม่ได้ revoke API keys ในรุ่นนี้ การ reset revoke ทุก session และ reset links ของบัญชีเท่านั้น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จุดชี้โค้ด: apps/api/src/schema.sql และ password-reset.ts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https://nodejs.org/api/sqlite.html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ตัวอย่างมาจาก route อ่านงานตาม id ใน apps/api/src/tasks.ts ใช้ WHERE id=? AND user_id=? และ bind ค่า id กับ user.id จาก session ที่ backend ตรวจแล้ว ไม่อ่าน user_id จาก request body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ใช้ทำอะไร: prepared query แยก SQL structure ออกจากค่าที่ผู้ใช้ส่งมา เครื่องหมาย ? เป็นตำแหน่งของค่า จึงไม่ต้องต่อ string input เข้า SQL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การรู้ task id ไม่ให้สิทธิ์เข้าถึง ข้อมูลจะคืนก็ต่อเมื่อเจ้าของตรงกับ identity ปัจจุบัน ถ้างานไม่มีหรือเป็นของผู้อื่น API คืน 404 เหมือนกัน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ใช้ UUID แล้วต้องตรวจเจ้าของหรือไม่? ตอบ: ต้องตรวจ UUID เป็น identifier ไม่ใช่ authorization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prepared query ป้องกันทุกอย่างหรือไม่? ตอบ: ป้องกันการแทรกค่าลง query แต่ยังต้องตรวจ enum, ความยาว และ ownership รวมถึง whitelist เมื่อเลือกชื่อ column แบบ dynamic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จุดชี้โค้ด: tasks.ts สำหรับ SELECT, UPDATE และ DELETE ที่มี user_id ทุกกรณี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https://nodejs.org/api/sqlite.html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Sequence diagram แสดงเหตุการณ์ตามเวลา จากบนลงล่าง Browser ส่ง email/password ไป /api/auth/login จากนั้น Hono ตรวจ Zod schema อ่านผู้ใช้ด้วย prepared query และคำนวณ scrypt เพื่อตรวจรหัสผ่าน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ถ้าถูกต้อง API สร้าง auth_sessions row อายุ 30 นาที แล้วเซ็น JWT ที่มี sub=userId และ sid=sessionId ส่งกลับใน cookie พร้อมข้อมูล user ที่ไม่มี password hash ถ้าผิดคืนข้อความเดียวกันสำหรับอีเมลที่ไม่พบและ password ผิด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ใช้ทำอะไร: session row ทำให้เพิกถอนการเข้าสู่ระบบได้ JWT ลายเซ็นช่วยตรวจว่าข้อมูลไม่ได้ถูกแก้โดย client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server เป็นผู้สร้าง identity และ browser เก็บ cookie โดย JavaScript อ่านไม่ได้เพราะ HttpOnly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ใช้ session พร้อม JWT ทำให้เสีย stateless หรือไม่? ตอบ: ใช่ ระบบนี้เลือกตรวจ SQL ทุก request เพื่อ logout มีผลทันที แลกกับ database lookup หนึ่งครั้ง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จุดชี้โค้ด: apps/api/src/auth.ts และ security.ts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https://github.com/panva/jose</a:t>
            </a:r>
          </a:p>
          <a:p xmlns:a="http://schemas.openxmlformats.org/drawingml/2006/main">
            <a:r>
              <a:t>https://nodejs.org/api/crypto.html</a:t>
            </a:r>
          </a:p>
          <a:p xmlns:a="http://schemas.openxmlformats.org/drawingml/2006/main">
            <a:r>
              <a:t>https://hono.dev/docs/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อัปเดต 14 ตุลาคม 2026</a:t>
            </a:r>
          </a:p>
          <a:p xmlns:a="http://schemas.openxmlformats.org/drawingml/2006/main">
            <a:r>
              <a:t>เพิ่ม login race guard: หลัง await scrypt ตรวจ password แล้ว auth.ts อ่าน password_hash ล่าสุดจาก SQL อีกครั้ง ถ้ารหัสเปลี่ยนจาก snapshot เดิมเพราะ reset commit ระหว่างรอ จะไม่สร้าง session จาก password เก่า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JWT คือ JSON Web Token ระบบนี้ใช้ signed token แบบ HS256 มีส่วน header, payload, signature โดย payload อ่านได้ จึงใส่เฉพาะ sub, sid, iat, exp, iss, aud ไม่ใส่ password หรือ secret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ใช้ทำอะไร: verify ตรวจ signature พร้อม allowlist algorithm=HS256, วันหมดอายุ, issuer=taskflow และ audience=taskflow-web จากนั้น join users กับ auth_sessions เพื่อตรวจ owner, expiry และ revoked_at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JWT ยังไม่หมดอายุก็ใช้ไม่ได้ถ้า session ถูก revoke logout ทั้งแก้ revoked_at และลบ cookie จึงป้องกัน replay cookie เก่าหลัง logout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Cookie HttpOnly จำกัดการอ่าน cookie ด้วย JavaScript SameSite=Lax ลดการส่ง cookie ในบางคำขอข้ามไซต์ Secure บังคับ HTTPS ใน production และ Origin guard ปฏิเสธ mutation จาก origin ที่ไม่อนุญาต การควบคุมเหล่านี้ยังไม่ทำให้ XSS หมดไป จึงต้องไม่ render HTML ที่ผู้ใช้ส่งโดยไม่ควบคุม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ทำไมอายุ 30 นาที? ตอบ: เป็น tradeoff สำหรับ demo ระหว่างการใช้งานกับช่วงเวลาของ token ที่รั่ว ไม่มี refresh token หมดอายุแล้ว login ใหม่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จุดชี้โค้ด: security.ts, sessionMiddleware และ logout ใน auth.ts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https://github.com/panva/jose</a:t>
            </a:r>
          </a:p>
          <a:p xmlns:a="http://schemas.openxmlformats.org/drawingml/2006/main">
            <a:r>
              <a:t>https://cheatsheetseries.owasp.org/cheatsheets/Session_Management_Cheat_Sheet.html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อัปเดต 14 ตุลาคม 2026</a:t>
            </a:r>
          </a:p>
          <a:p xmlns:a="http://schemas.openxmlformats.org/drawingml/2006/main">
            <a:r>
              <a:t>เมื่อ reset password สำเร็จ ระบบ revoke ทุก auth_sessions ของเจ้าของบัญชี ไม่ใช่เฉพาะ cookie ปัจจุบัน จึงทำให้ JWT ของเครื่องอื่นไม่ผ่าน session check แม้ JWT ยังไม่หมดอายุ ระบบไม่ได้ revoke API keys โดยอัตโนมัติ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ตารางนี้แยก credential 3 ชนิดที่มีหน้าที่ต่างกัน JWT อยู่ใน HttpOnly cookie ใช้กับ request ของผู้ใช้ API ตรวจลายเซ็นและ SQL session อายุ 30 นาที API key สุ่ม 32 bytes แสดง secret ครั้งเดียว เก็บ SHA-256 digest อายุ 30 วัน scope reminders ส่วน reset token สุ่ม 32 bytes ส่งทางอีเมล เก็บ SHA-256 digest อายุ 15 นาที และใช้ตั้ง password ใหม่ได้ครั้งเดียว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token สำหรับ reset ไม่ใช่ JWT และไม่ใช้แทน session เพื่อจัดการ tasks ใช้ได้เฉพาะ endpoint reset-password ที่ตรวจ token ใน SQL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Password ของคนอาจเดาง่าย จึงใช้ scrypt พร้อม random salt และ timingSafeEqual ส่วน key/token สุ่มมี entropy สูง จึงใช้ SHA-256 สำหรับ lookup ได้ Password เองไม่ได้หมดอายุใน 30 นาที ตัวที่หมดอายุคือ JWT/session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เมื่อ reset สำเร็จ revoke ทุก session และทำให้ reset links ที่ค้างใช้ไม่ได้ แต่ไม่ revoke API keys ขอลิงก์ใหม่อย่างเดียวยังไม่เปลี่ยน password และยังไม่ revoke session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raw key กับ reset token กู้จาก SQL ได้หรือไม่? ตอบ: ไม่ได้ มีเพียง digest ถ้าจำเป็นให้สร้าง key/ขอลิงก์ใหม่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https://nodejs.org/api/crypto.html</a:t>
            </a:r>
          </a:p>
          <a:p xmlns:a="http://schemas.openxmlformats.org/drawingml/2006/main">
            <a:r>
              <a:t>https://github.com/panva/jose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อ่าน sequence จากบนลงล่าง: Browser ส่ง POST /api/auth/forgot-password {email} หลัง validation และ limits หากมีบัญชีและยังส่งได้ API สุ่ม token สร้าง SHA-256 digest ใน password_reset_tokens และ expiry 15 นาที แล้วตอบ 202 ด้วยข้อความกลางเหมือนกันทั้งมี/ไม่มีบัญชีและติดเพดานต่อบัญชี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การส่ง SMTP เริ่มต่อแบบ async ด้วย setImmediate หลังรับคำขอ เพื่อลดความต่างของ response ที่ขึ้นกับ network ของบัญชี ส่งลิงก์ /reset-password#token=... จาก APP_PUBLIC_URL ที่กำหนดไว้ ไม่ใช้ Host header ของ client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ผู้ใช้เปิดอีเมล กรอกรหัสใหม่ 12–128 ตัวและยืนยัน UI ส่ง POST /api/auth/reset-password {token,password} backend ตรวจ token และทำ transaction ตามสไลด์ถัดไป สำเร็จคืน 200 ให้ login ใหม่ ไม่ได้ login อัตโนมัติ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202 หมายถึงรับคำขอ ไม่ยืนยันส่งสำเร็จและไม่เปิดเผยว่าบัญชีมีอยู่ ส่วน SMTP ยอมรับข้อความก็ไม่ยืนยัน inbox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หาก SMTP ยังไม่กำหนด credential เส้นทางขอลิงก์คืน 503 SMTP_NOT_CONFIGURED ตั้งค่าก่อนใช้ ไม่มีการอ่านค่าจริงของเครื่องเพื่ออ้างว่าตั้งแล้ว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อธิบายระบบที่ออกแบบ หลักฐานการส่งที่ตรวจแล้วเป็น SMTP receiver ในเครื่อง ไม่ใช่ Gmail 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จุดชี้โค้ด: apps/api/src/password-reset.ts และ mail.ts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https://nodemailer.com/smtp</a:t>
            </a:r>
          </a:p>
          <a:p xmlns:a="http://schemas.openxmlformats.org/drawingml/2006/main">
            <a:r>
              <a:t>https://support.google.com/accounts/answer/185833?hl=en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ใช้ทำอะไร: reset token เป็น bearer secret สุ่ม 32 bytes ไม่ใช่ JWT URL ส่ง raw token แต่ SQL เก็บเฉพาะ SHA-256 digest อายุ 15 นาที หากรูปแบบไม่ผ่าน schema จะคืน validation error หาก token ไม่พบ หมดอายุ หรือใช้แล้วคืน 400 INVALID_RESET_TOKEN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transaction ต้อง claim token ด้วย UPDATE ... WHERE used_at IS NULL AND expires_at &gt; ? และตรวจ changes===1 ก่อนเปลี่ยน password hash เมื่อสำเร็จจะเปลี่ยน password ด้วย scrypt, revoke ทุก auth_sessions ของบัญชี และ mark reset links ที่ยังค้างของบัญชีว่าใช้แล้ว ถ้าขั้นใดผิดพลาดต้อง rollback ทั้งชุด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การส่ง token เดียวพร้อมกันสองคำขอ อาจผ่านการอ่านเบื้องต้นทั้งสอง แต่ claim ใน transaction ทำให้สำเร็จได้เพียงหนึ่งคำขอ อีกคำขอไม่เปลี่ยนรหัสผ่าน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Login race guard: scrypt เป็น async ระหว่างรอตรวจ password อาจมี reset commit จึงอ่าน password_hash ล่าสุดก่อนออก session หากไม่เท่ากับ snapshot ที่ตรวจแล้ว ให้ปฏิเสธ login แทนการสร้าง session ด้วยรหัสเก่า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reset ทำให้ API key ถูกยกเลิกด้วยหรือไม่? ตอบ: ไม่ รุ่นนี้เพิกถอน session และ reset links แต่ key มีวงจร revoke ของตัวเอง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กดขอลิงก์ใหม่ทำให้ลิงก์เก่าใช้ไม่ได้ทันทีหรือไม่? ตอบ: ไม่ ลิงก์ที่ยังไม่หมดอายุยังใช้ได้จน reset สำเร็จครั้งหนึ่ง แล้วจึงยกเลิกลิงก์ที่ค้างทั้งหมดของบัญชี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จุดชี้โค้ด: password-reset.ts transaction และ auth.ts current password_hash guard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https://nodejs.org/api/crypto.html</a:t>
            </a:r>
          </a:p>
          <a:p xmlns:a="http://schemas.openxmlformats.org/drawingml/2006/main">
            <a:r>
              <a:t>https://nodejs.org/api/sqlite.html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ภาพนี้เป็น screenshot จริงจากหน้า ResetPasswordPage ใน TaskFlow ใช้ภาพนี้ครั้งเดียวในเด็ค ไม่ใช่ mockup และไม่ได้ใช้ภาพนี้เป็นหลักฐานว่าเมลผ่าน Gmail 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ใช้ทำอะไร: ฟอร์มให้กรอกรหัสใหม่ 12–128 ตัวอักษรและยืนยันให้ตรงกัน มี checkbox แสดง/ซ่อนรหัสผ่านทั้งสองช่องและปุ่มบันทึกที่ป้องกัน submit ซ้ำระหว่างรอ 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หน้าเว็บอ่าน token จาก fragment แล้วลบ fragment ก่อนแสดงหน้า เก็บ token ใน React memory เท่านั้น ไม่เก็บใน localStorage หาก refresh ต้องเปิดลิงก์ต้นฉบับจากอีเมลใหม่ถ้ายังไม่ใช้และไม่หมดอายุ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สำเร็จแล้วเคลียร์ช่องรหัส กลับหน้า login และแสดงข้อความให้เข้าสู่ระบบด้วยรหัสใหม่ หาก API ตอบ INVALID_RESET_TOKEN จะแสดงหน้าลิงก์ใช้ไม่ได้และปุ่มขอลิงก์ใหม่ การยืนยันรหัสเป็นกติกาที่ UI จึงส่งเฉพาะ token,password ไป backend แต่ backend ยังตรวจความยาวและรูปแบบเอง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ถ้ามีคนส่ง body เองข้าม UI ได้หรือไม่? ตอบ: ได้ จึงต้องตรวจ token, password และ single use ที่ backend เสมอ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จุดชี้โค้ด: apps/web/src/App.tsx ResetPasswordPage และ useLayoutEffect ลบ fragment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การตั้งค่าเริ่มจาก npm run setup:email ซึ่งเติมตัวแปรที่ขาดใน .env โดยไม่ทับเดิม กำหนด SMTP_HOST=smtp.gmail.com, SMTP_PORT=465, SMTP_SECURE=true, SMTP_USER และ SMTP_PASS ด้วย Google App Password เก็บในเครื่อง backend เท่านั้น ไม่ใส่ secret ในสไลด์หรือแชต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App Password ต้องเปิด 2-Step Verification บางบัญชีองค์กร Advanced Protection หรือ security-key-only อาจไม่มีเมนู ใช้คำแนะนำ Google ทางการ ห้ามใช้ password Gmail ปกติ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APP_PUBLIC_URL คือ URL หน้าเว็บที่ผู้รับจะเปิด: dev เป็น http://localhost:5173 หลัง build/npm start เป็น http://localhost:3000 หรือ domain HTTPS จริง localhost เปิดได้บนเครื่องที่รัน server หากเปิดบนมือถือจะชี้มือถือ ต้องตั้ง URL ที่อุปกรณ์เข้าถึงได้จริง พร้อม HOST, APP_ORIGIN และ deployment ที่ถูกต้อง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npm run mail:check ตรวจการเชื่อมต่อและ login SMTP โดยไม่ส่งเมล ผ่าน verify ไม่ใช่หลักฐาน mail delivery ผู้รับอาจใช้อีเมลที่ไม่ใช่ Gmail ได้ Gmail เป็น sender ต้องมีบัญชี TaskFlow ที่ใช้อีเมลรับจริง demo@taskflow.local รับไม่ได้ ปัจจุบันไม่มี email verification ตอนสมัคร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หลักฐาน: 2 mail tests คือ 1 config validation และ 1 end-to-end ผ่าน SMTP receiver จริงใน loopback ไม่ใช่การส่งอีเมลจริง 2 ฉบับผ่าน Gmail ยังไม่มีหลักฐาน Gmail SMTP จริงหรือ inbox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Rate limits: forgot 5/IP/15 นาที reset-submit 10/IP/15 นาที ต่อบัญชีเว้น 60 วินาทีและไม่เกิน 3 token ใน rolling hour จาก SQL ติดเพดานบัญชียังตอบข้อความกลาง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การส่ง async อยู่ใน memory ไม่ใช่ durable queue restart ระหว่างรออาจต้องขอใหม่ ล้มเหลวลบ token ที่ยังไม่ใช้ของฉบับนั้นและ log event password_reset_email_failed โดยไม่ log secret n8n ไม่เกี่ยวกับฟีเจอร์นี้และยังต้องตั้ง credential ของ n8n แยก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https://support.google.com/accounts/answer/185833?hl=en</a:t>
            </a:r>
          </a:p>
          <a:p xmlns:a="http://schemas.openxmlformats.org/drawingml/2006/main">
            <a:r>
              <a:t>https://myaccount.google.com/apppasswords</a:t>
            </a:r>
          </a:p>
          <a:p xmlns:a="http://schemas.openxmlformats.org/drawingml/2006/main">
            <a:r>
              <a:t>https://support.google.com/a/answer/176600?hl=en</a:t>
            </a:r>
          </a:p>
          <a:p xmlns:a="http://schemas.openxmlformats.org/drawingml/2006/main">
            <a:r>
              <a:t>https://nodemailer.com/smtp#verifying-the-configuration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ลำดับ middleware คือ request_id, secure headers, no-store, body limit 16KB และ Origin/Sec-Fetch-Site guard บน mutation จากนั้น auth routes ใช้ rate limit ตาม bucket และ route ที่ต้อง login จึงตรวจ session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Login กับ register ใช้ bucket รวม 20 ครั้ง/IP/15 นาที Forgot-password มี bucket แยก 5 ครั้ง/IP/15 นาที และ reset-password แยก 10 ครั้ง/IP/15 นาที เกินคืน429 Retry-After ตัวนับ IP อยู่ใน memory ของ process ส่วน cooldown/rolling-hour ของบัญชีดู SQL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Tasks/keys/summary/reminders ใช้ JWT + SQL session Integration ใช้ x-api-key scope reminders Forgot endpoint เป็น public เพื่อให้กู้บัญชีได้ Reset endpoint ไม่บังคับ session แต่ตรวจ reset token จาก body กับ SQL ใน handler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public route ยังมี validation, Origin guard และ rate limit ได้ การตรวจ token เพื่อเปลี่ยน password เป็นอีกกติกาหนึ่งจาก session authentication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Content-Type ผิดคืน415 JSON/schema/date ผิดคืน400 ข้อผิดพลาดภายในคืนข้อความทั่วไปและใช้ request_id ตามหา log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จุดชี้โค้ด: app.ts, context.ts, auth.ts และ password-reset.ts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https://hono.dev/docs/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Permission matrix ระบุว่า session user จัดการได้เฉพาะ tasks ของตัวเอง และสร้างหรือ revoke keys ของตัวเอง API key เรียกได้เฉพาะ due-tasks กับ reminders เมื่อขาด credential จะได้ 401 และ task ของผู้อื่นจะได้ 404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สถานะเป็น pending, in_progress, completed ผู้ใช้เลือกเปลี่ยนสถานะของงานตัวเองได้ ไม่มี workflow approval หรือ transition constraint เพราะนี่คือ personal To-do ต้องการให้เปลี่ยนกลับได้ง่าย ความสำคัญมี low, medium, high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API key ถูกจำกัดทาง route และ scope ไม่ใช่บัตรผ่านทุก endpoint ใช้ session เพื่อออก key และใช้ key เพื่อ integration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ต้องมี role หรือไม่? ตอบ: role จำเป็นเมื่อผู้ใช้มีชุดสิทธิ์ต่างกัน งานนี้มีสิทธิ์แบบเดียว จึงใช้ owner check ให้เห็นหลักการชัด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completed งานยังแจ้งเตือนหรือไม่? ตอบ: due query ตัด completed ออก รวมงานครบกำหนดและงานค้างที่ due_date&lt;=วันที่เลือก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จุดชี้โค้ด: tasks.ts และ integrations.ts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 ของ paths ในตารางคือ /api ทั้งหมด CRUD มี GET/POST /tasks และ GET/PATCH/DELETE /tasks/:id ทุก query ตรวจ owner ส่วน /keys ใช้ session และ /integrations ใช้ API key เสมอ ยังมี /auth/me, /auth/logout, /summary, /reminders และ /health ตาม docs/api.md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POST /auth/forgot-password {email} รับ JSON คืน202ข้อความกลางเมื่อ service ตั้งค่าแล้ว ทั้งบัญชีที่ไม่พบและถูกระงับส่งชั่วคราวได้ response เดียวกัน ถ้าไม่ตั้ง service คืน503 SMTP_NOT_CONFIGURED POST /auth/reset-password {token,password} คืน200ให้ login ใหม่ ไม่ออก session อัตโนมัติ tokenที่รูปแบบถูกแต่ไม่พบ/ใช้แล้ว/หมดอายุคืน400 INVALID_RESET_TOKEN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ความหมาย statuses: 400 input/token, 401 credential/session, 403 Origin, 404 ไม่พบหรือไม่ใช่เจ้าของ, 409 emailซ้ำ/keylimit, 413 bodyเกิน16KB, 415 ไม่ใช่JSON, 429 rate limits, 500 internal, 503 SMTPยังไม่กำหนด ฟิลด์ error คือ code,message,request_id ไม่เปิด stack/SQL/secret ให้ client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route ที่ใช้ reset token ไม่ยอมรับ JWT หรือ API key แทน token และ API key ก็ไม่ให้สิทธิ์ tasks CRUD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จุดชี้โค้ด: app.ts, auth.ts, password-reset.ts, tasks.ts และ integrations.ts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n8n เป็น workflow automation แบบเชื่อม node ใช้ Schedule Trigger ตั้ง 07:30 ใน Asia/Bangkok แล้ว HTTP GET /api/integrations/due-tasks ด้วย x-api-key หาก tasks.length&gt;0 จึงสร้างอีเมลรวมและส่ง SMTP ไป response.user.email จากนั้น POST /api/integrations/reminders ด้วย task_ids, date และ channel=email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ใช้ทำอะไร: ทดลองให้โปรแกรมภายนอกเรียก API โดยไม่ฝังการส่งอีเมลใน backend และไม่ให้ n8n เข้าฐานข้อมูลโดยตรง API key เป็นของผู้ใช้หนึ่งคน จึงส่งข้อมูลเฉพาะเจ้าของ key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ถ้าไม่มีงานก็ไม่ส่ง และ record หลัง SMTP node สำเร็จ ใช้ date จาก GET response snapshot เดิมใน POST เพื่อไม่เปลี่ยนวันระหว่าง workflow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ส่วนนี้เป็น optional ไฟล์ workflow นำเข้าได้และตรวจ JSON/expression กับ docker compose config แล้ว แต่ยังไม่ได้ import ใน n8n จริงหรือส่ง SMTP เพราะต้องใส่ credential ของผู้ใช้ workflow ยังไม่ activate อัตโนมัติ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API อยู่ localhost Docker เห็นหรือไม่? ตอบ: Docker ใช้ host.docker.internal และ backend ต้อง bind 0.0.0.0 อย่างตั้งใจ ถ้ารัน n8n บน host ใช้ localhost 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จุดชี้โค้ด: n8n/workflow JSON และ docs/n8n-guide.md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https://docs.n8n.io/integrations/builtin/core-nodes/n8n-nodes-base.scheduletrigger/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อัปเดต 14 ตุลาคม 2026</a:t>
            </a:r>
          </a:p>
          <a:p xmlns:a="http://schemas.openxmlformats.org/drawingml/2006/main">
            <a:r>
              <a:t>การตั้ง SMTP ของ password reset ฝั่ง backend ไม่ได้ตั้งค่า SMTP credential ใน n8n ให้อัตโนมัติ หลักฐาน local SMTP test ใหม่เป็นของ backend password reset ไม่ใช่หลักฐานว่า workflow n8n ส่งจริงแล้ว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SQL UNIQUE(user_id,task_id,notification_date,channel) ป้องกัน receipt ซ้ำในวันเดียวกัน GET due-tasks เลือกงานเจ้าของ key ที่ยังไม่ completed, due_date&lt;=date และไม่มี receipt ของวันนั้น จำกัดรอบละ 100 tasks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POST reminders ตรวจ task ทุก id ว่าเป็นของ key owner ภายใน SQL transaction ก่อน insert ถ้ามี task ผิดเจ้าของจะ rollback ทั้ง batch INSERT OR IGNORE ทำให้ POST ซ้ำไม่เพิ่ม row ซ้ำ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SQL receipt ช่วยลดการส่งซ้ำ แต่ SMTP กับ SQL อยู่คนละระบบ จึงไม่ใช่ exactly-once ถ้าส่ง email แล้ว process crash ก่อน POST record รอบถัดไปอาจส่งซ้ำ workflow สองตัวรันพร้อมกันอาจ GET งานเดียวกันก่อนบันทึก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แนวปฏิบัติขอบเขตนี้: ใช้ workflow เดียว หลีกเลี่ยง concurrent runs ตรวจ failed execution และทบทวนว่ารอบละ 100 งานเพียงพอ หากต้องการ reliability มากขึ้นต้องออกแบบ queue/outbox และ provider idempotency เพิ่ม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receipt พิสูจน์ผู้ใช้ได้อ่าน email หรือไม่? ตอบ: ไม่ได้ SMTP success หมายถึงขั้นตอนส่งยอมรับคำขอ ไม่พิสูจน์ inbox หรือการอ่าน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จุดชี้โค้ด: integrations.ts และ schema.sql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ผลยืนยันของระบบปัจจุบัน: npm test ผ่าน54/54 แบ่งเป็น35 API เดิม,17 password reset และ2 mail tests รวม functional behavior tests ไม่ใช่ load test หรือ security audit ครอบจักรวาล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ชุด35เดิมครอบคลุม owner CRUD404, JWT exp/issuer/audience/algorithm, logout replay, Securecookie, JSON/validation/PATCH preservation, Origin/body/rate limit, SQLconstraints/injection และ APIkey scope/expiry/revoke กับ reminder dedup/rollback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ชุด17resetครอบคลุมข้อความกลาง normalization tokenสุ่ม/digest/15min ขอลิงก์ไม่เปลี่ยนpassword successfulreset revokeทุกsession singleuse expired/tampered/unknown validationยังไม่consume otherlinks invalidated crossaccountisolation concurrentclaimสำเร็จครั้งเดียว loginraceguard cooldown60s/hourcap3 SMTPnotconfigured asyncfailurecleanup resetlimits และcrossorigin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2mailtestsมี1config validation และ1end-to-end ที่เปิด SMTP receiver จริงบนloopback รับข้อความแล้วเอาลิงก์ที่รับมาตั้งรหัสผ่านและloginด้วยรหัสใหม่ ไม่มีการใช้Gmailจริง จึงไม่อ้างว่าส่งผ่านGmail2ฉบับหรือเข้าinbox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Buildผ่านและตรวจUI responsive320–1440px รวมหน้าresetแบบvisualQA ยังไม่ได้กรอกรหัสใหม่จนจบผ่านbrowser ส่วนAPI+SMTPend-to-endทดสอบแยกและไม่แทนSMTPGmail delivery proof ส่วนn8nยังผ่านstatic workflow/compose validationตามขอบเขตเดิม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แยกสิ่งที่ทดสอบแล้วออกจากเงื่อนไขdeploymentที่ต้องตรวจจริง และไม่ใช้จำนวนtestsแทนความมั่นใจทุกด้าน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เตรียมครั้งแรกตามREADME: npm install, npm run setup, npm run db:seed แล้ว npm run dev ซึ่งเปิด2processesคือHonoAPI3000และViteweb5173 อย่าเปิดnpmstartเดิมค้างบน3000หรือdevซ้ำบน5173 เมื่อเปลี่ยนวิธีรันให้Ctrl+Cหยุดprocessเก่าก่อน และถ้ามีterminalอื่นต้องหยุดของterminalนั้นแยกด้วย อย่าปิดprocessNodeที่ไม่เกี่ยวข้อง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ทางเลือกหลังbuild: npm run build แล้วnpm start Honoเสิร์ฟเว็บ/APIที่3000จากoriginเดียว ต้องใช้APP_PUBLIC_URL3000สำหรับresetlink ส่วนdevใช้5173 และdomainจริงต้องHTTPSพร้อมAPP_ORIGINที่ถูกต้อง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Demoหลัก: loginเพิ่มงานแก้status/dateค้นหาและชี้WHEREuser_id จากนั้นอธิบายforgotpasswordด้วยอีเมลรับจริงและSMTPที่ตั้งไว้ ถ้ายังไม่มีหลักฐานGmailให้อธิบายlocalSMTPtestกับภาพUI ไม่แอบอ้างส่งGmailจริง demo@taskflow.localรับเมลไม่ได้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สร้างAPIkeyครั้งเดียวแล้วเรียกdue-tasks/revokeเพื่อให้เห็นscope หากสาธิตn8nต้องตั้งcredentialและactivateเอง ฟีเจอร์resetไม่ต้องเปิดn8n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ก่อนเปิดภายนอก: HTTPS/reverseproxy/trustedIP/secretrotation backuprestore/migrations monitoringไม่logsecret distributedratelimitเมื่อหลายinstance durableemailqueueและdeliveryhandling ตลอดจนloadtest SQLiteDatabaseSyncยังblockeventloopระหว่างquery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54functionaltestsผ่านไม่ได้แปลว่าทดสอบโหลดหรือระบบใช้งานจริงทุกเงื่อนไขแล้ว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สรุปด้วยสิ่งที่ตอบได้: identity คือใครมาจาก JWT/session หรือ API key ownership คือทำกับข้อมูลของใคร runtime validation คือ request ถูกต้องหรือไม่ SQL constraint ป้องกันข้อมูลผิดบางชนิด ส่วน monorepo รักษา contract ให้ frontend/backend ตรงกัน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คำถาม reviewer ที่สำคัญ: ทำไม JWT พร้อม SQL session? เพื่อ revoke ทันทีแลก DB lookup ทำไม password ใช้ scrypt แต่ key ใช้ SHA-256? password เดาง่ายแต่ key สุ่ม entropy สูง ทำไมคืน404ข้ามowner? เพื่อตรวจสิทธิ์และไม่เปิดเผยการมีอยู่ของข้อมูล ทำไมแชร์ schema แล้วยังตรวจ backend? client ข้าม frontendได้ ทำไม n8n อาจส่งซ้ำ? SMTP กับ SQL ไม่มี transactionร่วมกัน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แหล่งศึกษา: Auth video และ repository ของ Web Dev Simplified อ่าน full autogenerated captions แต่ไม่ได้อ้างรับชม audiovisual ทั้งหมด Monorepo video หน้า Syntax และ repo ของ CJ ศึกษาหัวข้อ/โค้ดเนื่องจากไม่มี transcript เอกสารหลัก Hono, Zod, Node SQLite/Crypto, jose, npm workspaces, Tailwind และ n8n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ข้อเสนอสำหรับนำเสนอ: ถ้ายังอธิบาย keyword ไม่ได้ ให้เปิด glossary อ่านหัวใจและตัวอย่าง แล้วลองชี้ตำแหน่งโค้ดจริงก่อนใช้คำนั้นตอบ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ขอบเขต: ทุกแนวคิดและ tradeoff ใน TaskFlow เป็นการเลือกสำหรับโจทย์นี้ ต่างจาก tutorial บางส่วน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https://www.youtube.com/watch?v=U_D14T5TYuk</a:t>
            </a:r>
          </a:p>
          <a:p xmlns:a="http://schemas.openxmlformats.org/drawingml/2006/main">
            <a:r>
              <a:t>https://github.com/WebDevSimplified/hono-api-with-auth-crash-course</a:t>
            </a:r>
          </a:p>
          <a:p xmlns:a="http://schemas.openxmlformats.org/drawingml/2006/main">
            <a:r>
              <a:t>https://syntax.fm/videos/syntax-side-dish-explainers/monorepos-what-why-when-and-how-or-full-stack-react-hono-example</a:t>
            </a:r>
          </a:p>
          <a:p xmlns:a="http://schemas.openxmlformats.org/drawingml/2006/main">
            <a:r>
              <a:t>https://github.com/w3cj/monorepo-example-tasks-app</a:t>
            </a:r>
          </a:p>
          <a:p xmlns:a="http://schemas.openxmlformats.org/drawingml/2006/main">
            <a:r>
              <a:t>https://hono.dev/docs/</a:t>
            </a:r>
          </a:p>
          <a:p xmlns:a="http://schemas.openxmlformats.org/drawingml/2006/main">
            <a:r>
              <a:t>https://zod.dev/</a:t>
            </a:r>
          </a:p>
          <a:p xmlns:a="http://schemas.openxmlformats.org/drawingml/2006/main">
            <a:r>
              <a:t>https://nodejs.org/api/sqlite.html</a:t>
            </a:r>
          </a:p>
          <a:p xmlns:a="http://schemas.openxmlformats.org/drawingml/2006/main">
            <a:r>
              <a:t>https://nodejs.org/api/crypto.html</a:t>
            </a:r>
          </a:p>
          <a:p xmlns:a="http://schemas.openxmlformats.org/drawingml/2006/main">
            <a:r>
              <a:t>https://github.com/panva/jose</a:t>
            </a:r>
          </a:p>
          <a:p xmlns:a="http://schemas.openxmlformats.org/drawingml/2006/main">
            <a:r>
              <a:t>https://docs.npmjs.com/cli/using-npm/workspaces</a:t>
            </a:r>
          </a:p>
          <a:p xmlns:a="http://schemas.openxmlformats.org/drawingml/2006/main">
            <a:r>
              <a:t>https://tailwindcss.com/docs/styling-with-utility-classes</a:t>
            </a:r>
          </a:p>
          <a:p xmlns:a="http://schemas.openxmlformats.org/drawingml/2006/main">
            <a:r>
              <a:t>https://docs.n8n.io/integrations/builtin/core-nodes/n8n-nodes-base.scheduletrigger/</a:t>
            </a:r>
          </a:p>
          <a:p xmlns:a="http://schemas.openxmlformats.org/drawingml/2006/main">
            <a:r>
              <a:t>https://cheatsheetseries.owasp.org/cheatsheets/Session_Management_Cheat_Sheet.html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อัปเดต 14 ตุลาคม 2026</a:t>
            </a:r>
          </a:p>
          <a:p xmlns:a="http://schemas.openxmlformats.org/drawingml/2006/main">
            <a:r>
              <a:t>คำถามใหม่: ทำไม reset token เก็บ digest และใช้ครั้งเดียว? เพื่อให้ SQL ไม่เก็บความลับฉบับเต็มและป้องกัน reuse ด้วย atomic claim ทำไมอ่าน hash ซ้ำตอน login? ป้องกันออก session จากรหัสเก่าที่ reset เปลี่ยนระหว่าง await scrypt ทำไมไม่ยืนยัน Gmailส่งจริง? หลักฐานมี local SMTP end-to-end แต่ยังไม่มีการทดสอบกับ Gmail และ inbox จริง ดู docs/password-reset-gmail.md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a3a7ec8886405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78cb753a734e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28c219f3d74b6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ebb15a21154e4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f90be930dd4c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ce602a925643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61E5D1-46C4-4AE4-9085-A30C3F3BDC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9710D0F-DD99-43D2-B973-E590EFE847E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E6D7BD6-9D5D-4087-9AE9-36294244A3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E877D8-BECD-4E4C-9CDB-F639D1AAC7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D1D7E83-79C6-46EA-AA94-9F0E805489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90B531B-B051-4A5D-A0BD-495704BFA6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64F388-1101-4F1E-9CF8-77CA7974A3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54CF73E-D278-4D73-AC55-02B585027C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2FE349-9728-48A6-9688-1FB2B524BA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0FE0F4-04AC-4AA3-A7B9-E07645315A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f45a6aeae04eab" /><Relationship Type="http://schemas.openxmlformats.org/officeDocument/2006/relationships/slideLayout" Target="/ppt/slideLayouts/slideLayout1.xml" Id="Ra8b875ea411845ff" /><Relationship Type="http://schemas.openxmlformats.org/officeDocument/2006/relationships/slideLayout" Target="/ppt/slideLayouts/slideLayout2.xml" Id="R010e6d7e7a4f48a7" /><Relationship Type="http://schemas.openxmlformats.org/officeDocument/2006/relationships/slideLayout" Target="/ppt/slideLayouts/slideLayout3.xml" Id="R2edabe034d7d4c68" /><Relationship Type="http://schemas.openxmlformats.org/officeDocument/2006/relationships/slideLayout" Target="/ppt/slideLayouts/slideLayout4.xml" Id="R721d2f2956de4761" /><Relationship Type="http://schemas.openxmlformats.org/officeDocument/2006/relationships/slideLayout" Target="/ppt/slideLayouts/slideLayout5.xml" Id="R213fb6cf2ee94825" /><Relationship Type="http://schemas.openxmlformats.org/officeDocument/2006/relationships/slideLayout" Target="/ppt/slideLayouts/slideLayout6.xml" Id="R560c258e328948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b875ea411845ff"/>
    <p:sldLayoutId xmlns:r="http://schemas.openxmlformats.org/officeDocument/2006/relationships" id="2147483650" r:id="R010e6d7e7a4f48a7"/>
    <p:sldLayoutId xmlns:r="http://schemas.openxmlformats.org/officeDocument/2006/relationships" id="2147483651" r:id="R2edabe034d7d4c68"/>
    <p:sldLayoutId xmlns:r="http://schemas.openxmlformats.org/officeDocument/2006/relationships" id="2147483652" r:id="R721d2f2956de4761"/>
    <p:sldLayoutId xmlns:r="http://schemas.openxmlformats.org/officeDocument/2006/relationships" id="2147483653" r:id="R213fb6cf2ee94825"/>
    <p:sldLayoutId xmlns:r="http://schemas.openxmlformats.org/officeDocument/2006/relationships" id="2147483654" r:id="R560c258e328948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028a20b34249b3" /><Relationship Type="http://schemas.openxmlformats.org/officeDocument/2006/relationships/notesSlide" Target="/ppt/notesSlides/notesSlide1.xml" Id="R95e07f8a458444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ee6ea1ad4148db" /><Relationship Type="http://schemas.openxmlformats.org/officeDocument/2006/relationships/notesSlide" Target="/ppt/notesSlides/notesSlide2.xml" Id="R1b3efe4f833140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7a17e8b8a043ae" /><Relationship Type="http://schemas.openxmlformats.org/officeDocument/2006/relationships/notesSlide" Target="/ppt/notesSlides/notesSlide3.xml" Id="R03309b8462bb4c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b75914bdf24c67" /><Relationship Type="http://schemas.openxmlformats.org/officeDocument/2006/relationships/image" Target="/ppt/media/image.jpeg" Id="R2447ce74fc074526" /><Relationship Type="http://schemas.openxmlformats.org/officeDocument/2006/relationships/notesSlide" Target="/ppt/notesSlides/notesSlide4.xml" Id="R7fb38af0bbc741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f81491c3894570" /><Relationship Type="http://schemas.openxmlformats.org/officeDocument/2006/relationships/notesSlide" Target="/ppt/notesSlides/notesSlide5.xml" Id="Ra225e63914f647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2f598398444924" /><Relationship Type="http://schemas.openxmlformats.org/officeDocument/2006/relationships/notesSlide" Target="/ppt/notesSlides/notesSlide6.xml" Id="Rfb1fc84b312147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87a2f6af36451f" /><Relationship Type="http://schemas.openxmlformats.org/officeDocument/2006/relationships/notesSlide" Target="/ppt/notesSlides/notesSlide7.xml" Id="R98e18210107342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1b5482a54e4702" /><Relationship Type="http://schemas.openxmlformats.org/officeDocument/2006/relationships/notesSlide" Target="/ppt/notesSlides/notesSlide8.xml" Id="R6eb9a8fdd6b14d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04572f9acb4179" /><Relationship Type="http://schemas.openxmlformats.org/officeDocument/2006/relationships/notesSlide" Target="/ppt/notesSlides/notesSlide9.xml" Id="R7b94c390991c48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13246f4744485c" /><Relationship Type="http://schemas.openxmlformats.org/officeDocument/2006/relationships/notesSlide" Target="/ppt/notesSlides/notesSlide10.xml" Id="Ra8ba454f80c643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1a6110d1aa4de7" /><Relationship Type="http://schemas.openxmlformats.org/officeDocument/2006/relationships/notesSlide" Target="/ppt/notesSlides/notesSlide11.xml" Id="R8aa90e8ab63040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769f095aae4f38" /><Relationship Type="http://schemas.openxmlformats.org/officeDocument/2006/relationships/notesSlide" Target="/ppt/notesSlides/notesSlide12.xml" Id="R51b93ab04b2e4e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cf4d4a38334f0f" /><Relationship Type="http://schemas.openxmlformats.org/officeDocument/2006/relationships/notesSlide" Target="/ppt/notesSlides/notesSlide13.xml" Id="R4b08ba80e4104e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8438ecb786496d" /><Relationship Type="http://schemas.openxmlformats.org/officeDocument/2006/relationships/notesSlide" Target="/ppt/notesSlides/notesSlide14.xml" Id="Rd5bf171950754b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e3b490508d4a37" /><Relationship Type="http://schemas.openxmlformats.org/officeDocument/2006/relationships/image" Target="/ppt/media/image2.jpeg" Id="Rc9d3047041034886" /><Relationship Type="http://schemas.openxmlformats.org/officeDocument/2006/relationships/notesSlide" Target="/ppt/notesSlides/notesSlide15.xml" Id="R84d8e0f677c7470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0912f2ea69463d" /><Relationship Type="http://schemas.openxmlformats.org/officeDocument/2006/relationships/notesSlide" Target="/ppt/notesSlides/notesSlide16.xml" Id="R444915953405456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fca270cd07482f" /><Relationship Type="http://schemas.openxmlformats.org/officeDocument/2006/relationships/notesSlide" Target="/ppt/notesSlides/notesSlide17.xml" Id="R9bb85a502b1e46a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e414b2cd4d49b8" /><Relationship Type="http://schemas.openxmlformats.org/officeDocument/2006/relationships/notesSlide" Target="/ppt/notesSlides/notesSlide18.xml" Id="R44cbedccb24c439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486c590b63406e" /><Relationship Type="http://schemas.openxmlformats.org/officeDocument/2006/relationships/notesSlide" Target="/ppt/notesSlides/notesSlide19.xml" Id="R3ee5238d39394c6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8419e8532f4401" /><Relationship Type="http://schemas.openxmlformats.org/officeDocument/2006/relationships/notesSlide" Target="/ppt/notesSlides/notesSlide20.xml" Id="Rb32a5ca75c1e457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4b9a2b9b3e44e1" /><Relationship Type="http://schemas.openxmlformats.org/officeDocument/2006/relationships/notesSlide" Target="/ppt/notesSlides/notesSlide21.xml" Id="R4b90e99c08c744d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8ae6b9dcf649d1" /><Relationship Type="http://schemas.openxmlformats.org/officeDocument/2006/relationships/notesSlide" Target="/ppt/notesSlides/notesSlide22.xml" Id="R38786e5c9c07444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fdc29f67504793" /><Relationship Type="http://schemas.openxmlformats.org/officeDocument/2006/relationships/notesSlide" Target="/ppt/notesSlides/notesSlide23.xml" Id="R65087efa3de94dd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e8ef2fa3a443ef" /><Relationship Type="http://schemas.openxmlformats.org/officeDocument/2006/relationships/notesSlide" Target="/ppt/notesSlides/notesSlide24.xml" Id="Rdc7c81c1bdf646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0049CD6B-3DB1-459D-934F-7D6EA288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2202B"/>
                </a:solidFill>
                <a:latin typeface="Tahoma"/>
                <a:ea typeface="Tahoma"/>
                <a:cs typeface="Tahoma"/>
              </a:rPr>
              <a:t>TaskFlow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1936D-3D10-40D7-BB1C-BB15452B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9153A05-CA93-4FFE-88D1-BC8D195F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1163803-ADD7-43C3-B301-ECA93263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4050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4050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ระบบจัดการงานส่วนตัว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DD27544-2573-45CF-8BC2-9225102A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React + Tailwind CSS  /  Hono  /  SQLite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BC33E17-1693-4728-8A47-0B5B7A30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6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Code review ที่อธิบายได้ตั้งแต่หน้าจอถึง SQL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9C5324A-4DDD-4579-90D5-B4E99563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JWT/session  /  API key สำหรับ n8n  /  ลิงก์ตั้งรหัสผ่านใหม่</a:t>
            </a:r>
          </a:p>
        </p:txBody>
      </p:sp>
    </p:spTree>
    <p:extLst>
      <p:ext uri="{BB962C8B-B14F-4D97-AF65-F5344CB8AC3E}">
        <p14:creationId xmlns:p14="http://schemas.microsoft.com/office/powerpoint/2010/main" val="10232800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DFD23-C5A0-40B3-AD48-F3B0A57409A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24900" y="24574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E16CD-454F-4A7D-B556-95B83EC0EAB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867400" y="24574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AA743-2839-4012-BE66-7F13621FEE7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09900" y="24574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0BAB4F0C-95A0-43AF-8849-231909A2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ปัญหาและขอบเขตของระบบ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6AA7E-543E-4C95-AA62-3FFB81A7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9F265B3-B71F-4F09-A510-4E69DC65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4" name="เข้าสู่ระบบ">
            <a:extLst xmlns:a="http://schemas.openxmlformats.org/drawingml/2006/main">
              <a:ext uri="{FF2B5EF4-FFF2-40B4-BE49-F238E27FC236}">
                <a16:creationId xmlns:a16="http://schemas.microsoft.com/office/drawing/2014/main" id="{95B0131B-107A-40AD-A34B-E4FCE805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400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EE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เข้าสู่ระบบ</a:t>
            </a:r>
          </a:p>
        </p:txBody>
      </p:sp>
      <p:sp>
        <p:nvSpPr>
          <p:cNvPr id="5" name="เพิ่มงานส่วนตัว">
            <a:extLst xmlns:a="http://schemas.openxmlformats.org/drawingml/2006/main">
              <a:ext uri="{FF2B5EF4-FFF2-40B4-BE49-F238E27FC236}">
                <a16:creationId xmlns:a16="http://schemas.microsoft.com/office/drawing/2014/main" id="{DFACE193-F5FA-4879-BC42-47B50BF1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81200"/>
            <a:ext cx="2400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EE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เพิ่มงานส่วนตัว</a:t>
            </a:r>
          </a:p>
        </p:txBody>
      </p:sp>
      <p:sp>
        <p:nvSpPr>
          <p:cNvPr id="6" name="จัดการสถานะ">
            <a:extLst xmlns:a="http://schemas.openxmlformats.org/drawingml/2006/main">
              <a:ext uri="{FF2B5EF4-FFF2-40B4-BE49-F238E27FC236}">
                <a16:creationId xmlns:a16="http://schemas.microsoft.com/office/drawing/2014/main" id="{8EB93796-1E0B-4340-9E99-7E1F3B22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2400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EE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จัดการสถานะ</a:t>
            </a:r>
          </a:p>
        </p:txBody>
      </p:sp>
      <p:sp>
        <p:nvSpPr>
          <p:cNvPr id="7" name="ดูงานครบกำหนด">
            <a:extLst xmlns:a="http://schemas.openxmlformats.org/drawingml/2006/main">
              <a:ext uri="{FF2B5EF4-FFF2-40B4-BE49-F238E27FC236}">
                <a16:creationId xmlns:a16="http://schemas.microsoft.com/office/drawing/2014/main" id="{8B522491-DC0D-4183-BAF8-F9C46D25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81200"/>
            <a:ext cx="2400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EE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ดูงานครบกำหนด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D3E3A96C-E124-4FD2-9261-307D17D8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ข้อมูลของงาน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26AE1C5A-2956-4FF9-B221-F0906078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048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ชื่อและรายละเอียด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สถานะ 3 แบบ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ความสำคัญ 3 ระดับ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วันครบกำหนดที่เลือกได้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9EAC80F-B652-4C37-827F-E1AF99FA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195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ขอบเขตที่ตั้งใจเลือก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E813CCA4-6757-486A-92F9-3415082C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9575"/>
            <a:ext cx="4953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งานของเจ้าของบัญชีเท่านั้น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ไม่มีบทบาทแอดมิน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แจ้งเตือนผ่าน n8n เป็นส่วนเสริม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เริ่มรันบนเครื่องเดียว</a:t>
            </a:r>
          </a:p>
        </p:txBody>
      </p:sp>
    </p:spTree>
    <p:extLst>
      <p:ext uri="{BB962C8B-B14F-4D97-AF65-F5344CB8AC3E}">
        <p14:creationId xmlns:p14="http://schemas.microsoft.com/office/powerpoint/2010/main" val="4757447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BA72353-7AC1-4653-9AEF-69CCDDCE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แนวคิดจากบทเรียนทั้งสอง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74C74-F6FA-4C5E-96A0-37811469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E259772-F820-498B-9AD2-D273D491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23B95A8-6FA6-4C7D-97E5-1302CFA0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528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API Auth, JWT และ API Keys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B608875-F744-44FD-BA4D-85622BC8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286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Hono จัดการ route และ middleware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รหัสผ่านใช้ scrypt พร้อม salt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JWT พิสูจน์คำอ้างเกี่ยวกับผู้ใช้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API key ให้โปรแกรมเรียก integration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AD53245-C629-4B4B-83B0-A19659F9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8117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Monorepo React + Hono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6CFE0AE-4802-4185-9984-B65AE872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241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เก็บ web และ API ใน repository เดียว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แชร์ schema และ type ใน package กลาง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เปลี่ยนสัญญาข้อมูลได้พร้อมกัน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TaskFlow ใช้ npm workspaces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068CB-F41D-42C5-B9A3-3716E26B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1E63D1D-B68D-48FC-B716-770FC332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34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หลักฐานการเรียน: Auth ใช้คำบรรยายเต็มและโค้ดผู้สอน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Monorepo ใช้หัวข้อและ repository ของผู้สอน</a:t>
            </a:r>
          </a:p>
        </p:txBody>
      </p:sp>
    </p:spTree>
    <p:extLst>
      <p:ext uri="{BB962C8B-B14F-4D97-AF65-F5344CB8AC3E}">
        <p14:creationId xmlns:p14="http://schemas.microsoft.com/office/powerpoint/2010/main" val="3318751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92299C1F-E66B-42AD-8F26-9788E313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หน้าจอจริงและเส้นทางการใช้งาน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9BAE0-BE5E-4577-938D-F6F7C5FD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48BEA5E-5730-4A90-8BAB-EFFCBF7D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BBECF-CF76-48F1-A42D-A693B4530F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7ce74fc074526"/>
          <a:stretch xmlns:a="http://schemas.openxmlformats.org/drawingml/2006/main"/>
        </p:blipFill>
        <p:spPr>
          <a:xfrm xmlns:a="http://schemas.openxmlformats.org/drawingml/2006/main">
            <a:off x="987750" y="1571625"/>
            <a:ext cx="2120251" cy="459105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4D69F3C-9C03-4838-8F1A-B86EEBBC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80975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B29255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763E72F-EF74-44BC-8ADC-229515A4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09750"/>
            <a:ext cx="68961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เพิ่มงานพร้อมวันครบกำหนด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2A3E265-495B-452C-A6E6-2D578E9B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0987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B29255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762AE645-4A54-4C93-BFC3-EE8F804C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09875"/>
            <a:ext cx="68961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ค้นหาและกรองรายการที่ต้องการ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536594C0-2B52-44A3-AEF1-8949B5F1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8100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B29255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E6374402-420B-48F6-A8F4-DB2DE525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10000"/>
            <a:ext cx="68961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เปลี่ยนสถานะและแก้ไขรายละเอียด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A2A6A41B-3308-4F0E-B8F1-353440A6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81012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B29255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35AFB8C2-AEA1-4A77-8EBD-AEF1A00C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10125"/>
            <a:ext cx="68961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จัดการ API key สำหรับ n8n</a:t>
            </a:r>
          </a:p>
        </p:txBody>
      </p:sp>
    </p:spTree>
    <p:extLst>
      <p:ext uri="{BB962C8B-B14F-4D97-AF65-F5344CB8AC3E}">
        <p14:creationId xmlns:p14="http://schemas.microsoft.com/office/powerpoint/2010/main" val="15820878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D5A1B8-76E5-4247-B5E2-805E96291EA1}"/>
              </a:ext>
            </a:extLst>
          </p:cNvPr>
          <p:cNvCxnSpPr>
            <a:stCxn xmlns:a="http://schemas.openxmlformats.org/drawingml/2006/main" id="24" idx="0"/>
            <a:endCxn xmlns:a="http://schemas.openxmlformats.org/drawingml/2006/main" id="17" idx="2"/>
          </p:cNvCxnSpPr>
          <p:nvPr/>
        </p:nvCxnSpPr>
        <p:spPr>
          <a:xfrm xmlns:a="http://schemas.openxmlformats.org/drawingml/2006/main" flipV="1">
            <a:off x="6086475" y="3362325"/>
            <a:ext cx="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A9DE8D-23AC-4241-AF64-0EF23D2FCBB7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543800" y="2776538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13A565-0E81-4106-85D4-9870FF46DAD5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524250" y="2776538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24446E0A-4761-42B3-8C79-C15EA85E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สถาปัตยกรรมของ TaskFlow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8BE79-1C25-4BF7-8DE5-D951CF75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FDED537-8A7F-46A8-AB47-E01A649D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16" name="Browser&#10;React + Tailwind">
            <a:extLst xmlns:a="http://schemas.openxmlformats.org/drawingml/2006/main">
              <a:ext uri="{FF2B5EF4-FFF2-40B4-BE49-F238E27FC236}">
                <a16:creationId xmlns:a16="http://schemas.microsoft.com/office/drawing/2014/main" id="{A9742BED-26F0-4E41-9740-4D84F168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9146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EE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Browser</a:t>
            </a:r>
          </a:p>
          <a:p xmlns:a="http://schemas.openxmlformats.org/drawingml/2006/main">
            <a:pPr algn="ctr">
              <a:defRPr sz="187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React + Tailwind</a:t>
            </a:r>
          </a:p>
        </p:txBody>
      </p:sp>
      <p:sp>
        <p:nvSpPr>
          <p:cNvPr id="17" name="Node.js&#10;Hono API">
            <a:extLst xmlns:a="http://schemas.openxmlformats.org/drawingml/2006/main">
              <a:ext uri="{FF2B5EF4-FFF2-40B4-BE49-F238E27FC236}">
                <a16:creationId xmlns:a16="http://schemas.microsoft.com/office/drawing/2014/main" id="{8DAE2A1E-9B8E-4DAC-B7E1-92DE8BF7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90750"/>
            <a:ext cx="29146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EE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Node.js</a:t>
            </a:r>
          </a:p>
          <a:p xmlns:a="http://schemas.openxmlformats.org/drawingml/2006/main">
            <a:pPr algn="ctr">
              <a:defRPr sz="187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Hono API</a:t>
            </a:r>
          </a:p>
        </p:txBody>
      </p:sp>
      <p:sp>
        <p:nvSpPr>
          <p:cNvPr id="18" name="SQLite&#10;6 ตาราง">
            <a:extLst xmlns:a="http://schemas.openxmlformats.org/drawingml/2006/main">
              <a:ext uri="{FF2B5EF4-FFF2-40B4-BE49-F238E27FC236}">
                <a16:creationId xmlns:a16="http://schemas.microsoft.com/office/drawing/2014/main" id="{4FDD1A1D-C8F6-4E8D-9539-B9443D3C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90750"/>
            <a:ext cx="29146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EE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SQLite</a:t>
            </a:r>
          </a:p>
          <a:p xmlns:a="http://schemas.openxmlformats.org/drawingml/2006/main">
            <a:pPr algn="ctr">
              <a:defRPr sz="187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6 ตาราง</a:t>
            </a:r>
          </a:p>
        </p:txBody>
      </p:sp>
      <p:sp>
        <p:nvSpPr>
          <p:cNvPr id="21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DC557F73-0875-416D-A183-80B50C5B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1927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HTTP / JSON</a:t>
            </a:r>
          </a:p>
        </p:txBody>
      </p:sp>
      <p:sp>
        <p:nvSpPr>
          <p:cNvPr id="22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68C51FCA-360A-439B-9090-370EAA8E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8192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Prepared SQL</a:t>
            </a:r>
          </a:p>
        </p:txBody>
      </p:sp>
      <p:sp>
        <p:nvSpPr>
          <p:cNvPr id="23" name="Gmail SMTP&#10;ลิงก์ตั้งรหัสใหม่">
            <a:extLst xmlns:a="http://schemas.openxmlformats.org/drawingml/2006/main">
              <a:ext uri="{FF2B5EF4-FFF2-40B4-BE49-F238E27FC236}">
                <a16:creationId xmlns:a16="http://schemas.microsoft.com/office/drawing/2014/main" id="{67EB1FAF-3F13-47AD-A856-CD5DD8B5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2914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Gmail SMTP</a:t>
            </a:r>
          </a:p>
          <a:p xmlns:a="http://schemas.openxmlformats.org/drawingml/2006/main">
            <a:pPr algn="ctr">
              <a:defRPr sz="180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ลิงก์ตั้งรหัสใหม่</a:t>
            </a:r>
          </a:p>
        </p:txBody>
      </p:sp>
      <p:sp>
        <p:nvSpPr>
          <p:cNvPr id="24" name="n8n workflow">
            <a:extLst xmlns:a="http://schemas.openxmlformats.org/drawingml/2006/main">
              <a:ext uri="{FF2B5EF4-FFF2-40B4-BE49-F238E27FC236}">
                <a16:creationId xmlns:a16="http://schemas.microsoft.com/office/drawing/2014/main" id="{4E8F6179-9DDA-4B51-B657-113A134F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48200"/>
            <a:ext cx="2914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n8n 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0349DB-F827-48F3-A380-6A12466B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62325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8C8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23B2FF-5B44-4823-B1EF-8F0136F8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895725"/>
            <a:ext cx="307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8C82"/>
            </a:solidFill>
          </a:ln>
        </p:spPr>
      </p: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850130-1AF9-45F6-A2BD-6D4C0FD9DB9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66925" y="3895725"/>
            <a:ext cx="0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sp>
        <p:nvSpPr>
          <p:cNvPr id="29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63CC544E-8A23-4439-8567-C938920B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ส่ง reset email</a:t>
            </a:r>
          </a:p>
        </p:txBody>
      </p:sp>
      <p:sp>
        <p:nvSpPr>
          <p:cNvPr id="30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DC6CB188-1D32-4978-BCB7-C043270D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14825"/>
            <a:ext cx="3219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x-api-key</a:t>
            </a:r>
          </a:p>
          <a:p xmlns:a="http://schemas.openxmlformats.org/drawingml/2006/main">
            <a:pPr algn="l">
              <a:defRPr sz="1875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เฉพาะ reminders</a:t>
            </a:r>
          </a:p>
        </p:txBody>
      </p:sp>
      <p:sp>
        <p:nvSpPr>
          <p:cNvPr id="31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95F9AB19-14BE-4073-8A43-BD697391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Dev: Vite 5173 และ Hono 3000 เป็นสอง process</a:t>
            </a:r>
          </a:p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หลัง build: Hono เสิร์ฟเว็บและ API จาก origin เดียว</a:t>
            </a:r>
          </a:p>
        </p:txBody>
      </p:sp>
    </p:spTree>
    <p:extLst>
      <p:ext uri="{BB962C8B-B14F-4D97-AF65-F5344CB8AC3E}">
        <p14:creationId xmlns:p14="http://schemas.microsoft.com/office/powerpoint/2010/main" val="21346228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392FF-8399-428F-AB4E-A87166BE9261}"/>
              </a:ext>
            </a:extLst>
          </p:cNvPr>
          <p:cNvCxnSpPr>
            <a:stCxn xmlns:a="http://schemas.openxmlformats.org/drawingml/2006/main" id="6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9067800" y="4105275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2F1F2-F716-4723-AEE4-33E753C349E2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067800" y="2790825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E8685F53-95B4-4ED1-881D-AEB429BC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2202B"/>
                </a:solidFill>
                <a:latin typeface="Tahoma"/>
                <a:ea typeface="Tahoma"/>
                <a:cs typeface="Tahoma"/>
              </a:rPr>
              <a:t>Monorepo และ package ที่แชร์ร่วมกัน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FFE14-1C95-49B3-A9DE-9F309C39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65CB69A-8726-4EC1-A6BF-3D28AF58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0E55B4C-8727-4023-96FE-7E1D1CC6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54292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taskflow/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  apps/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    web/        React + Tailwind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    api/          Hono + SQL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  packages/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    shared/    Zod + types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  n8n/          workflow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  docs/         คู่มือ</a:t>
            </a:r>
          </a:p>
        </p:txBody>
      </p:sp>
      <p:sp>
        <p:nvSpPr>
          <p:cNvPr id="5" name="@taskflow/web">
            <a:extLst xmlns:a="http://schemas.openxmlformats.org/drawingml/2006/main">
              <a:ext uri="{FF2B5EF4-FFF2-40B4-BE49-F238E27FC236}">
                <a16:creationId xmlns:a16="http://schemas.microsoft.com/office/drawing/2014/main" id="{14146615-A806-4592-A389-2C404692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28825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EE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@taskflow/web</a:t>
            </a:r>
          </a:p>
        </p:txBody>
      </p:sp>
      <p:sp>
        <p:nvSpPr>
          <p:cNvPr id="6" name="@taskflow/api">
            <a:extLst xmlns:a="http://schemas.openxmlformats.org/drawingml/2006/main">
              <a:ext uri="{FF2B5EF4-FFF2-40B4-BE49-F238E27FC236}">
                <a16:creationId xmlns:a16="http://schemas.microsoft.com/office/drawing/2014/main" id="{AC11C02C-A524-45C6-8A2C-7AFA4DC9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43425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EE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@taskflow/api</a:t>
            </a:r>
          </a:p>
        </p:txBody>
      </p:sp>
      <p:sp>
        <p:nvSpPr>
          <p:cNvPr id="7" name="@taskflow/shared&#10;schema และ types">
            <a:extLst xmlns:a="http://schemas.openxmlformats.org/drawingml/2006/main">
              <a:ext uri="{FF2B5EF4-FFF2-40B4-BE49-F238E27FC236}">
                <a16:creationId xmlns:a16="http://schemas.microsoft.com/office/drawing/2014/main" id="{EB976A80-643B-4A7C-97B0-672574D4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09925"/>
            <a:ext cx="400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@taskflow/shared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schema และ types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E700E13-E2F1-49E1-B872-1B6A086F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root scripts สั่ง build และ test ทั้ง repo</a:t>
            </a:r>
          </a:p>
        </p:txBody>
      </p:sp>
    </p:spTree>
    <p:extLst>
      <p:ext uri="{BB962C8B-B14F-4D97-AF65-F5344CB8AC3E}">
        <p14:creationId xmlns:p14="http://schemas.microsoft.com/office/powerpoint/2010/main" val="9521659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BD09C225-C50F-4514-A96B-016E2C6A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2202B"/>
                </a:solidFill>
                <a:latin typeface="Tahoma"/>
                <a:ea typeface="Tahoma"/>
                <a:cs typeface="Tahoma"/>
              </a:rPr>
              <a:t>Shared schema และการตรวจข้อมูล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CAED0-360F-4589-BE73-903A4F8E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C2ACE2E-209F-4020-9B3D-2CE14FC1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98F9036-F98E-4EEE-97F8-BDC8826F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5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title: z.string().trim().min(3).max(120)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status: z.enum(['pending', 'in_progress', 'completed'])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due_date: dateSchema.nullable()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E10B35A-E9DB-41DF-B91A-08AA9715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509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Frontend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6A5EDCE-02BC-4B3B-87C8-33613143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5095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ใช้ schema ตรวจฟอร์ม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ผู้ใช้เห็นข้อความผิดพลาดก่อนส่ง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Tailwind จัดรูปแบบ UI ด้วย utility classes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8B7EB9B-A169-472A-AA79-BAEAA80A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990975"/>
            <a:ext cx="500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Backend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8AF0BE7-B6E5-4D2E-9360-AA877AD2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533900"/>
            <a:ext cx="5000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ตรวจ request ทุกครั้ง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PATCH ที่ไม่ส่ง field คงค่าเดิม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ข้อมูลผิดคืน 400 โดยไม่เขียน SQL</a:t>
            </a:r>
          </a:p>
        </p:txBody>
      </p:sp>
    </p:spTree>
    <p:extLst>
      <p:ext uri="{BB962C8B-B14F-4D97-AF65-F5344CB8AC3E}">
        <p14:creationId xmlns:p14="http://schemas.microsoft.com/office/powerpoint/2010/main" val="13482396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0">
            <a:extLst xmlns:a="http://schemas.openxmlformats.org/drawingml/2006/main">
              <a:ext uri="{FF2B5EF4-FFF2-40B4-BE49-F238E27FC236}">
                <a16:creationId xmlns:a16="http://schemas.microsoft.com/office/drawing/2014/main" id="{FE268AF6-5AE9-46A6-AFA6-6B065A2D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2202B"/>
                </a:solidFill>
                <a:latin typeface="Tahoma"/>
                <a:ea typeface="Tahoma"/>
                <a:cs typeface="Tahoma"/>
              </a:rPr>
              <a:t>ER diagram ของฐานข้อมูล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BAFD5-DA53-4AB5-9638-CBE6F7A2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5405D39-946C-47AD-B124-98F6FF89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sp>
        <p:nvSpPr>
          <p:cNvPr id="27" name="users&#10;PK id&#10;email UNIQUE">
            <a:extLst xmlns:a="http://schemas.openxmlformats.org/drawingml/2006/main">
              <a:ext uri="{FF2B5EF4-FFF2-40B4-BE49-F238E27FC236}">
                <a16:creationId xmlns:a16="http://schemas.microsoft.com/office/drawing/2014/main" id="{6B1915AA-3EBF-4C5E-9136-62539EC4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2667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EE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users</a:t>
            </a:r>
          </a:p>
          <a:p xmlns:a="http://schemas.openxmlformats.org/drawingml/2006/main">
            <a:pPr algn="ctr">
              <a:defRPr sz="187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PK id</a:t>
            </a:r>
          </a:p>
          <a:p xmlns:a="http://schemas.openxmlformats.org/drawingml/2006/main">
            <a:pPr algn="ctr">
              <a:defRPr sz="187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email UNIQUE</a:t>
            </a:r>
          </a:p>
        </p:txBody>
      </p:sp>
      <p:sp>
        <p:nvSpPr>
          <p:cNvPr id="28" name="auth_sessions&#10;FK user_id&#10;expires_at, revoked_at">
            <a:extLst xmlns:a="http://schemas.openxmlformats.org/drawingml/2006/main">
              <a:ext uri="{FF2B5EF4-FFF2-40B4-BE49-F238E27FC236}">
                <a16:creationId xmlns:a16="http://schemas.microsoft.com/office/drawing/2014/main" id="{230A2E2D-9334-4129-AE32-7AA0A300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66875"/>
            <a:ext cx="32861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auth_sessions</a:t>
            </a:r>
          </a:p>
          <a:p xmlns:a="http://schemas.openxmlformats.org/drawingml/2006/main">
            <a: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FK user_id</a:t>
            </a:r>
          </a:p>
          <a:p xmlns:a="http://schemas.openxmlformats.org/drawingml/2006/main">
            <a: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expires_at, revoked_at</a:t>
            </a:r>
          </a:p>
        </p:txBody>
      </p:sp>
      <p:sp>
        <p:nvSpPr>
          <p:cNvPr id="29" name="password_reset_tokens&#10;FK user_id&#10;token_hash, expires_at, used_at">
            <a:extLst xmlns:a="http://schemas.openxmlformats.org/drawingml/2006/main">
              <a:ext uri="{FF2B5EF4-FFF2-40B4-BE49-F238E27FC236}">
                <a16:creationId xmlns:a16="http://schemas.microsoft.com/office/drawing/2014/main" id="{B72CECFD-C3DF-4655-B209-B01FD519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66875"/>
            <a:ext cx="3429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password_reset_tokens</a:t>
            </a:r>
          </a:p>
          <a:p xmlns:a="http://schemas.openxmlformats.org/drawingml/2006/main">
            <a: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FK user_id</a:t>
            </a:r>
          </a:p>
          <a:p xmlns:a="http://schemas.openxmlformats.org/drawingml/2006/main">
            <a: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token_hash, expires_at, used_at</a:t>
            </a:r>
          </a:p>
        </p:txBody>
      </p:sp>
      <p:sp>
        <p:nvSpPr>
          <p:cNvPr id="30" name="tasks&#10;FK user_id&#10;status, priority, due_date">
            <a:extLst xmlns:a="http://schemas.openxmlformats.org/drawingml/2006/main">
              <a:ext uri="{FF2B5EF4-FFF2-40B4-BE49-F238E27FC236}">
                <a16:creationId xmlns:a16="http://schemas.microsoft.com/office/drawing/2014/main" id="{771B418E-7ED0-4BA3-8C70-E1BC9D4E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3143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tasks</a:t>
            </a:r>
          </a:p>
          <a:p xmlns:a="http://schemas.openxmlformats.org/drawingml/2006/main">
            <a: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FK user_id</a:t>
            </a:r>
          </a:p>
          <a:p xmlns:a="http://schemas.openxmlformats.org/drawingml/2006/main">
            <a: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status, priority, due_date</a:t>
            </a:r>
          </a:p>
        </p:txBody>
      </p:sp>
      <p:sp>
        <p:nvSpPr>
          <p:cNvPr id="31" name="api_keys&#10;FK user_id&#10;secret_hash, scope, expires_at">
            <a:extLst xmlns:a="http://schemas.openxmlformats.org/drawingml/2006/main">
              <a:ext uri="{FF2B5EF4-FFF2-40B4-BE49-F238E27FC236}">
                <a16:creationId xmlns:a16="http://schemas.microsoft.com/office/drawing/2014/main" id="{CD9477A0-176E-4FD4-A729-3D2C755B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43375"/>
            <a:ext cx="32861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api_keys</a:t>
            </a:r>
          </a:p>
          <a:p xmlns:a="http://schemas.openxmlformats.org/drawingml/2006/main">
            <a: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FK user_id</a:t>
            </a:r>
          </a:p>
          <a:p xmlns:a="http://schemas.openxmlformats.org/drawingml/2006/main">
            <a: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secret_hash, scope, expires_at</a:t>
            </a:r>
          </a:p>
        </p:txBody>
      </p:sp>
      <p:sp>
        <p:nvSpPr>
          <p:cNvPr id="32" name="reminder_deliveries&#10;FK user_id + task_id&#10;UNIQUE เจ้าของ/งาน/วัน/ช่องทาง">
            <a:extLst xmlns:a="http://schemas.openxmlformats.org/drawingml/2006/main">
              <a:ext uri="{FF2B5EF4-FFF2-40B4-BE49-F238E27FC236}">
                <a16:creationId xmlns:a16="http://schemas.microsoft.com/office/drawing/2014/main" id="{A931E432-C091-4D1C-A8CC-FE8A3F74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43375"/>
            <a:ext cx="3429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65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reminder_deliveries</a:t>
            </a:r>
          </a:p>
          <a:p xmlns:a="http://schemas.openxmlformats.org/drawingml/2006/main">
            <a:pPr algn="ctr">
              <a:defRPr sz="165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FK user_id + task_id</a:t>
            </a:r>
          </a:p>
          <a:p xmlns:a="http://schemas.openxmlformats.org/drawingml/2006/main">
            <a:pPr algn="ctr">
              <a:defRPr sz="165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UNIQUE เจ้าของ/งาน/วัน/ช่องทาง</a:t>
            </a:r>
          </a:p>
        </p:txBody>
      </p: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EE71C0-8E03-44F7-8A2D-3ADECA9B0BC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76600" y="2305050"/>
            <a:ext cx="1057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2BF469-E6A8-4944-B6BB-58533AD8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42875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8C82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FC3C9C-096E-4177-8F27-DBC643D9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428750"/>
            <a:ext cx="791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8C82"/>
            </a:solidFill>
          </a:ln>
        </p:spPr>
      </p: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0D4F5D-7DBA-4CC6-938F-47B722CAB5C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858375" y="1428750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8E44C6-D28C-4483-AF61-20683A4FF33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43100" y="2952750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769119-93C6-450C-8A85-EF0CFB53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050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8C82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57C327-C050-4D34-88E5-8F52246D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0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8C82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E91BEB-29A0-4E34-93BA-8DAD6B17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24250"/>
            <a:ext cx="1971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8C82"/>
            </a:solidFill>
          </a:ln>
        </p:spPr>
      </p: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39150C-E0EB-49A4-9442-2BC404AB7CA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72175" y="3524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59D1FC-D4F9-4A9E-84C5-C6C30230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050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8C82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24062A-67CF-4FC9-ACE7-600317BD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0" cy="885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8C82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B6F404-F59D-45FF-8207-59E7ACF1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90875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8C82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A9CCB8-3109-4B6D-AA37-07F8989C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190875"/>
            <a:ext cx="0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8C82"/>
            </a:solidFill>
          </a:ln>
        </p:spPr>
      </p: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4CFA5F-2CB9-46F8-85E2-E86323A5BB08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1572875" y="48101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860091-B529-4F76-9F45-A985B9BE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5476875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8C82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1F7C97-129E-450B-BA58-2215157B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5905500"/>
            <a:ext cx="7677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8C82"/>
            </a:solidFill>
          </a:ln>
        </p:spPr>
      </p: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924372-9692-4F09-B76A-320B54FD50C1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858375" y="54768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sp>
        <p:nvSpPr>
          <p:cNvPr id="50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F98E322D-DBFA-4B61-8E38-F5A093A7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0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ลูกศรแสดงความสัมพันธ์ 1:N   ทุกตารางมี id เป็น primary key</a:t>
            </a:r>
          </a:p>
        </p:txBody>
      </p:sp>
    </p:spTree>
    <p:extLst>
      <p:ext uri="{BB962C8B-B14F-4D97-AF65-F5344CB8AC3E}">
        <p14:creationId xmlns:p14="http://schemas.microsoft.com/office/powerpoint/2010/main" val="19991998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A46A447F-1D49-4777-A159-88B56D6D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2202B"/>
                </a:solidFill>
                <a:latin typeface="Tahoma"/>
                <a:ea typeface="Tahoma"/>
                <a:cs typeface="Tahoma"/>
              </a:rPr>
              <a:t>SQL ที่ตรวจเจ้าของงานจริง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6D906-AFEB-4742-8689-CD2F3A72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51F8A2C-BBC4-4F78-9547-5D2F5800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0537D9B-7C9F-4747-BC7D-1B61A582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8108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SELECT id, title, status, priority, due_date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FROM tasks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WHERE id = ? AND user_id = ?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6409BCC-4C42-4A6D-B136-F135D0C4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db.prepare(sql).get(taskId, sessionUser.id)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6BA3D-BC52-4183-B611-17EC4502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1596A3C-9582-43C8-85A3-53F19A37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10906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id เลือกงาน  /  user_id ตรวจเจ้าของ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ค่าจากผู้ใช้เป็น parameter  /  identity มาจาก session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ไม่พบหรือเป็นงานของผู้อื่น คืน 404</a:t>
            </a:r>
          </a:p>
        </p:txBody>
      </p:sp>
    </p:spTree>
    <p:extLst>
      <p:ext uri="{BB962C8B-B14F-4D97-AF65-F5344CB8AC3E}">
        <p14:creationId xmlns:p14="http://schemas.microsoft.com/office/powerpoint/2010/main" val="1326697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0">
            <a:extLst xmlns:a="http://schemas.openxmlformats.org/drawingml/2006/main">
              <a:ext uri="{FF2B5EF4-FFF2-40B4-BE49-F238E27FC236}">
                <a16:creationId xmlns:a16="http://schemas.microsoft.com/office/drawing/2014/main" id="{5A5934E5-EA9D-4A14-B2C6-D565641A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ลำดับการเข้าสู่ระบบ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33B63-D5CA-4B06-ACB2-22EF7982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39BECE4-8ED4-4D4C-8AE2-4AD4CB10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6E2C7CD-FF10-40D1-B4C5-F74EE45F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Browser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34241-738F-4587-B2C9-DAED159F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0478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8AD08-1F58-4942-B109-222652DD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13360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8D9"/>
            </a:solidFill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C9B516B-18FC-4B84-AFD0-51443DF5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7162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Hono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F4D0F-A9CB-49FB-A06D-F5E9EACC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0478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4EA86-BA6D-45EE-ACA8-801209E5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13360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8D9"/>
            </a:solidFill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68151E62-E9BB-4FA3-B22D-920BDD38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57162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SQLite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E3601-25DB-48C3-BF41-7112A3FA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0478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6BD00-4A92-446C-8B50-E9BD90EC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13360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8D9"/>
            </a:solidFill>
          </a:ln>
        </p:spPr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F5F24-2B09-4422-8952-68FBDD38186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09775" y="2552700"/>
            <a:ext cx="405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4497F76E-2B4F-4347-932E-0A2B00AA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2288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1  POST email + password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1B986D-95FC-4DAD-9C8C-AF0F102CD3E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67425" y="3333750"/>
            <a:ext cx="405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1CB5532B-4CB6-4DAA-B7C5-B3A9C5A9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099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2  อ่าน user และ password_hash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604B9D-F775-4725-A092-5972E2BFB521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6067425" y="4010025"/>
            <a:ext cx="405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E8C36FF0-2D6D-4603-9E7C-3174B45F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861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3  คืนข้อมูล / API ตรวจ scrypt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B96EC5-9B88-44AD-8FBF-9D39D3050B4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67425" y="4695825"/>
            <a:ext cx="405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E1354305-593A-4EF6-B6B2-58DECBBE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719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4  INSERT auth_sessions</a:t>
            </a:r>
          </a:p>
        </p:txBody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84790D-821E-4441-A588-5CE2D7B7DCA1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009775" y="5429250"/>
            <a:ext cx="405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FD8489FF-FECD-4A28-B252-11AD488F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1054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5  Set-Cookie JWT + user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4AEFD800-A0AD-4B6C-B0D0-2C942932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cookie: HttpOnly, SameSite=Lax, Secure เมื่อ production</a:t>
            </a:r>
          </a:p>
        </p:txBody>
      </p:sp>
    </p:spTree>
    <p:extLst>
      <p:ext uri="{BB962C8B-B14F-4D97-AF65-F5344CB8AC3E}">
        <p14:creationId xmlns:p14="http://schemas.microsoft.com/office/powerpoint/2010/main" val="12414762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63C54-0C0E-4059-85BD-66C98C27C3C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639050" y="297180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F885D-1726-4AEF-B05A-AC52E1006C9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676650" y="2971800"/>
            <a:ext cx="895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CE1C3D77-9D89-4AEB-B5AB-284608AA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2202B"/>
                </a:solidFill>
                <a:latin typeface="Tahoma"/>
                <a:ea typeface="Tahoma"/>
                <a:cs typeface="Tahoma"/>
              </a:rPr>
              <a:t>JWT, cookie และการเพิกถอน session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06FBD-7797-4A2E-923B-46BE4D95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8DCAA3C-1248-4047-B944-8D04069F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4" name="Cookie JWT&#10;sub + sid + exp">
            <a:extLst xmlns:a="http://schemas.openxmlformats.org/drawingml/2006/main">
              <a:ext uri="{FF2B5EF4-FFF2-40B4-BE49-F238E27FC236}">
                <a16:creationId xmlns:a16="http://schemas.microsoft.com/office/drawing/2014/main" id="{FFE85CBA-DDA8-46AB-BFB1-32E4048A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067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EE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Cookie JWT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sub + sid + exp</a:t>
            </a:r>
          </a:p>
        </p:txBody>
      </p:sp>
      <p:sp>
        <p:nvSpPr>
          <p:cNvPr id="5" name="verify signature&#10;HS256 + exp + iss + aud">
            <a:extLst xmlns:a="http://schemas.openxmlformats.org/drawingml/2006/main">
              <a:ext uri="{FF2B5EF4-FFF2-40B4-BE49-F238E27FC236}">
                <a16:creationId xmlns:a16="http://schemas.microsoft.com/office/drawing/2014/main" id="{48E9609B-FB65-4AC5-9E55-8FBD3EEB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62200"/>
            <a:ext cx="3067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EE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verify signature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HS256 + exp + iss + aud</a:t>
            </a:r>
          </a:p>
        </p:txBody>
      </p:sp>
      <p:sp>
        <p:nvSpPr>
          <p:cNvPr id="6" name="SQL session&#10;ยังไม่หมดอายุและไม่ revoke">
            <a:extLst xmlns:a="http://schemas.openxmlformats.org/drawingml/2006/main">
              <a:ext uri="{FF2B5EF4-FFF2-40B4-BE49-F238E27FC236}">
                <a16:creationId xmlns:a16="http://schemas.microsoft.com/office/drawing/2014/main" id="{ECDF02C9-1D5A-498D-9797-4ACB424E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62200"/>
            <a:ext cx="3067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EE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SQL session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ยังไม่หมดอายุและไม่ revoke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AFB99D4-FE19-41A1-8762-1189EBCC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อายุ 30 นาที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F19E05B-AD8D-43AB-B480-27E8447C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Logout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D7A95D8A-E595-4F3B-AC9F-BFF9A217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5048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ตรวจทั้ง JWT และ session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ไม่มี refresh token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หมดอายุแล้วเข้าสู่ระบบใหม่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EC406EAB-5673-436D-ABE0-22C5C07F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33950"/>
            <a:ext cx="5048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ตั้ง revoked_at ใน SQL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ลบ cookie จาก browser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cookie เก่าเรียก API ต่อไม่ได้</a:t>
            </a:r>
          </a:p>
        </p:txBody>
      </p:sp>
    </p:spTree>
    <p:extLst>
      <p:ext uri="{BB962C8B-B14F-4D97-AF65-F5344CB8AC3E}">
        <p14:creationId xmlns:p14="http://schemas.microsoft.com/office/powerpoint/2010/main" val="753038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79855FD-F858-4908-A295-C0AB0AAA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2202B"/>
                </a:solidFill>
                <a:latin typeface="Tahoma"/>
                <a:ea typeface="Tahoma"/>
                <a:cs typeface="Tahoma"/>
              </a:rPr>
              <a:t>JWT, API key และ reset token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F904F-032B-43F3-8AB6-0EE66025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33E136B-3A94-4A42-9E53-4994EE55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ECCC1-52FC-4D18-A36B-F48A1CA702FC}"/>
              </a:ext>
            </a:extLst>
          </p:cNvPr>
          <p:cNvGraphicFramePr/>
          <p:nvPr/>
        </p:nvGraphicFramePr>
        <p:xfrm>
          <a:off xmlns:a="http://schemas.openxmlformats.org/drawingml/2006/main" x="609600" y="178117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14550"/>
                <a:gridCol w="2952750"/>
                <a:gridCol w="2952750"/>
                <a:gridCol w="2952750"/>
              </a:tblGrid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ประเด็น</a:t>
                      </a:r>
                    </a:p>
                  </a:txBody>
                  <a:tcPr marL="91440" marR="91440" marT="45720" marB="45720" anchor="ctr">
                    <a:solidFill>
                      <a:srgbClr val="0B8C82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JWT + SQL session</a:t>
                      </a:r>
                    </a:p>
                  </a:txBody>
                  <a:tcPr marL="91440" marR="91440" marT="45720" marB="45720" anchor="ctr">
                    <a:solidFill>
                      <a:srgbClr val="0B8C82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API key</a:t>
                      </a:r>
                    </a:p>
                  </a:txBody>
                  <a:tcPr marL="91440" marR="91440" marT="45720" marB="45720" anchor="ctr">
                    <a:solidFill>
                      <a:srgbClr val="0B8C82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Reset token</a:t>
                      </a:r>
                    </a:p>
                  </a:txBody>
                  <a:tcPr marL="91440" marR="91440" marT="45720" marB="45720" anchor="ctr">
                    <a:solidFill>
                      <a:srgbClr val="0B8C82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ใช้กับ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ผู้ใช้บนเว็บ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n8n reminders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ตั้งรหัสผ่านใหม่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ค่าที่ส่ง</a:t>
                      </a:r>
                    </a:p>
                  </a:txBody>
                  <a:tcPr marL="91440" marR="91440" marT="45720" marB="45720" anchor="ctr">
                    <a:solidFill>
                      <a:srgbClr val="F4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JWT ใน cookie</a:t>
                      </a:r>
                    </a:p>
                  </a:txBody>
                  <a:tcPr marL="91440" marR="91440" marT="45720" marB="45720" anchor="ctr">
                    <a:solidFill>
                      <a:srgbClr val="F4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x-api-key</a:t>
                      </a:r>
                    </a:p>
                  </a:txBody>
                  <a:tcPr marL="91440" marR="91440" marT="45720" marB="45720" anchor="ctr">
                    <a:solidFill>
                      <a:srgbClr val="F4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token จากลิงก์</a:t>
                      </a:r>
                    </a:p>
                  </a:txBody>
                  <a:tcPr marL="91440" marR="91440" marT="45720" marB="45720" anchor="ctr">
                    <a:solidFill>
                      <a:srgbClr val="F4F5F7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SQL เก็บ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session ที่ revoke ได้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SHA-256 digest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SHA-256 digest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อายุ</a:t>
                      </a:r>
                    </a:p>
                  </a:txBody>
                  <a:tcPr marL="91440" marR="91440" marT="45720" marB="45720" anchor="ctr">
                    <a:solidFill>
                      <a:srgbClr val="F4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30 นาที</a:t>
                      </a:r>
                    </a:p>
                  </a:txBody>
                  <a:tcPr marL="91440" marR="91440" marT="45720" marB="45720" anchor="ctr">
                    <a:solidFill>
                      <a:srgbClr val="F4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30 วัน</a:t>
                      </a:r>
                    </a:p>
                  </a:txBody>
                  <a:tcPr marL="91440" marR="91440" marT="45720" marB="45720" anchor="ctr">
                    <a:solidFill>
                      <a:srgbClr val="F4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15 นาที</a:t>
                      </a:r>
                    </a:p>
                  </a:txBody>
                  <a:tcPr marL="91440" marR="91440" marT="45720" marB="45720" anchor="ctr">
                    <a:solidFill>
                      <a:srgbClr val="F4F5F7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หมดสิทธิ์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logout / reset / expiry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revoke / expiry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ใช้แล้ว / reset / expiry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05A0EF5B-31D7-4E37-8A83-475E69C2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รหัสผ่านใช้ scrypt + salt เพื่อตรวจ login และไม่ได้หมดอายุใน 30 นาที</a:t>
            </a:r>
          </a:p>
        </p:txBody>
      </p:sp>
    </p:spTree>
    <p:extLst>
      <p:ext uri="{BB962C8B-B14F-4D97-AF65-F5344CB8AC3E}">
        <p14:creationId xmlns:p14="http://schemas.microsoft.com/office/powerpoint/2010/main" val="15599296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C783A31F-E9F2-4D4A-9EC8-469F0184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ลำดับการขอลิงก์และตั้งรหัสใหม่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88283-FE0F-4EFA-9F4D-2144E0BD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3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6DFE4867-318B-4D32-8A10-2A40D4F3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4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613FFCEC-1EE8-468E-AB94-CCB32ECA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192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Browser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1ED8B-5DA0-4552-8371-A0243588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14550"/>
            <a:ext cx="0" cy="381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6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4B2CBB88-14E1-4CB1-A515-E356E9BE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6192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Hono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58B29-03DB-48CF-AC83-5C0B1AD0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14550"/>
            <a:ext cx="0" cy="381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8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EA82CB12-7BAC-4922-BA7A-A7898B2C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192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SQLite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F1718-214F-4D43-824C-CA224A12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0" cy="381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10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C849FC4A-4C1E-4845-A7FF-BF8EBD70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6192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Gmail SMTP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37FFF-A1BC-45E8-9DD3-C23855A7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14550"/>
            <a:ext cx="0" cy="381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899D4-407B-4393-9CB4-C59B4934DF2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24000" y="257175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sp>
        <p:nvSpPr>
          <p:cNvPr id="13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BD581949-554F-4713-BFCC-6BB6EAAF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479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1  ขอ link ด้วย email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834485-3109-4DDE-8C38-396A938282D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81500" y="3209925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sp>
        <p:nvSpPr>
          <p:cNvPr id="15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D057A129-FCA0-401A-BE7C-5A69675F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8607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2  เก็บ hash + expiry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8699C-0C5E-4DB2-8ECB-27E94735AB00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524000" y="384810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sp>
        <p:nvSpPr>
          <p:cNvPr id="17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E5211753-5880-418B-9EE4-79B505F7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242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3  ตอบ 202 ข้อความกลาง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9DB888-27D7-442B-98E2-9F0FBFF49BC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81500" y="4486275"/>
            <a:ext cx="571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sp>
        <p:nvSpPr>
          <p:cNvPr id="19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AD1A862A-14E2-4D0F-BD15-4D90BB8E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62425"/>
            <a:ext cx="556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4  ส่งลิงก์ทาง SMTP แบบ async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9A3F73-1B2D-4171-A41A-D58864C52C59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524000" y="5124450"/>
            <a:ext cx="857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sp>
        <p:nvSpPr>
          <p:cNvPr id="21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F656CF19-2678-4681-B533-D4D7B17A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00600"/>
            <a:ext cx="842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5  ผู้ใช้เปิดลิงก์จากอีเมล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C4543E-E98C-4D2A-82D6-B55FE40E476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24000" y="5762625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sp>
        <p:nvSpPr>
          <p:cNvPr id="23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6DF89F24-2C9B-496F-BDF3-12D1D146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3877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6  POST token + password</a:t>
            </a:r>
          </a:p>
        </p:txBody>
      </p:sp>
      <p:sp>
        <p:nvSpPr>
          <p:cNvPr id="24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092A5026-CA8B-4AE5-BDDA-EC03A730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Flow ของระบบ  /  การส่งผ่าน Gmail จริงและถึง inbox ยังต้องทดสอบ</a:t>
            </a:r>
          </a:p>
        </p:txBody>
      </p:sp>
    </p:spTree>
    <p:extLst>
      <p:ext uri="{BB962C8B-B14F-4D97-AF65-F5344CB8AC3E}">
        <p14:creationId xmlns:p14="http://schemas.microsoft.com/office/powerpoint/2010/main" val="20302123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CEC1F-A646-40F2-A310-116BCD30BC1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24900" y="24288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1552B-9564-498E-83CE-963D09944B2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867400" y="24288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64B7C-9638-4F51-9D51-EC6E38579E1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09900" y="24288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sp>
        <p:nvSpPr>
          <p:cNvPr id="15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36C1A969-F0F4-47C9-BD8E-BDF94783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2202B"/>
                </a:solidFill>
                <a:latin typeface="Tahoma"/>
                <a:ea typeface="Tahoma"/>
                <a:cs typeface="Tahoma"/>
              </a:rPr>
              <a:t>Token ใช้ครั้งเดียวและ transaction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A4A17-D398-4A32-A11B-6F199917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3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1A7F51E3-7289-4DD7-B4D6-09AC56A2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4" name="สุ่ม 32 bytes">
            <a:extLst xmlns:a="http://schemas.openxmlformats.org/drawingml/2006/main">
              <a:ext uri="{FF2B5EF4-FFF2-40B4-BE49-F238E27FC236}">
                <a16:creationId xmlns:a16="http://schemas.microsoft.com/office/drawing/2014/main" id="{941E8CE1-DDAA-4D39-AAC9-7AE9A1B0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400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สุ่ม 32 bytes</a:t>
            </a:r>
          </a:p>
        </p:txBody>
      </p:sp>
      <p:sp>
        <p:nvSpPr>
          <p:cNvPr id="5" name="SQL เก็บ SHA-256">
            <a:extLst xmlns:a="http://schemas.openxmlformats.org/drawingml/2006/main">
              <a:ext uri="{FF2B5EF4-FFF2-40B4-BE49-F238E27FC236}">
                <a16:creationId xmlns:a16="http://schemas.microsoft.com/office/drawing/2014/main" id="{A2A2515E-F9FD-47EA-960E-5AA2CEC8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43100"/>
            <a:ext cx="2400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SQL เก็บ SHA-256</a:t>
            </a:r>
          </a:p>
        </p:txBody>
      </p:sp>
      <p:sp>
        <p:nvSpPr>
          <p:cNvPr id="6" name="อายุ 15 นาที">
            <a:extLst xmlns:a="http://schemas.openxmlformats.org/drawingml/2006/main">
              <a:ext uri="{FF2B5EF4-FFF2-40B4-BE49-F238E27FC236}">
                <a16:creationId xmlns:a16="http://schemas.microsoft.com/office/drawing/2014/main" id="{1E8CDB33-81EB-4F93-8C44-8370AD97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2400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อายุ 15 นาที</a:t>
            </a:r>
          </a:p>
        </p:txBody>
      </p:sp>
      <p:sp>
        <p:nvSpPr>
          <p:cNvPr id="7" name="ใช้ token ครั้งเดียว">
            <a:extLst xmlns:a="http://schemas.openxmlformats.org/drawingml/2006/main">
              <a:ext uri="{FF2B5EF4-FFF2-40B4-BE49-F238E27FC236}">
                <a16:creationId xmlns:a16="http://schemas.microsoft.com/office/drawing/2014/main" id="{6D69E142-434F-401E-8578-14327D2B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43100"/>
            <a:ext cx="2400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ใช้ token ครั้งเดียว</a:t>
            </a:r>
          </a:p>
        </p:txBody>
      </p:sp>
      <p:sp>
        <p:nvSpPr>
          <p:cNvPr id="11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33408866-9437-437C-B5BE-5B13AF3C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531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เมื่อ transaction สำเร็จ</a:t>
            </a:r>
          </a:p>
        </p:txBody>
      </p:sp>
      <p:sp>
        <p:nvSpPr>
          <p:cNvPr id="12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E205644B-04FA-4AEC-B664-92A039B6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53149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เปลี่ยน password hash ด้วย scrypt</a:t>
            </a:r>
          </a:p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Revoke ทุก session ของบัญชี</a:t>
            </a:r>
          </a:p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ยกเลิกลิงก์ reset ที่ค้างทั้งหมด</a:t>
            </a:r>
          </a:p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ผู้ใช้เข้าสู่ระบบใหม่เอง</a:t>
            </a:r>
          </a:p>
        </p:txBody>
      </p:sp>
      <p:sp>
        <p:nvSpPr>
          <p:cNvPr id="13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4ECFCBBE-A9C5-4206-8B58-D95227E1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38575"/>
            <a:ext cx="490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Login ระหว่าง reset</a:t>
            </a:r>
          </a:p>
        </p:txBody>
      </p:sp>
      <p:sp>
        <p:nvSpPr>
          <p:cNvPr id="14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14A03172-8C00-4071-91B8-A0F28BB5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81500"/>
            <a:ext cx="49053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ก่อนสร้าง session ตรวจว่า hash</a:t>
            </a:r>
          </a:p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ยังเป็นค่าปัจจุบัน</a:t>
            </a:r>
          </a:p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หากรหัสเปลี่ยน ให้เข้าสู่ระบบด้วยรหัสใหม่</a:t>
            </a:r>
          </a:p>
        </p:txBody>
      </p:sp>
    </p:spTree>
    <p:extLst>
      <p:ext uri="{BB962C8B-B14F-4D97-AF65-F5344CB8AC3E}">
        <p14:creationId xmlns:p14="http://schemas.microsoft.com/office/powerpoint/2010/main" val="10893275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5829AE19-6C25-4D26-A129-B1CA4651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หน้าตั้งรหัสผ่านใหม่ที่รันจริง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90DDA-6278-4FCF-B514-493CD721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3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F3B7E18E-714B-4D8E-AED4-4B9EEC39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48C6A-6B94-4B27-9C9A-C14D2912E6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3047041034886"/>
          <a:stretch xmlns:a="http://schemas.openxmlformats.org/drawingml/2006/main"/>
        </p:blipFill>
        <p:spPr>
          <a:xfrm xmlns:a="http://schemas.openxmlformats.org/drawingml/2006/main">
            <a:off x="794074" y="1581150"/>
            <a:ext cx="6012801" cy="4695825"/>
          </a:xfrm>
          <a:prstGeom xmlns:a="http://schemas.openxmlformats.org/drawingml/2006/main" prst="rect">
            <a:avLst/>
          </a:prstGeom>
        </p:spPr>
      </p:pic>
      <p:sp>
        <p:nvSpPr>
          <p:cNvPr id="5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EADECD78-264E-4D12-8DC1-8E0AEA3F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7167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B29255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6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34F1B758-E0A5-4A71-8A0B-A30DB34F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71675"/>
            <a:ext cx="34671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รหัสใหม่ 12–128 ตัวอักษร</a:t>
            </a:r>
          </a:p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พร้อมยืนยันให้ตรงกัน</a:t>
            </a:r>
          </a:p>
        </p:txBody>
      </p:sp>
      <p:sp>
        <p:nvSpPr>
          <p:cNvPr id="7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130B1CD6-2313-49E5-9F25-9DC0FD26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5755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B29255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8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9B39B14B-B9F9-4A4E-8E34-25760098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57550"/>
            <a:ext cx="34671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ลบ #token จากแถบที่อยู่</a:t>
            </a:r>
          </a:p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refresh ต้องเปิดลิงก์ต้นฉบับ</a:t>
            </a:r>
          </a:p>
        </p:txBody>
      </p:sp>
      <p:sp>
        <p:nvSpPr>
          <p:cNvPr id="9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13473097-50CC-439F-BB01-0ED09660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4342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B29255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0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BCAAB5C6-433D-45D6-9F9B-853D7955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43425"/>
            <a:ext cx="34671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สำเร็จแล้ว login ใหม่</a:t>
            </a:r>
          </a:p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ทุก session เดิมใช้ต่อไม่ได้</a:t>
            </a:r>
          </a:p>
        </p:txBody>
      </p:sp>
    </p:spTree>
    <p:extLst>
      <p:ext uri="{BB962C8B-B14F-4D97-AF65-F5344CB8AC3E}">
        <p14:creationId xmlns:p14="http://schemas.microsoft.com/office/powerpoint/2010/main" val="11898721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89801721-E615-4F58-9D25-1CCCAFD3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ตั้ง Gmail SMTP และขอบเขตหลักฐาน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E43C6-49AE-463E-943D-5900EA52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3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1D10EEF8-B9D4-454B-969F-FF9DA197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4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F605E178-9163-4E64-9944-75C7128B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28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ตั้งค่าก่อนใช้งาน</a:t>
            </a:r>
          </a:p>
        </p:txBody>
      </p:sp>
      <p:sp>
        <p:nvSpPr>
          <p:cNvPr id="5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1E8AC659-505C-4450-8DF9-97DF9660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52863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npm run setup:email</a:t>
            </a:r>
          </a:p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Gmail App Password ใน .env</a:t>
            </a:r>
          </a:p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APP_PUBLIC_URL ให้ตรงหน้าเว็บ</a:t>
            </a:r>
          </a:p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npm run mail:check ไม่ส่งเมล</a:t>
            </a:r>
          </a:p>
        </p:txBody>
      </p:sp>
      <p:sp>
        <p:nvSpPr>
          <p:cNvPr id="6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06B2E961-23C9-47F4-B13D-303220FA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490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สิ่งที่ตรวจแล้วและยังต้องทำ</a:t>
            </a:r>
          </a:p>
        </p:txBody>
      </p:sp>
      <p:sp>
        <p:nvSpPr>
          <p:cNvPr id="7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22A456CF-0FAA-4C3D-B506-01FC2B8E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95525"/>
            <a:ext cx="49053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Local SMTP receiver ส่งจริงผ่าน</a:t>
            </a:r>
          </a:p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ยังไม่มีหลักฐาน Gmail / inbox</a:t>
            </a:r>
          </a:p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ใช้บัญชีอีเมลรับจริงเพื่อทดลอง</a:t>
            </a:r>
          </a:p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ไม่ต้องเปิด n8n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7941B-6A4E-4E0C-956D-E4D9CD1F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9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C3432778-7C12-417E-AFE1-EB57441C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34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ลิงก์อายุ 15 นาที  /  ต่อบัญชีเว้น 60 วินาที และ 3 token ต่อชั่วโมง</a:t>
            </a:r>
          </a:p>
          <a:p xmlns:a="http://schemas.openxmlformats.org/drawingml/2006/main">
            <a:pPr algn="l">
              <a:defRPr sz="1875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การส่ง async ไม่ใช่ durable queue  /  SMTP ยอมรับไม่ยืนยัน inbox</a:t>
            </a:r>
          </a:p>
        </p:txBody>
      </p:sp>
    </p:spTree>
    <p:extLst>
      <p:ext uri="{BB962C8B-B14F-4D97-AF65-F5344CB8AC3E}">
        <p14:creationId xmlns:p14="http://schemas.microsoft.com/office/powerpoint/2010/main" val="21263664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EE70B4-E991-4C07-A975-052EF9D33E84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391650" y="29479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9E3D9D-56C0-48F2-8E63-28A5F0DE49C5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124700" y="29479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30C79E-F41A-4298-AACC-D7846A37E036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857750" y="29479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576171-F796-47E6-986B-3C985B766023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590800" y="29479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DC6BB688-E7D1-418D-BB03-C2980986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การตรวจ request ก่อนแตะข้อมูล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C2C0F-7136-4BBD-AE26-9B644439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DA9D0B0-9849-4513-970B-199B6E42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  <p:sp>
        <p:nvSpPr>
          <p:cNvPr id="16" name="request_id&#10;secure headers">
            <a:extLst xmlns:a="http://schemas.openxmlformats.org/drawingml/2006/main">
              <a:ext uri="{FF2B5EF4-FFF2-40B4-BE49-F238E27FC236}">
                <a16:creationId xmlns:a16="http://schemas.microsoft.com/office/drawing/2014/main" id="{D782C51B-240B-49AE-B5C3-E227A97A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198120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request_id</a:t>
            </a:r>
          </a:p>
          <a:p xmlns:a="http://schemas.openxmlformats.org/drawingml/2006/main">
            <a: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secure headers</a:t>
            </a:r>
          </a:p>
        </p:txBody>
      </p:sp>
      <p:sp>
        <p:nvSpPr>
          <p:cNvPr id="17" name="16KB limit&#10;Origin guard">
            <a:extLst xmlns:a="http://schemas.openxmlformats.org/drawingml/2006/main">
              <a:ext uri="{FF2B5EF4-FFF2-40B4-BE49-F238E27FC236}">
                <a16:creationId xmlns:a16="http://schemas.microsoft.com/office/drawing/2014/main" id="{6F807E9F-6D9C-4AC1-91AE-C5D1D079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71725"/>
            <a:ext cx="198120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16KB limit</a:t>
            </a:r>
          </a:p>
          <a:p xmlns:a="http://schemas.openxmlformats.org/drawingml/2006/main">
            <a: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Origin guard</a:t>
            </a:r>
          </a:p>
        </p:txBody>
      </p:sp>
      <p:sp>
        <p:nvSpPr>
          <p:cNvPr id="18" name="Credential&#10;ตามแต่ละ route">
            <a:extLst xmlns:a="http://schemas.openxmlformats.org/drawingml/2006/main">
              <a:ext uri="{FF2B5EF4-FFF2-40B4-BE49-F238E27FC236}">
                <a16:creationId xmlns:a16="http://schemas.microsoft.com/office/drawing/2014/main" id="{99B65DBB-57C6-4753-A1BC-48ED1F0D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71725"/>
            <a:ext cx="198120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Credential</a:t>
            </a:r>
          </a:p>
          <a:p xmlns:a="http://schemas.openxmlformats.org/drawingml/2006/main">
            <a: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ตามแต่ละ route</a:t>
            </a:r>
          </a:p>
        </p:txBody>
      </p:sp>
      <p:sp>
        <p:nvSpPr>
          <p:cNvPr id="19" name="Zod schema&#10;JSON type">
            <a:extLst xmlns:a="http://schemas.openxmlformats.org/drawingml/2006/main">
              <a:ext uri="{FF2B5EF4-FFF2-40B4-BE49-F238E27FC236}">
                <a16:creationId xmlns:a16="http://schemas.microsoft.com/office/drawing/2014/main" id="{641718A4-79D8-4395-BA04-B8B75E43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71725"/>
            <a:ext cx="198120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Zod schema</a:t>
            </a:r>
          </a:p>
          <a:p xmlns:a="http://schemas.openxmlformats.org/drawingml/2006/main">
            <a: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JSON type</a:t>
            </a:r>
          </a:p>
        </p:txBody>
      </p:sp>
      <p:sp>
        <p:nvSpPr>
          <p:cNvPr id="20" name="SQL + สิทธิ์&#10;JSON response">
            <a:extLst xmlns:a="http://schemas.openxmlformats.org/drawingml/2006/main">
              <a:ext uri="{FF2B5EF4-FFF2-40B4-BE49-F238E27FC236}">
                <a16:creationId xmlns:a16="http://schemas.microsoft.com/office/drawing/2014/main" id="{C2726F47-87E0-4E45-A315-2A72A639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71725"/>
            <a:ext cx="198120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SQL + สิทธิ์</a:t>
            </a:r>
          </a:p>
          <a:p xmlns:a="http://schemas.openxmlformats.org/drawingml/2006/main">
            <a:pPr algn="ctr">
              <a:defRPr sz="1725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2202B"/>
                </a:solidFill>
                <a:latin typeface="Tahoma"/>
                <a:ea typeface="Tahoma"/>
                <a:cs typeface="Tahoma"/>
              </a:rPr>
              <a:t>JSON response</a:t>
            </a:r>
          </a:p>
        </p:txBody>
      </p:sp>
      <p:sp>
        <p:nvSpPr>
          <p:cNvPr id="25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19731353-2A83-4996-B1DE-9B76F2D9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934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ต่อ IP ใน 15 นาที: Login/register รวม 20 ครั้ง</a:t>
            </a:r>
          </a:p>
          <a:p xmlns:a="http://schemas.openxmlformats.org/drawingml/2006/main">
            <a:pPr algn="l">
              <a:defRPr sz="202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Forgot-password 5 ครั้ง  /  Reset-password 10 ครั้ง</a:t>
            </a:r>
          </a:p>
        </p:txBody>
      </p:sp>
      <p:sp>
        <p:nvSpPr>
          <p:cNvPr id="26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5FAD7B09-3E02-41CB-93B3-8E5B9CC9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34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Session ป้องกัน tasks/keys  /  API key ป้องกัน integrations</a:t>
            </a:r>
          </a:p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Reset token ตรวจใน handler  /  Error ส่ง code, message, request_id</a:t>
            </a:r>
          </a:p>
        </p:txBody>
      </p:sp>
    </p:spTree>
    <p:extLst>
      <p:ext uri="{BB962C8B-B14F-4D97-AF65-F5344CB8AC3E}">
        <p14:creationId xmlns:p14="http://schemas.microsoft.com/office/powerpoint/2010/main" val="5012304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4884803D-E5C0-417D-9636-FE7E63DF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สิทธิ์และสถานะของงาน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5F180-171D-41FA-8763-108AE678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D337AB8-BC17-4FAD-A79B-E000C394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D7D9A-4922-4167-BACE-21710BCC3C56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038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62400"/>
                <a:gridCol w="3371850"/>
                <a:gridCol w="3638550"/>
              </a:tblGrid>
              <a:tr h="607695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การกระทำ</a:t>
                      </a:r>
                    </a:p>
                  </a:txBody>
                  <a:tcPr marL="91440" marR="91440" marT="45720" marB="45720" anchor="ctr">
                    <a:solidFill>
                      <a:srgbClr val="0B8C82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Session ผู้ใช้</a:t>
                      </a:r>
                    </a:p>
                  </a:txBody>
                  <a:tcPr marL="91440" marR="91440" marT="45720" marB="45720" anchor="ctr">
                    <a:solidFill>
                      <a:srgbClr val="0B8C82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API key reminders</a:t>
                      </a:r>
                    </a:p>
                  </a:txBody>
                  <a:tcPr marL="91440" marR="91440" marT="45720" marB="45720" anchor="ctr">
                    <a:solidFill>
                      <a:srgbClr val="0B8C82"/>
                    </a:solidFill>
                  </a:tcPr>
                </a:tc>
              </a:tr>
              <a:tr h="60769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Tasks CRUD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งานตัวเอง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ไม่ได้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769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สร้าง / revoke key</a:t>
                      </a:r>
                    </a:p>
                  </a:txBody>
                  <a:tcPr marL="91440" marR="91440" marT="45720" marB="45720" anchor="ctr">
                    <a:solidFill>
                      <a:srgbClr val="F4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key ตัวเอง</a:t>
                      </a:r>
                    </a:p>
                  </a:txBody>
                  <a:tcPr marL="91440" marR="91440" marT="45720" marB="45720" anchor="ctr">
                    <a:solidFill>
                      <a:srgbClr val="F4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ไม่ได้</a:t>
                      </a:r>
                    </a:p>
                  </a:txBody>
                  <a:tcPr marL="91440" marR="91440" marT="45720" marB="45720" anchor="ctr">
                    <a:solidFill>
                      <a:srgbClr val="F4F5F7"/>
                    </a:solidFill>
                  </a:tcPr>
                </a:tc>
              </a:tr>
              <a:tr h="60769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อ่าน due-tasks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Session อย่างเดียวไม่ได้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งานของเจ้าของ key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769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บันทึก reminder</a:t>
                      </a:r>
                    </a:p>
                  </a:txBody>
                  <a:tcPr marL="91440" marR="91440" marT="45720" marB="45720" anchor="ctr">
                    <a:solidFill>
                      <a:srgbClr val="F4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Session อย่างเดียวไม่ได้</a:t>
                      </a:r>
                    </a:p>
                  </a:txBody>
                  <a:tcPr marL="91440" marR="91440" marT="45720" marB="45720" anchor="ctr">
                    <a:solidFill>
                      <a:srgbClr val="F4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งานของเจ้าของ key</a:t>
                      </a:r>
                    </a:p>
                  </a:txBody>
                  <a:tcPr marL="91440" marR="91440" marT="45720" marB="45720"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159E775-35FE-4164-B13A-654C135C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B29255"/>
                </a:solidFill>
                <a:latin typeface="Tahoma"/>
                <a:ea typeface="Tahoma"/>
                <a:cs typeface="Tahoma"/>
              </a:rPr>
              <a:t>pending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925AA3F-8ECA-4773-996A-429BBE85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2578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in_progress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20F7ED5A-7059-4834-8631-3298FFDD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257800"/>
            <a:ext cx="2981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completed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ED08028F-41A2-4890-97C1-297AC247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ยังไม่เริ่ม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65312D41-B59D-434E-8CF9-DB0FD460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791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กำลังทำ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EC2FFED0-D1A3-4CF0-85D2-493704D5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791200"/>
            <a:ext cx="2981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เสร็จแล้ว</a:t>
            </a:r>
          </a:p>
        </p:txBody>
      </p:sp>
    </p:spTree>
    <p:extLst>
      <p:ext uri="{BB962C8B-B14F-4D97-AF65-F5344CB8AC3E}">
        <p14:creationId xmlns:p14="http://schemas.microsoft.com/office/powerpoint/2010/main" val="48387909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26B31B9-7077-424A-B4BD-7BC2FCED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2202B"/>
                </a:solidFill>
                <a:latin typeface="Tahoma"/>
                <a:ea typeface="Tahoma"/>
                <a:cs typeface="Tahoma"/>
              </a:rPr>
              <a:t>API routes และข้อผิดพลาด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9518F-32CD-4BC7-AC4E-DFB63916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B056B18-E6C4-4ADF-B97F-1C96A3C2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19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E5FB8-D92D-4951-A838-FD6B36574064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67450"/>
                <a:gridCol w="1733550"/>
                <a:gridCol w="2971800"/>
              </a:tblGrid>
              <a:tr h="476250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Method / path (base /api)</a:t>
                      </a:r>
                    </a:p>
                  </a:txBody>
                  <a:tcPr marL="91440" marR="91440" marT="45720" marB="45720" anchor="ctr">
                    <a:solidFill>
                      <a:srgbClr val="0B8C82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Credential</a:t>
                      </a:r>
                    </a:p>
                  </a:txBody>
                  <a:tcPr marL="91440" marR="91440" marT="45720" marB="45720" anchor="ctr">
                    <a:solidFill>
                      <a:srgbClr val="0B8C82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หน้าที่</a:t>
                      </a:r>
                    </a:p>
                  </a:txBody>
                  <a:tcPr marL="91440" marR="91440" marT="45720" marB="45720" anchor="ctr">
                    <a:solidFill>
                      <a:srgbClr val="0B8C82"/>
                    </a:solidFill>
                  </a:tcPr>
                </a:tc>
              </a:tr>
              <a:tr h="4762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POST /auth/register, /auth/login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สาธารณะ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บัญชี / session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POST /auth/forgot-password</a:t>
                      </a:r>
                    </a:p>
                  </a:txBody>
                  <a:tcPr marL="91440" marR="91440" marT="45720" marB="45720" anchor="ctr">
                    <a:solidFill>
                      <a:srgbClr val="F4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สาธารณะ</a:t>
                      </a:r>
                    </a:p>
                  </a:txBody>
                  <a:tcPr marL="91440" marR="91440" marT="45720" marB="45720" anchor="ctr">
                    <a:solidFill>
                      <a:srgbClr val="F4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202 ขอ reset link</a:t>
                      </a:r>
                    </a:p>
                  </a:txBody>
                  <a:tcPr marL="91440" marR="91440" marT="45720" marB="45720" anchor="ctr">
                    <a:solidFill>
                      <a:srgbClr val="F4F5F7"/>
                    </a:solidFill>
                  </a:tcPr>
                </a:tc>
              </a:tr>
              <a:tr h="4762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POST /auth/reset-password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Reset token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รหัสใหม่ + revoke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GET/POST /tasks, GET/PATCH/DELETE /tasks/:id</a:t>
                      </a:r>
                    </a:p>
                  </a:txBody>
                  <a:tcPr marL="91440" marR="91440" marT="45720" marB="45720" anchor="ctr">
                    <a:solidFill>
                      <a:srgbClr val="F4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Session</a:t>
                      </a:r>
                    </a:p>
                  </a:txBody>
                  <a:tcPr marL="91440" marR="91440" marT="45720" marB="45720" anchor="ctr">
                    <a:solidFill>
                      <a:srgbClr val="F4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CRUD ของตนเอง</a:t>
                      </a:r>
                    </a:p>
                  </a:txBody>
                  <a:tcPr marL="91440" marR="91440" marT="45720" marB="45720" anchor="ctr">
                    <a:solidFill>
                      <a:srgbClr val="F4F5F7"/>
                    </a:solidFill>
                  </a:tcPr>
                </a:tc>
              </a:tr>
              <a:tr h="4762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GET/POST /keys, DELETE /keys/:id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Session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สร้าง / revoke key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GET /integrations/due-tasks</a:t>
                      </a:r>
                    </a:p>
                  </a:txBody>
                  <a:tcPr marL="91440" marR="91440" marT="45720" marB="45720" anchor="ctr">
                    <a:solidFill>
                      <a:srgbClr val="F4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API key</a:t>
                      </a:r>
                    </a:p>
                  </a:txBody>
                  <a:tcPr marL="91440" marR="91440" marT="45720" marB="45720" anchor="ctr">
                    <a:solidFill>
                      <a:srgbClr val="F4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งานครบกำหนด</a:t>
                      </a:r>
                    </a:p>
                  </a:txBody>
                  <a:tcPr marL="91440" marR="91440" marT="45720" marB="45720" anchor="ctr">
                    <a:solidFill>
                      <a:srgbClr val="F4F5F7"/>
                    </a:solidFill>
                  </a:tcPr>
                </a:tc>
              </a:tr>
              <a:tr h="4762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POST /integrations/reminders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API key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2202B"/>
                          </a:solidFill>
                          <a:latin typeface="Tahoma"/>
                          <a:ea typeface="Tahoma"/>
                          <a:cs typeface="Tahoma"/>
                        </a:rPr>
                        <a:t>บันทึกแจ้งเตือน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0FE9B09F-F68E-4AD0-BF5F-ADC75BA1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400 input/token  401 credential  403 Origin  404 owner  409 conflict</a:t>
            </a:r>
          </a:p>
          <a:p xmlns:a="http://schemas.openxmlformats.org/drawingml/2006/main">
            <a:pPr algn="l">
              <a:defRPr sz="165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413 body  415 JSON  429 rate limit  500 internal  503 SMTP ไม่พร้อม</a:t>
            </a:r>
          </a:p>
        </p:txBody>
      </p:sp>
    </p:spTree>
    <p:extLst>
      <p:ext uri="{BB962C8B-B14F-4D97-AF65-F5344CB8AC3E}">
        <p14:creationId xmlns:p14="http://schemas.microsoft.com/office/powerpoint/2010/main" val="48204447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19BDD-04CE-4B8C-82CE-89C651ED350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391650" y="27908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AC08F-1729-4923-B6B4-86FA07B1315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124700" y="27908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9B739-DAB1-4836-B079-2089ABEAEB4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57750" y="27908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11C8B-A8B5-412E-8BCF-3BEF087F4E2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590800" y="27908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sp>
        <p:nvSpPr>
          <p:cNvPr id="17" name="text-0">
            <a:extLst xmlns:a="http://schemas.openxmlformats.org/drawingml/2006/main">
              <a:ext uri="{FF2B5EF4-FFF2-40B4-BE49-F238E27FC236}">
                <a16:creationId xmlns:a16="http://schemas.microsoft.com/office/drawing/2014/main" id="{F8DF3C6A-CEEB-4387-A18F-72A141AF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2202B"/>
                </a:solidFill>
                <a:latin typeface="Tahoma"/>
                <a:ea typeface="Tahoma"/>
                <a:cs typeface="Tahoma"/>
              </a:rPr>
              <a:t>n8n workflow แจ้งเตือนรายวัน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87A07-7FF0-446C-95F7-46EE1834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74DFABD-3E06-427A-AADF-8326CD80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20</a:t>
            </a:r>
          </a:p>
        </p:txBody>
      </p:sp>
      <p:sp>
        <p:nvSpPr>
          <p:cNvPr id="4" name="Schedule&#10;07:30 Bangkok">
            <a:extLst xmlns:a="http://schemas.openxmlformats.org/drawingml/2006/main">
              <a:ext uri="{FF2B5EF4-FFF2-40B4-BE49-F238E27FC236}">
                <a16:creationId xmlns:a16="http://schemas.microsoft.com/office/drawing/2014/main" id="{ACF9A10D-F578-42FA-8BB9-3206ADE5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981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7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buNone/>
              <a:defRPr sz="17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Schedule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07:30 Bangkok</a:t>
            </a:r>
          </a:p>
        </p:txBody>
      </p:sp>
      <p:sp>
        <p:nvSpPr>
          <p:cNvPr id="5" name="HTTP GET&#10;due-tasks">
            <a:extLst xmlns:a="http://schemas.openxmlformats.org/drawingml/2006/main">
              <a:ext uri="{FF2B5EF4-FFF2-40B4-BE49-F238E27FC236}">
                <a16:creationId xmlns:a16="http://schemas.microsoft.com/office/drawing/2014/main" id="{D280458F-C058-4B8E-8EFD-D5DA9EFC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90750"/>
            <a:ext cx="1981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7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buNone/>
              <a:defRPr sz="17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HTTP GET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due-tasks</a:t>
            </a:r>
          </a:p>
        </p:txBody>
      </p:sp>
      <p:sp>
        <p:nvSpPr>
          <p:cNvPr id="6" name="IF&#10;มีงานค้าง">
            <a:extLst xmlns:a="http://schemas.openxmlformats.org/drawingml/2006/main">
              <a:ext uri="{FF2B5EF4-FFF2-40B4-BE49-F238E27FC236}">
                <a16:creationId xmlns:a16="http://schemas.microsoft.com/office/drawing/2014/main" id="{3D6AE9F0-8A4D-4692-B3C8-BB6C4913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90750"/>
            <a:ext cx="1981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7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buNone/>
              <a:defRPr sz="17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IF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มีงานค้าง</a:t>
            </a:r>
          </a:p>
        </p:txBody>
      </p:sp>
      <p:sp>
        <p:nvSpPr>
          <p:cNvPr id="7" name="SMTP&#10;Send Email">
            <a:extLst xmlns:a="http://schemas.openxmlformats.org/drawingml/2006/main">
              <a:ext uri="{FF2B5EF4-FFF2-40B4-BE49-F238E27FC236}">
                <a16:creationId xmlns:a16="http://schemas.microsoft.com/office/drawing/2014/main" id="{FDDBC16D-1EB5-4AAA-B1E9-39437C26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90750"/>
            <a:ext cx="1981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7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buNone/>
              <a:defRPr sz="17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SMTP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Send Email</a:t>
            </a:r>
          </a:p>
        </p:txBody>
      </p:sp>
      <p:sp>
        <p:nvSpPr>
          <p:cNvPr id="8" name="HTTP POST&#10;record delivery">
            <a:extLst xmlns:a="http://schemas.openxmlformats.org/drawingml/2006/main">
              <a:ext uri="{FF2B5EF4-FFF2-40B4-BE49-F238E27FC236}">
                <a16:creationId xmlns:a16="http://schemas.microsoft.com/office/drawing/2014/main" id="{EDCC4AF6-4BE8-4F2D-8190-5563BC4E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90750"/>
            <a:ext cx="1981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7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buNone/>
              <a:defRPr sz="17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HTTP POST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record delivery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00B95DBE-587B-4FED-99BD-24FEA451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Credential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63AAC57E-B148-40D5-A629-9686E319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5286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ต้องตั้งค่า API key และ SMTP ของผู้ใช้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workflow ใช้ API key ของบัญชีเดียว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6F5A0623-AFB3-44D4-BAE2-697401E6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14800"/>
            <a:ext cx="4543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ผลที่ตรวจแล้ว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7E4BF310-8C96-4A5C-B94C-035E32E6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33925"/>
            <a:ext cx="48291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ไฟล์และ expression ผ่าน static validation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ยังไม่ได้ส่งอีเมลจริง</a:t>
            </a:r>
          </a:p>
        </p:txBody>
      </p:sp>
    </p:spTree>
    <p:extLst>
      <p:ext uri="{BB962C8B-B14F-4D97-AF65-F5344CB8AC3E}">
        <p14:creationId xmlns:p14="http://schemas.microsoft.com/office/powerpoint/2010/main" val="5148678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0F37C-5216-411C-95B0-8DD190F2CD5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914900" y="3419475"/>
            <a:ext cx="2371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C82"/>
            </a:solidFill>
            <a:tailEnd type="arrow" w="med" len="med"/>
          </a:ln>
        </p:spPr>
      </p:cxnSp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AC92F22F-CAB8-444F-8915-DDC30885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การป้องกันแจ้งซ้ำและข้อจำกัด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CC070-588E-4BA9-B85C-BA74C8A0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B709805-210F-495F-9E35-9F03C4CB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21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CD1F888-CFA9-46B5-9756-E4929197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UNIQUE(user_id, task_id, notification_date, channel)</a:t>
            </a:r>
          </a:p>
        </p:txBody>
      </p:sp>
      <p:sp>
        <p:nvSpPr>
          <p:cNvPr id="5" name="SMTP สำเร็จ">
            <a:extLst xmlns:a="http://schemas.openxmlformats.org/drawingml/2006/main">
              <a:ext uri="{FF2B5EF4-FFF2-40B4-BE49-F238E27FC236}">
                <a16:creationId xmlns:a16="http://schemas.microsoft.com/office/drawing/2014/main" id="{D22473B6-E35A-46D9-961A-1CECBCC8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4305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EE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SMTP สำเร็จ</a:t>
            </a:r>
          </a:p>
        </p:txBody>
      </p:sp>
      <p:sp>
        <p:nvSpPr>
          <p:cNvPr id="6" name="SQL บันทึก receipt">
            <a:extLst xmlns:a="http://schemas.openxmlformats.org/drawingml/2006/main">
              <a:ext uri="{FF2B5EF4-FFF2-40B4-BE49-F238E27FC236}">
                <a16:creationId xmlns:a16="http://schemas.microsoft.com/office/drawing/2014/main" id="{3BD4F0BD-E45E-46B9-B19E-F0D92B2E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81325"/>
            <a:ext cx="4305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EE"/>
          </a:solidFill>
          <a:ln xmlns:a="http://schemas.openxmlformats.org/drawingml/2006/main" w="14288">
            <a:solidFill>
              <a:srgbClr val="0B8C82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SQL บันทึก receipt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07C3CBA-545D-4882-9338-3BCDE956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33825"/>
            <a:ext cx="2200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B29255"/>
                </a:solidFill>
                <a:latin typeface="Tahoma"/>
                <a:ea typeface="Tahoma"/>
                <a:cs typeface="Tahoma"/>
              </a:rPr>
              <a:t>ช่วงที่อาจเกิด crash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52D8E83-E665-4204-BE86-9023E1EC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B29255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68B96FD-1AFC-496B-9FA0-9C3CD4FB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10325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GET ข้ามงานที่มี receipt ในวันนั้นแล้ว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7516CFA5-75C1-4C4F-BBB5-58B526CB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B29255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650903AF-C69C-4DAB-A42E-097D2F4A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29200"/>
            <a:ext cx="10325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POST ซ้ำไม่สร้าง row ซ้ำ และผิดเจ้าของ rollback ทั้ง batch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5DF597BA-3AE8-46BF-B6C6-5FD3A12D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B29255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B2F7EC94-0749-4CC9-B635-F8CDC98C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29275"/>
            <a:ext cx="10325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ใช้ workflow เดียวและหลีกเลี่ยงการรันพร้อมกัน</a:t>
            </a:r>
          </a:p>
        </p:txBody>
      </p:sp>
    </p:spTree>
    <p:extLst>
      <p:ext uri="{BB962C8B-B14F-4D97-AF65-F5344CB8AC3E}">
        <p14:creationId xmlns:p14="http://schemas.microsoft.com/office/powerpoint/2010/main" val="38695975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0">
            <a:extLst xmlns:a="http://schemas.openxmlformats.org/drawingml/2006/main">
              <a:ext uri="{FF2B5EF4-FFF2-40B4-BE49-F238E27FC236}">
                <a16:creationId xmlns:a16="http://schemas.microsoft.com/office/drawing/2014/main" id="{03B79688-427E-4414-9CE8-6F653A59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หลักฐานการทดสอบที่รันจริง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8D8FC-F603-4A9A-853B-2B665831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6F8DC01-18B7-4C3C-A4BB-C5CAE95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22</a:t>
            </a:r>
          </a:p>
        </p:txBody>
      </p:sp>
      <p:sp>
        <p:nvSpPr>
          <p:cNvPr id="18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8323E58E-A41A-41A7-AE17-6311EBBF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5524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6150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6150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54 / 54</a:t>
            </a:r>
          </a:p>
        </p:txBody>
      </p:sp>
      <p:sp>
        <p:nvSpPr>
          <p:cNvPr id="19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D77465D4-58D9-47F1-89C0-A9B555EB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2202B"/>
                </a:solidFill>
                <a:latin typeface="Tahoma"/>
                <a:ea typeface="Tahoma"/>
                <a:cs typeface="Tahoma"/>
              </a:rPr>
              <a:t>Functional tests ผ่าน</a:t>
            </a:r>
          </a:p>
        </p:txBody>
      </p:sp>
      <p:sp>
        <p:nvSpPr>
          <p:cNvPr id="20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508F34A2-0E7D-43F4-889F-F83E32FB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35 เดิม + 17 reset + 2 mail</a:t>
            </a:r>
          </a:p>
          <a:p xmlns:a="http://schemas.openxmlformats.org/drawingml/2006/main">
            <a:pPr algn="l">
              <a:defRPr sz="21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Hono + SQLite และ local SMTP</a:t>
            </a:r>
          </a:p>
        </p:txBody>
      </p:sp>
      <p:sp>
        <p:nvSpPr>
          <p:cNvPr id="21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18F46BA6-4F5F-4764-BEBB-1A556D47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1927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B29255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22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AF0DC8DD-3CFA-4F77-ADB6-A788158A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19275"/>
            <a:ext cx="4133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Auth, ownership และ SQL</a:t>
            </a:r>
          </a:p>
        </p:txBody>
      </p:sp>
      <p:sp>
        <p:nvSpPr>
          <p:cNvPr id="23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8364BBAF-2F9F-4068-AA23-A56393C8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4317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B29255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24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6619A59A-D4C3-4D4C-927C-5118051F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43175"/>
            <a:ext cx="4133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Token single use / expiry</a:t>
            </a:r>
          </a:p>
        </p:txBody>
      </p:sp>
      <p:sp>
        <p:nvSpPr>
          <p:cNvPr id="25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21266D4E-C2CE-4E04-9358-8971A371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6707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B29255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26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76F6EDBF-A15A-41E9-812D-14500FDB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67075"/>
            <a:ext cx="4133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Session revoke และ login race</a:t>
            </a:r>
          </a:p>
        </p:txBody>
      </p:sp>
      <p:sp>
        <p:nvSpPr>
          <p:cNvPr id="27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44496477-478C-47D8-AD9D-E8C55890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9097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29255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B29255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28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B89D1277-4A08-40B1-888D-BD8D6FB6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90975"/>
            <a:ext cx="4133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Config + local SMTP end-to-end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AD8EA4-A0E5-4693-8634-55B6931F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30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68B3776D-3D18-46D8-9585-4FEDF99B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34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Build และ UI responsive 320–1440px ผ่าน  /  ยังไม่มี load test</a:t>
            </a:r>
          </a:p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Local SMTP ผ่านจริงในเครื่อง  /  Gmail และ n8n ส่งจริงยังไม่ยืนยัน</a:t>
            </a:r>
          </a:p>
        </p:txBody>
      </p:sp>
    </p:spTree>
    <p:extLst>
      <p:ext uri="{BB962C8B-B14F-4D97-AF65-F5344CB8AC3E}">
        <p14:creationId xmlns:p14="http://schemas.microsoft.com/office/powerpoint/2010/main" val="22529178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3B733F61-1768-44B5-871A-BBE4584B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2202B"/>
                </a:solidFill>
                <a:latin typeface="Tahoma"/>
                <a:ea typeface="Tahoma"/>
                <a:cs typeface="Tahoma"/>
              </a:rPr>
              <a:t>Demo และสิ่งที่ต้องเพิ่มก่อนเปิดใช้งาน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3CE9A-C60E-4D58-B650-1F60A5BF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750631A-CDCA-4E96-B61D-3C1BB977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23</a:t>
            </a:r>
          </a:p>
        </p:txBody>
      </p:sp>
      <p:sp>
        <p:nvSpPr>
          <p:cNvPr id="11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824A9C41-A942-4019-A001-0E98730E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37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เริ่ม demo ให้ถูก process</a:t>
            </a:r>
          </a:p>
        </p:txBody>
      </p:sp>
      <p:sp>
        <p:nvSpPr>
          <p:cNvPr id="12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7E78911E-2305-4E67-9E87-31332CF8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372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หยุด server เก่าที่ใช้ port เดียวกัน</a:t>
            </a:r>
          </a:p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npm run dev เปิด API และ Vite</a:t>
            </a:r>
          </a:p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API 3000  /  เว็บ 5173</a:t>
            </a:r>
          </a:p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Ctrl+C หยุดชุด dev ก่อนสลับวิธีรัน</a:t>
            </a:r>
          </a:p>
        </p:txBody>
      </p:sp>
      <p:sp>
        <p:nvSpPr>
          <p:cNvPr id="13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04967A26-2A90-4514-9182-1B77BF68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43075"/>
            <a:ext cx="490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สิ่งที่ต้องอธิบายได้</a:t>
            </a:r>
          </a:p>
        </p:txBody>
      </p:sp>
      <p:sp>
        <p:nvSpPr>
          <p:cNvPr id="14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331A320E-FB41-4D6B-BDD5-9310CE92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49053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CRUD และ owner check</a:t>
            </a:r>
          </a:p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ลิงก์ reset 15 นาที ใช้ครั้งเดียว</a:t>
            </a:r>
          </a:p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Gmail ต้องตั้งและทดลองจริง</a:t>
            </a:r>
          </a:p>
          <a:p xmlns:a="http://schemas.openxmlformats.org/drawingml/2006/main">
            <a:pPr algn="l">
              <a:defRPr sz="1875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API key / n8n มี credentials แยก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EA35F-6182-4C07-BF42-629DC52F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16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F2C859B8-C9F1-412E-9855-35FEFD5D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34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ข้อจำกัด: API หนึ่ง instance  /  SQLite local  /  limiter ใน memory</a:t>
            </a:r>
          </a:p>
          <a:p xmlns:a="http://schemas.openxmlformats.org/drawingml/2006/main">
            <a:pPr algn="l">
              <a:defRPr sz="1875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Reset email ไม่มี durable queue  /  ไม่มี load test และหลักฐาน Gmail inbox</a:t>
            </a:r>
          </a:p>
        </p:txBody>
      </p:sp>
    </p:spTree>
    <p:extLst>
      <p:ext uri="{BB962C8B-B14F-4D97-AF65-F5344CB8AC3E}">
        <p14:creationId xmlns:p14="http://schemas.microsoft.com/office/powerpoint/2010/main" val="190187131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FB59848-79C5-4E29-9433-9A3EE51E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หัวใจของระบบและแหล่งศึกษา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E279A-9CE3-4097-AE9D-E614D8BC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8D9"/>
            </a:solidFill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9C6A420-D0C8-47E9-A2F9-E1B5DE14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24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0AAEB00-5853-42A5-981A-46374B3D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0B8C82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B8C82"/>
                </a:solidFill>
                <a:latin typeface="Tahoma"/>
                <a:ea typeface="Tahoma"/>
                <a:cs typeface="Tahoma"/>
              </a:rPr>
              <a:t>รู้ว่าใครเรียก  /  ตรวจว่าเป็นเจ้าของ  /  ตรวจข้อมูลก่อน SQL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543E082-AEDE-49BD-9D20-66085DCC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90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คำถามที่ต้องตอบได้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F241565-1309-4CEC-A929-50F3068F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1095375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JWT กับ session ใช้ร่วมกันทำไม?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Shared types ทำไมยังต้อง validate?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API key มีสิทธิ์อะไร และ revoke อย่างไร?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2202B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2202B"/>
                </a:solidFill>
                <a:latin typeface="Tahoma"/>
                <a:ea typeface="Tahoma"/>
                <a:cs typeface="Tahoma"/>
              </a:rPr>
              <a:t>ส่ง email แล้วบันทึกไม่สำเร็จเกิดอะไรขึ้น?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7313D42-C2F3-4092-A1C0-5D492810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877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แหล่งหลัก: วิดีโอทั้งสองและโค้ดผู้สอน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26473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26473"/>
                </a:solidFill>
                <a:latin typeface="Tahoma"/>
                <a:ea typeface="Tahoma"/>
                <a:cs typeface="Tahoma"/>
              </a:rPr>
              <a:t>เอกสาร Hono, Zod, Node.js, jose, npm, Tailwind และ n8n ใน speaker notes</a:t>
            </a:r>
          </a:p>
        </p:txBody>
      </p:sp>
    </p:spTree>
    <p:extLst>
      <p:ext uri="{BB962C8B-B14F-4D97-AF65-F5344CB8AC3E}">
        <p14:creationId xmlns:p14="http://schemas.microsoft.com/office/powerpoint/2010/main" val="6249445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2026-10-14T07:13:31.3450000Z</dcterms:created>
  <dcterms:modified xsi:type="dcterms:W3CDTF">2026-10-14T07:13:31.3450000Z</dcterms:modified>
</coreProperties>
</file>