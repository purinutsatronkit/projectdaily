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c7788f46e447e" /><Relationship Type="http://schemas.openxmlformats.org/officeDocument/2006/relationships/extended-properties" Target="/docProps/app.xml" Id="R586949e2c3aa4a89" /><Relationship Type="http://schemas.openxmlformats.org/officeDocument/2006/relationships/officeDocument" Target="/ppt/presentation.xml" Id="R5348c9ec483a4e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6e916fd917400d"/>
  </p:sldMasterIdLst>
  <p:notesMasterIdLst>
    <p:notesMasterId xmlns:r="http://schemas.openxmlformats.org/officeDocument/2006/relationships" r:id="R2d7c0c1051f54a24"/>
  </p:notesMasterIdLst>
  <p:sldIdLst>
    <p:sldId xmlns:r="http://schemas.openxmlformats.org/officeDocument/2006/relationships" id="256" r:id="Rea030ab7560e4ba8"/>
    <p:sldId xmlns:r="http://schemas.openxmlformats.org/officeDocument/2006/relationships" id="257" r:id="R3320a8a978d44a4d"/>
    <p:sldId xmlns:r="http://schemas.openxmlformats.org/officeDocument/2006/relationships" id="258" r:id="R342655c2a4c342e5"/>
    <p:sldId xmlns:r="http://schemas.openxmlformats.org/officeDocument/2006/relationships" id="259" r:id="R8f4b65071bcf4d32"/>
    <p:sldId xmlns:r="http://schemas.openxmlformats.org/officeDocument/2006/relationships" id="260" r:id="Rb5dc38cac0304432"/>
    <p:sldId xmlns:r="http://schemas.openxmlformats.org/officeDocument/2006/relationships" id="261" r:id="R55445b1367634bef"/>
    <p:sldId xmlns:r="http://schemas.openxmlformats.org/officeDocument/2006/relationships" id="262" r:id="R04085e1724f14568"/>
    <p:sldId xmlns:r="http://schemas.openxmlformats.org/officeDocument/2006/relationships" id="263" r:id="Rfd6df20771cb4e74"/>
    <p:sldId xmlns:r="http://schemas.openxmlformats.org/officeDocument/2006/relationships" id="264" r:id="Rf8d096cc3fb84c4b"/>
    <p:sldId xmlns:r="http://schemas.openxmlformats.org/officeDocument/2006/relationships" id="265" r:id="Re8d8c3cc785e4639"/>
    <p:sldId xmlns:r="http://schemas.openxmlformats.org/officeDocument/2006/relationships" id="266" r:id="R0226fa2d8b8742f3"/>
    <p:sldId xmlns:r="http://schemas.openxmlformats.org/officeDocument/2006/relationships" id="267" r:id="R3a229d2469284fc0"/>
    <p:sldId xmlns:r="http://schemas.openxmlformats.org/officeDocument/2006/relationships" id="268" r:id="R689461e509a94644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6669f7c9974faf" /><Relationship Type="http://schemas.openxmlformats.org/officeDocument/2006/relationships/slideMaster" Target="/ppt/slideMasters/slideMaster1.xml" Id="R646e916fd917400d" /><Relationship Type="http://schemas.openxmlformats.org/officeDocument/2006/relationships/notesMaster" Target="/ppt/notesMasters/notesMaster1.xml" Id="R2d7c0c1051f54a24" /><Relationship Type="http://schemas.openxmlformats.org/officeDocument/2006/relationships/presProps" Target="/ppt/presProps.xml" Id="Rd513e95093ae48d6" /><Relationship Type="http://schemas.openxmlformats.org/officeDocument/2006/relationships/tableStyles" Target="/ppt/tableStyles.xml" Id="R74f956c8cafd4774" /><Relationship Type="http://schemas.openxmlformats.org/officeDocument/2006/relationships/slide" Target="/ppt/slides/slide1.xml" Id="Rea030ab7560e4ba8" /><Relationship Type="http://schemas.openxmlformats.org/officeDocument/2006/relationships/slide" Target="/ppt/slides/slide2.xml" Id="R3320a8a978d44a4d" /><Relationship Type="http://schemas.openxmlformats.org/officeDocument/2006/relationships/slide" Target="/ppt/slides/slide3.xml" Id="R342655c2a4c342e5" /><Relationship Type="http://schemas.openxmlformats.org/officeDocument/2006/relationships/slide" Target="/ppt/slides/slide4.xml" Id="R8f4b65071bcf4d32" /><Relationship Type="http://schemas.openxmlformats.org/officeDocument/2006/relationships/slide" Target="/ppt/slides/slide5.xml" Id="Rb5dc38cac0304432" /><Relationship Type="http://schemas.openxmlformats.org/officeDocument/2006/relationships/slide" Target="/ppt/slides/slide6.xml" Id="R55445b1367634bef" /><Relationship Type="http://schemas.openxmlformats.org/officeDocument/2006/relationships/slide" Target="/ppt/slides/slide7.xml" Id="R04085e1724f14568" /><Relationship Type="http://schemas.openxmlformats.org/officeDocument/2006/relationships/slide" Target="/ppt/slides/slide8.xml" Id="Rfd6df20771cb4e74" /><Relationship Type="http://schemas.openxmlformats.org/officeDocument/2006/relationships/slide" Target="/ppt/slides/slide9.xml" Id="Rf8d096cc3fb84c4b" /><Relationship Type="http://schemas.openxmlformats.org/officeDocument/2006/relationships/slide" Target="/ppt/slides/slide10.xml" Id="Re8d8c3cc785e4639" /><Relationship Type="http://schemas.openxmlformats.org/officeDocument/2006/relationships/slide" Target="/ppt/slides/slide11.xml" Id="R0226fa2d8b8742f3" /><Relationship Type="http://schemas.openxmlformats.org/officeDocument/2006/relationships/slide" Target="/ppt/slides/slide12.xml" Id="R3a229d2469284fc0" /><Relationship Type="http://schemas.openxmlformats.org/officeDocument/2006/relationships/slide" Target="/ppt/slides/slide13.xml" Id="R689461e509a9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6e8d3fd804f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4288">
          <a:solidFill>
            <a:schemeClr val="phClr"/>
          </a:solidFill>
          <a:prstDash val="solid"/>
        </a:ln>
        <a:ln w="21431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772a3f9a7a4fea" /><Relationship Type="http://schemas.openxmlformats.org/officeDocument/2006/relationships/notesMaster" Target="/ppt/notesMasters/notesMaster1.xml" Id="Rfe84b9fd295b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4d022602a44a3" /><Relationship Type="http://schemas.openxmlformats.org/officeDocument/2006/relationships/notesMaster" Target="/ppt/notesMasters/notesMaster1.xml" Id="Rd22f40a5d2d4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cd2436064646cd" /><Relationship Type="http://schemas.openxmlformats.org/officeDocument/2006/relationships/notesMaster" Target="/ppt/notesMasters/notesMaster1.xml" Id="Re1aed4f4c3834e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b19eb7f2104ab2" /><Relationship Type="http://schemas.openxmlformats.org/officeDocument/2006/relationships/notesMaster" Target="/ppt/notesMasters/notesMaster1.xml" Id="Rce7f93c8027144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47829f0d95457e" /><Relationship Type="http://schemas.openxmlformats.org/officeDocument/2006/relationships/notesMaster" Target="/ppt/notesMasters/notesMaster1.xml" Id="R7e69717d3db148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9dcae1a434b19" /><Relationship Type="http://schemas.openxmlformats.org/officeDocument/2006/relationships/notesMaster" Target="/ppt/notesMasters/notesMaster1.xml" Id="Rf164fd1d6e1841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d44b19c4ed4ded" /><Relationship Type="http://schemas.openxmlformats.org/officeDocument/2006/relationships/notesMaster" Target="/ppt/notesMasters/notesMaster1.xml" Id="R75741a6148af40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2b05ddeae04a1a" /><Relationship Type="http://schemas.openxmlformats.org/officeDocument/2006/relationships/notesMaster" Target="/ppt/notesMasters/notesMaster1.xml" Id="Rcf0ba441507f42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74e9d2e99243ad" /><Relationship Type="http://schemas.openxmlformats.org/officeDocument/2006/relationships/notesMaster" Target="/ppt/notesMasters/notesMaster1.xml" Id="R878a27dcda9647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f87d8fa58c4842" /><Relationship Type="http://schemas.openxmlformats.org/officeDocument/2006/relationships/notesMaster" Target="/ppt/notesMasters/notesMaster1.xml" Id="Rbcb6ddce9d7d4a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b1ecebdf7a4099" /><Relationship Type="http://schemas.openxmlformats.org/officeDocument/2006/relationships/notesMaster" Target="/ppt/notesMasters/notesMaster1.xml" Id="R96f2d5f48feb48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46296b6f3a478a" /><Relationship Type="http://schemas.openxmlformats.org/officeDocument/2006/relationships/notesMaster" Target="/ppt/notesMasters/notesMaster1.xml" Id="R7facc11e7e8b4f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fa109fa7684543" /><Relationship Type="http://schemas.openxmlformats.org/officeDocument/2006/relationships/notesMaster" Target="/ppt/notesMasters/notesMaster1.xml" Id="Rd5284f7525d74f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เพิ่มหลังหน้า 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ภาพจาก TaskFlow จริงหลังเปลี่ยนเป็น IBM Plex Sans Thai ใช้ข้อมูลเดโมในเครื่อง ภาพเป็นตัวอย่าง UI ไม่ใช่หลักฐานส่ง Gmail หรือตัวเลขของผู้ใช้จริง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พูดว่า TaskFlow รวมงานและวันส่งไว้ในหน้าเดียว ด้านบนสรุปจำนวนงาน ด้านล่างค้นหาและกรองงานได้ เลือกสถานะ pending, in_progress หรือ completed แต่ละ task เป็นของผู้ใช้คนเดียว ไม่ใช่งานร่วมทีม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React แสดงผลและรับข้อมูล Backend ตรวจ schema และเจ้าของก่อนใช้ SQL แม้แก้ request เองก็อ่านงานคนอื่นไม่ได้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แหล่งภาพ: artifacts/screenshots/ibm-desktop.jpg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03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อ่าน diagram: browser เรียก HTTP API ที่ Hono และ API ใช้ prepared SQL กับ SQLite ข้อมูลมี 6 ตารางเพราะเพิ่ม password_reset_tokens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React เป็น UI, Hono ตรวจ request และสิทธิ์, SQLite เก็บข้อมูล ส่วน backend ใช้ Nodemailer ส่งลิงก์ตั้งรหัสผ่านผ่าน Gmail SMTP โดยตรง n8n ยังเป็น workflow อีกชุดสำหรับงานครบกำหนดและตั้ง credentials แยกต่างหาก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เส้นทาง reset อยู่ใน backend จึงใช้ได้โดยไม่เปิด n8n ตัวส่ง SMTP ไม่ให้สิทธิ์อ่านหรือแก้ SQL โดยตรง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Dev มี server สองตัวจาก npm run dev: Vite 5173 proxy /api ไป Hono 3000 หากเปิด npm start เดิมอยู่ต้องหยุดก่อนเพื่อไม่ชน port หลัง build npm start ใช้ Hono ตัวเดียว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ตั้ง Gmail ของ backend แล้ว n8n จะพร้อมหรือไม่? ตอบ: ไม่ได้ ทั้งสองชุดอ่าน configuration/credentials คนละที่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ขอบเขตหลักฐาน: ทดสอบ SMTP receiver ใน loopback จริงแล้ว ยังไม่มีหลักฐานส่ง Gmail จริงหรือถึง 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https://hono.dev/docs/</a:t>
            </a:r>
          </a:p>
          <a:p xmlns:a="http://schemas.openxmlformats.org/drawingml/2006/main">
            <a:r>
              <a:t>https://nodejs.org/api/sqlite.html</a:t>
            </a:r>
          </a:p>
          <a:p xmlns:a="http://schemas.openxmlformats.org/drawingml/2006/main">
            <a:r>
              <a:t>https://nodemailer.com/smtp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04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npm workspaces รวม package ที่เกี่ยวข้องไว้ใน repository เดียวและเชื่อม dependency ที่ประกาศไว้อย่างชัดเจน apps/web ใช้ React และ Tailwind apps/api ใช้ Hono และ node:sqlite packages/shared เก็บ Zod schema กับ TypeScript 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schema ที่ frontend ใช้ตรวจฟอร์มและ backend ใช้ตรวจ request มาจากแหล่งเดียว ลดการกำหนดชื่อ field หรือ enum ไม่ตรงกัน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แชร์เฉพาะ contract ที่ทั้งสองฝั่งต้องรู้ ไม่แชร์ database connection หรือ secret ไป frontend เพราะโค้ดเว็บถูกส่งถึง 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Monorepo เหมาะทุกระบบหรือไม่? ตอบ: เหมาะเมื่อทีมและ release เกี่ยวข้องกัน แต่ repo โตขึ้นต้องดูเวลา build การแบ่งสิทธิ์และ dependency นี่เป็นงานเล็กจึงไม่ต้องเพิ่ม Turborepo หรือระบบ build ซับซ้อน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TypeScript เพียงพอตรวจ request หรือไม่? ตอบ: type หายไประหว่างรันและ client ภายนอกส่งข้อมูลอะไรก็ได้ ต้องตรวจ Zod ที่ backend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package.json workspaces และ packages/shared/src/index.ts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https://syntax.fm/videos/syntax-side-dish-explainers/monorepos-what-why-when-and-how-or-full-stack-react-hono-example</a:t>
            </a:r>
          </a:p>
          <a:p xmlns:a="http://schemas.openxmlformats.org/drawingml/2006/main">
            <a:r>
              <a:t>https://docs.npmjs.com/cli/using-npm/workspaces</a:t>
            </a:r>
          </a:p>
          <a:p xmlns:a="http://schemas.openxmlformats.org/drawingml/2006/main">
            <a:r>
              <a:t>https://zod.dev/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เพิ่มหลังหน้า 06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ตัวอย่างมาจาก route อ่านงานตาม id ใน apps/api/src/tasks.ts ใช้ WHERE id=? AND user_id=? และ bind ค่า id กับ user.id จาก session ที่ backend ตรวจแล้ว ไม่อ่าน user_id จาก request body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prepared query แยก SQL structure ออกจากค่าที่ผู้ใช้ส่งมา เครื่องหมาย ? เป็นตำแหน่งของค่า จึงไม่ต้องต่อ string input เข้า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การรู้ task id ไม่ให้สิทธิ์เข้าถึง ข้อมูลจะคืนก็ต่อเมื่อเจ้าของตรงกับ identity ปัจจุบัน ถ้างานไม่มีหรือเป็นของผู้อื่น API คืน 404 เหมือนกัน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ใช้ UUID แล้วต้องตรวจเจ้าของหรือไม่? ตอบ: ต้องตรวจ UUID เป็น identifier ไม่ใช่ authorization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prepared query ป้องกันทุกอย่างหรือไม่? ตอบ: ป้องกันการแทรกค่าลง query แต่ยังต้องตรวจ enum, ความยาว และ ownership รวมถึง whitelist เมื่อเลือกชื่อ column แบบ dynamic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tasks.ts สำหรับ SELECT, UPDATE และ DELETE ที่มี user_id 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https://nodejs.org/api/sqlite.html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07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JWT คือ JSON Web Token ระบบนี้ใช้ signed token แบบ HS256 มีส่วน header, payload, signature โดย payload อ่านได้ จึงใส่เฉพาะ sub, sid, iat, exp, iss, aud ไม่ใส่ password หรือ secret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verify ตรวจ signature พร้อม allowlist algorithm=HS256, วันหมดอายุ, issuer=taskflow และ audience=taskflow-web จากนั้น join users กับ auth_sessions เพื่อตรวจ owner, expiry และ revoked_at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JWT ยังไม่หมดอายุก็ใช้ไม่ได้ถ้า session ถูก revoke logout ทั้งแก้ revoked_at และลบ cookie จึงป้องกัน replay cookie เก่าหลัง logout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Cookie HttpOnly จำกัดการอ่าน cookie ด้วย JavaScript SameSite=Lax ลดการส่ง cookie ในบางคำขอข้ามไซต์ Secure บังคับ HTTPS ใน production และ Origin guard ปฏิเสธ mutation จาก origin ที่ไม่อนุญาต การควบคุมเหล่านี้ยังไม่ทำให้ XSS หมดไป จึงต้องไม่ render HTML ที่ผู้ใช้ส่งโดยไม่ควบคุม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ทำไมอายุ 30 นาที? ตอบ: เป็น tradeoff สำหรับ demo ระหว่างการใช้งานกับช่วงเวลาของ token ที่รั่ว ไม่มี refresh token หมดอายุแล้ว login 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security.ts, sessionMiddleware และ logout ใน 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https://github.com/panva/jose</a:t>
            </a:r>
          </a:p>
          <a:p xmlns:a="http://schemas.openxmlformats.org/drawingml/2006/main">
            <a:r>
              <a:t>https://cheatsheetseries.owasp.org/cheatsheets/Session_Management_Cheat_Sheet.html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อัปเดต 14 ตุลาคม 2026</a:t>
            </a:r>
          </a:p>
          <a:p xmlns:a="http://schemas.openxmlformats.org/drawingml/2006/main">
            <a:r>
              <a:t>เมื่อ reset password สำเร็จ ระบบ revoke ทุก auth_sessions ของเจ้าของบัญชี ไม่ใช่เฉพาะ cookie ปัจจุบัน จึงทำให้ JWT ของเครื่องอื่นไม่ผ่าน session check แม้ JWT ยังไม่หมดอายุ ระบบไม่ได้ revoke API keys โดยอัตโนมัติ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08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ตารางนี้แยก credential 3 ชนิดที่มีหน้าที่ต่างกัน JWT อยู่ใน HttpOnly cookie ใช้กับ request ของผู้ใช้ API ตรวจลายเซ็นและ SQL session อายุ 30 นาที API key สุ่ม 32 bytes แสดง secret ครั้งเดียว เก็บ SHA-256 digest อายุ 30 วัน scope reminders ส่วน reset token สุ่ม 32 bytes ส่งทางอีเมล เก็บ SHA-256 digest อายุ 15 นาที และใช้ตั้ง password ใหม่ได้ครั้งเดียว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token สำหรับ reset ไม่ใช่ JWT และไม่ใช้แทน session เพื่อจัดการ tasks ใช้ได้เฉพาะ endpoint reset-password ที่ตรวจ token ใน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Password ของคนอาจเดาง่าย จึงใช้ scrypt พร้อม random salt และ timingSafeEqual ส่วน key/token สุ่มมี entropy สูง จึงใช้ SHA-256 สำหรับ lookup ได้ Password เองไม่ได้หมดอายุใน 30 นาที ตัวที่หมดอายุคือ JWT/session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 reset สำเร็จ revoke ทุก session และทำให้ reset links ที่ค้างใช้ไม่ได้ แต่ไม่ revoke API keys ขอลิงก์ใหม่อย่างเดียวยังไม่เปลี่ยน password และยังไม่ revoke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raw key กับ reset token กู้จาก SQL ได้หรือไม่? ตอบ: ไม่ได้ มีเพียง digest ถ้าจำเป็นให้สร้าง key/ขอลิงก์ใหม่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https://nodejs.org/api/crypto.html</a:t>
            </a:r>
          </a:p>
          <a:p xmlns:a="http://schemas.openxmlformats.org/drawingml/2006/main">
            <a:r>
              <a:t>https://github.com/panva/jose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คำนวณ password hash ด้วย scrypt ก่อนเริ่ม transaction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แทนหน้า 10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reset token เป็น bearer secret สุ่ม 32 bytes ไม่ใช่ JWT URL ส่ง raw token แต่ SQL เก็บเฉพาะ SHA-256 digest อายุ 15 นาที หากรูปแบบไม่ผ่าน schema จะคืน validation error หาก token ไม่พบ หมดอายุ หรือใช้แล้วคืน 400 INVALID_RESET_TOKEN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transaction ต้อง claim token ด้วย UPDATE ... WHERE used_at IS NULL AND expires_at &gt; ? และตรวจ changes===1 ก่อนเปลี่ยน password hash เมื่อสำเร็จจะบันทึก password hash ที่คำนวณไว้ก่อน transaction, revoke ทุก auth_sessions ของบัญชี และ mark reset links ที่ยังค้างของบัญชีว่าใช้แล้ว ถ้าขั้นใดผิดพลาดต้อง rollback ทั้งชุด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การส่ง token เดียวพร้อมกันสองคำขอ อาจผ่านการอ่านเบื้องต้นทั้งสอง แต่ claim ใน transaction ทำให้สำเร็จได้เพียงหนึ่งคำขอ อีกคำขอไม่เปลี่ยนรหัสผ่าน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 race guard: scrypt เป็น async ระหว่างรอตรวจ password อาจมี reset commit จึงอ่าน password_hash ล่าสุดก่อนออก session หากไม่เท่ากับ snapshot ที่ตรวจแล้ว ให้ปฏิเสธ login แทนการสร้าง session ด้วยรหัสเก่า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reset ทำให้ API key ถูกยกเลิกด้วยหรือไม่? ตอบ: ไม่ รุ่นนี้เพิกถอน session และ reset links แต่ key มีวงจร revoke ของตัวเอง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กดขอลิงก์ใหม่ทำให้ลิงก์เก่าใช้ไม่ได้ทันทีหรือไม่? ตอบ: ไม่ ลิงก์ที่ยังไม่หมดอายุยังใช้ได้จน reset สำเร็จครั้งหนึ่ง แล้วจึงยกเลิกลิงก์ที่ค้างทั้งหมดของบัญชี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password-reset.ts transaction และ auth.ts current password_hash guard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https://nodejs.org/api/crypto.html</a:t>
            </a:r>
          </a:p>
          <a:p xmlns:a="http://schemas.openxmlformats.org/drawingml/2006/main">
            <a:r>
              <a:t>https://nodejs.org/api/sqlite.html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11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ภาพนี้เป็น screenshot จริงจากหน้า ResetPasswordPage ใน TaskFlow ใช้ภาพนี้ครั้งเดียวในเด็ค ไม่ใช่ mockup และไม่ได้ใช้ภาพนี้เป็นหลักฐานว่าเมลผ่าน Gmail 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ใช้ทำอะไร: ฟอร์มให้กรอกรหัสใหม่ 12–128 ตัวอักษรและยืนยันให้ตรงกัน มี checkbox แสดง/ซ่อนรหัสผ่านทั้งสองช่องและปุ่มบันทึกที่ป้องกัน submit ซ้ำระหว่างรอ 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หน้าเว็บอ่าน token จาก fragment แล้วลบ fragment ก่อนแสดงหน้า เก็บ token ใน React memory เท่านั้น ไม่เก็บใน localStorage หาก refresh ต้องเปิดลิงก์ต้นฉบับจากอีเมลใหม่ถ้ายังไม่ใช้และไม่หมดอายุ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สำเร็จแล้วเคลียร์ช่องรหัส กลับหน้า login และแสดงข้อความให้เข้าสู่ระบบด้วยรหัสใหม่ หาก API ตอบ INVALID_RESET_TOKEN จะแสดงหน้าลิงก์ใช้ไม่ได้และปุ่มขอลิงก์ใหม่ การยืนยันรหัสเป็นกติกาที่ UI จึงส่งเฉพาะ token,password ไป backend แต่ backend ยังตรวจความยาวและรูปแบบเอง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ถ้ามีคนส่ง body เองข้าม UI ได้หรือไม่? ตอบ: ได้ จึงต้องตรวจ token, password และ single use ที่ backend เสมอ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apps/web/src/App.tsx ResetPasswordPage และ useLayoutEffect ลบ fragment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12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การตั้งค่าเริ่มจาก npm run setup:email ซึ่งเติมตัวแปรที่ขาดใน .env โดยไม่ทับเดิม กำหนด SMTP_HOST=smtp.gmail.com, SMTP_PORT=465, SMTP_SECURE=true, SMTP_USER และ SMTP_PASS ด้วย Google App Password เก็บในเครื่อง backend เท่านั้น ไม่ใส่ secret ในสไลด์หรือแชต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Google App Password ต้องเปิด 2-Step Verification บางบัญชีองค์กร Advanced Protection หรือ security-key-only อาจไม่มีเมนู ใช้คำแนะนำ Google ทางการ ห้ามใช้ password Gmail ปกติ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APP_PUBLIC_URL คือ URL หน้าเว็บที่ผู้รับจะเปิด: dev เป็น http://localhost:5173 หลัง build/npm start เป็น http://localhost:3000 หรือ domain HTTPS จริง localhost เปิดได้บนเครื่องที่รัน server หากเปิดบนมือถือจะชี้มือถือ ต้องตั้ง URL ที่อุปกรณ์เข้าถึงได้จริง พร้อม HOST, APP_ORIGIN และ deployment ที่ถูกต้อง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npm run mail:check ตรวจการเชื่อมต่อและ login SMTP โดยไม่ส่งเมล ผ่าน verify ไม่ใช่หลักฐาน mail delivery ผู้รับอาจใช้อีเมลที่ไม่ใช่ Gmail ได้ Gmail เป็น sender ต้องมีบัญชี TaskFlow ที่ใช้อีเมลรับจริง demo@taskflow.local รับไม่ได้ ปัจจุบันไม่มี email verification ตอนสมัคร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หลักฐาน: 2 mail tests คือ 1 config validation และ 1 end-to-end ผ่าน SMTP receiver จริงใน loopback ไม่ใช่การส่งอีเมลจริง 2 ฉบับผ่าน Gmail ยังไม่มีหลักฐาน Gmail SMTP จริงหรือ 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Rate limits: forgot 5/IP/15 นาที reset-submit 10/IP/15 นาที ต่อบัญชีเว้น 60 วินาทีและไม่เกิน 3 token ใน rolling hour จาก SQL ติดเพดานบัญชียังตอบข้อความกลาง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การส่ง async อยู่ใน memory ไม่ใช่ durable queue restart ระหว่างรออาจต้องขอใหม่ ล้มเหลวลบ token ที่ยังไม่ใช้ของฉบับนั้นและ log event password_reset_email_failed โดยไม่ log secret n8n ไม่เกี่ยวกับฟีเจอร์นี้และยังต้องตั้ง credential ของ n8n แยก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https://support.google.com/accounts/answer/185833?hl=en</a:t>
            </a:r>
          </a:p>
          <a:p xmlns:a="http://schemas.openxmlformats.org/drawingml/2006/main">
            <a:r>
              <a:t>https://myaccount.google.com/apppasswords</a:t>
            </a:r>
          </a:p>
          <a:p xmlns:a="http://schemas.openxmlformats.org/drawingml/2006/main">
            <a:r>
              <a:t>https://support.google.com/a/answer/176600?hl=en</a:t>
            </a:r>
          </a:p>
          <a:p xmlns:a="http://schemas.openxmlformats.org/drawingml/2006/main">
            <a:r>
              <a:t>https://nodemailer.com/smtp#verifying-the-configuration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13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ลำดับ middleware คือ request_id, secure headers, no-store, body limit 16KB และ Origin/Sec-Fetch-Site guard บน mutation จากนั้น auth routes ใช้ rate limit ตาม bucket และ route ที่ต้อง login จึงตรวจ session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Login กับ register ใช้ bucket รวม 20 ครั้ง/IP/15 นาที Forgot-password มี bucket แยก 5 ครั้ง/IP/15 นาที และ reset-password แยก 10 ครั้ง/IP/15 นาที เกินคืน429 Retry-After ตัวนับ IP อยู่ใน memory ของ process ส่วน cooldown/rolling-hour ของบัญชีดู 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Tasks/keys/summary/reminders ใช้ JWT + SQL session Integration ใช้ x-api-key scope reminders Forgot endpoint เป็น public เพื่อให้กู้บัญชีได้ Reset endpoint ไม่บังคับ session แต่ตรวจ reset token จาก body กับ SQL ใน handler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public route ยังมี validation, Origin guard และ rate limit ได้ การตรวจ token เพื่อเปลี่ยน password เป็นอีกกติกาหนึ่งจาก session authentication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Content-Type ผิดคืน415 JSON/schema/date ผิดคืน400 ข้อผิดพลาดภายในคืนข้อความทั่วไปและใช้ request_id ตามหา 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app.ts, context.ts, auth.ts และ password-reset.ts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>https://hono.dev/docs/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14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Permission matrix ระบุว่า session user จัดการได้เฉพาะ tasks ของตัวเอง และสร้างหรือ revoke keys ของตัวเอง API key เรียกได้เฉพาะ due-tasks กับ reminders เมื่อขาด credential จะได้ 401 และ task ของผู้อื่นจะได้ 404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สถานะเป็น pending, in_progress, completed ผู้ใช้เลือกเปลี่ยนสถานะของงานตัวเองได้ ไม่มี workflow approval หรือ transition constraint เพราะนี่คือ personal To-do ต้องการให้เปลี่ยนกลับได้ง่าย ความสำคัญมี low, medium, high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API key ถูกจำกัดทาง route และ scope ไม่ใช่บัตรผ่านทุก endpoint ใช้ session เพื่อออก key และใช้ key เพื่อ integration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ต้องมี role หรือไม่? ตอบ: role จำเป็นเมื่อผู้ใช้มีชุดสิทธิ์ต่างกัน งานนี้มีสิทธิ์แบบเดียว จึงใช้ owner check ให้เห็นหลักการชัด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ถาม: completed งานยังแจ้งเตือนหรือไม่? ตอบ: due query ตัด completed ออก รวมงานครบกำหนดและงานค้างที่ due_date&lt;=วันที่เลือก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tasks.ts และ integrations.ts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แทนหน้า 15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 ของ paths ในตารางคือ /api ทั้งหมด CRUD มี GET/POST /tasks และ GET/PATCH/DELETE /tasks/:id ทุก query ตรวจ owner ส่วน /keys ใช้ session และ /integrations ใช้ API key เสมอ ยังมี /auth/me, /auth/logout, /summary, /reminders และ /health ตาม docs/api.md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 /auth/forgot-password {email} รับ JSON คืน202ข้อความกลางเมื่อ service ตั้งค่าแล้ว ทั้งบัญชีที่ไม่พบและถูกระงับส่งชั่วคราวได้ response เดียวกัน ถ้าไม่ตั้ง service คืน503 SMTP_NOT_CONFIGURED POST /auth/reset-password {token,password} คืน200ให้ login ใหม่ ไม่ออก session อัตโนมัติ tokenที่รูปแบบถูกแต่ไม่พบ/ใช้แล้ว/หมดอายุคืน400 INVALID_RESET_TOKEN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ความหมาย statuses: 400 input/token, 401 credential/session, 403 Origin, 404 ไม่พบหรือไม่ใช่เจ้าของ, 409 emailซ้ำ/keylimit, 413 bodyเกิน16KB, 415 ไม่ใช่JSON, 429 rate limits, 500 internal, 503 SMTPยังไม่กำหนด ฟิลด์ error คือ code,message,request_id ไม่เปิด stack/SQL/secret ให้ client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route ที่ใช้ reset token ไม่ยอมรับ JWT หรือ API key แทน token และ API key ก็ไม่ให้สิทธิ์ tasks CRUD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จุดชี้โค้ด: app.ts, auth.ts, password-reset.ts, tasks.ts และ integrations.ts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เพิ่มหลังหน้า 16 ของ PDF ต้นฉบับ 16 หน้า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ผลยืนยันของระบบปัจจุบัน: npm test ผ่าน54/54 แบ่งเป็น35 API เดิม,17 password reset และ2 mail tests รวม functional behavior tests ไม่ใช่ load test หรือ security audit ครอบจักรวาล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ชุด35เดิมครอบคลุม owner CRUD404, JWT exp/issuer/audience/algorithm, logout replay, Securecookie, JSON/validation/PATCH preservation, Origin/body/rate limit, SQLconstraints/injection และ APIkey scope/expiry/revoke กับ reminder dedup/rollback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ชุด17resetครอบคลุมข้อความกลาง normalization tokenสุ่ม/digest/15min ขอลิงก์ไม่เปลี่ยนpassword successfulreset revokeทุกsession singleuse expired/tampered/unknown validationยังไม่consume otherlinks invalidated crossaccountisolation concurrentclaimสำเร็จครั้งเดียว loginraceguard cooldown60s/hourcap3 SMTPnotconfigured asyncfailurecleanup resetlimits และcrossorigin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2mailtestsมี1config validation และ1end-to-end ที่เปิด SMTP receiver จริงบนloopback รับข้อความแล้วเอาลิงก์ที่รับมาตั้งรหัสผ่านและloginด้วยรหัสใหม่ ไม่มีการใช้Gmailจริง จึงไม่อ้างว่าส่งผ่านGmail2ฉบับหรือเข้าinbox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Buildผ่านและตรวจUI responsive320–1440px รวมหน้าresetแบบvisualQA ยังไม่ได้กรอกรหัสใหม่จนจบผ่านbrowser ส่วนAPI+SMTPend-to-endทดสอบแยกและไม่แทนSMTPGmail delivery proof ส่วนn8nยังผ่านstatic workflow/compose validationตามขอบเขตเดิม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หัวใจหลัก: แยกสิ่งที่ทดสอบแล้วออกจากเงื่อนไขdeploymentที่ต้องตรวจจริง และไม่ใช้จำนวนtestsแทนความมั่นใจทุกด้าน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แหล่งอ้างอิง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6e0b3cd2d4c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c85dcd9b7424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59da5daaa48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ef3f1d2a44c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00e4748ae640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4ccd0ad6742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61E5D1-46C4-4AE4-9085-A30C3F3BD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710D0F-DD99-43D2-B973-E590EFE847E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6D7BD6-9D5D-4087-9AE9-36294244A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E877D8-BECD-4E4C-9CDB-F639D1AAC7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1D7E83-79C6-46EA-AA94-9F0E805489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0B531B-B051-4A5D-A0BD-495704BFA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64F388-1101-4F1E-9CF8-77CA7974A3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4CF73E-D278-4D73-AC55-02B585027C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2FE349-9728-48A6-9688-1FB2B524B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0FE0F4-04AC-4AA3-A7B9-E07645315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IBM Plex Sans Thai"/>
                <a:ea typeface="IBM Plex Sans Thai"/>
                <a:cs typeface="IBM Plex Sans Thai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14ec696b424574" /><Relationship Type="http://schemas.openxmlformats.org/officeDocument/2006/relationships/slideLayout" Target="/ppt/slideLayouts/slideLayout1.xml" Id="R5699671b973243a8" /><Relationship Type="http://schemas.openxmlformats.org/officeDocument/2006/relationships/slideLayout" Target="/ppt/slideLayouts/slideLayout2.xml" Id="R86a72696659045fc" /><Relationship Type="http://schemas.openxmlformats.org/officeDocument/2006/relationships/slideLayout" Target="/ppt/slideLayouts/slideLayout3.xml" Id="R467f560f78ce46fc" /><Relationship Type="http://schemas.openxmlformats.org/officeDocument/2006/relationships/slideLayout" Target="/ppt/slideLayouts/slideLayout4.xml" Id="R5715501505ad47eb" /><Relationship Type="http://schemas.openxmlformats.org/officeDocument/2006/relationships/slideLayout" Target="/ppt/slideLayouts/slideLayout5.xml" Id="R7c4fc10873c44576" /><Relationship Type="http://schemas.openxmlformats.org/officeDocument/2006/relationships/slideLayout" Target="/ppt/slideLayouts/slideLayout6.xml" Id="R25de0bac083d42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9671b973243a8"/>
    <p:sldLayoutId xmlns:r="http://schemas.openxmlformats.org/officeDocument/2006/relationships" id="2147483650" r:id="R86a72696659045fc"/>
    <p:sldLayoutId xmlns:r="http://schemas.openxmlformats.org/officeDocument/2006/relationships" id="2147483651" r:id="R467f560f78ce46fc"/>
    <p:sldLayoutId xmlns:r="http://schemas.openxmlformats.org/officeDocument/2006/relationships" id="2147483652" r:id="R5715501505ad47eb"/>
    <p:sldLayoutId xmlns:r="http://schemas.openxmlformats.org/officeDocument/2006/relationships" id="2147483653" r:id="R7c4fc10873c44576"/>
    <p:sldLayoutId xmlns:r="http://schemas.openxmlformats.org/officeDocument/2006/relationships" id="2147483654" r:id="R25de0bac083d42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950">
          <a:solidFill>
            <a:schemeClr val="tx1"/>
          </a:solidFill>
          <a:latin typeface="IBM Plex Sans Thai"/>
          <a:ea typeface="IBM Plex Sans Thai"/>
          <a:cs typeface="IBM Plex Sans Tha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3150">
          <a:solidFill>
            <a:schemeClr val="tx1"/>
          </a:solidFill>
          <a:latin typeface="IBM Plex Sans Thai"/>
          <a:ea typeface="IBM Plex Sans Thai"/>
          <a:cs typeface="IBM Plex Sans Tha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700">
          <a:solidFill>
            <a:schemeClr val="tx1"/>
          </a:solidFill>
          <a:latin typeface="IBM Plex Sans Thai"/>
          <a:ea typeface="IBM Plex Sans Thai"/>
          <a:cs typeface="IBM Plex Sans Tha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250">
          <a:solidFill>
            <a:schemeClr val="tx1"/>
          </a:solidFill>
          <a:latin typeface="IBM Plex Sans Thai"/>
          <a:ea typeface="IBM Plex Sans Thai"/>
          <a:cs typeface="IBM Plex Sans Tha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9pPr>
    </p:bodyStyle>
    <p:otherStyle>
      <a:lvl1pPr xmlns:a="http://schemas.openxmlformats.org/drawingml/2006/main" marL="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1pPr>
      <a:lvl2pPr xmlns:a="http://schemas.openxmlformats.org/drawingml/2006/main" marL="4572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2pPr>
      <a:lvl3pPr xmlns:a="http://schemas.openxmlformats.org/drawingml/2006/main" marL="9144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3pPr>
      <a:lvl4pPr xmlns:a="http://schemas.openxmlformats.org/drawingml/2006/main" marL="13716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4pPr>
      <a:lvl5pPr xmlns:a="http://schemas.openxmlformats.org/drawingml/2006/main" marL="18288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5pPr>
      <a:lvl6pPr xmlns:a="http://schemas.openxmlformats.org/drawingml/2006/main" marL="22860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6pPr>
      <a:lvl7pPr xmlns:a="http://schemas.openxmlformats.org/drawingml/2006/main" marL="27432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7pPr>
      <a:lvl8pPr xmlns:a="http://schemas.openxmlformats.org/drawingml/2006/main" marL="32004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8pPr>
      <a:lvl9pPr xmlns:a="http://schemas.openxmlformats.org/drawingml/2006/main" marL="3657600" algn="l">
        <a:buNone/>
        <a:defRPr sz="2025">
          <a:solidFill>
            <a:schemeClr val="tx1"/>
          </a:solidFill>
          <a:latin typeface="IBM Plex Sans Thai"/>
          <a:ea typeface="IBM Plex Sans Thai"/>
          <a:cs typeface="IBM Plex Sans Tha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4288">
          <a:solidFill>
            <a:schemeClr val="phClr"/>
          </a:solidFill>
          <a:prstDash val="solid"/>
        </a:ln>
        <a:ln w="21431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fb0c5b4ea418d" /><Relationship Type="http://schemas.openxmlformats.org/officeDocument/2006/relationships/image" Target="/ppt/media/image.png" Id="R7f31d323850e46ea" /><Relationship Type="http://schemas.openxmlformats.org/officeDocument/2006/relationships/image" Target="/ppt/media/image2.png" Id="Rc52d46dbc5294915" /><Relationship Type="http://schemas.openxmlformats.org/officeDocument/2006/relationships/image" Target="/ppt/media/image.jpeg" Id="R1d48c427212647b2" /><Relationship Type="http://schemas.openxmlformats.org/officeDocument/2006/relationships/notesSlide" Target="/ppt/notesSlides/notesSlide1.xml" Id="R7aa3544e1a1844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2080a61914356" /><Relationship Type="http://schemas.openxmlformats.org/officeDocument/2006/relationships/image" Target="/ppt/media/image3.png" Id="R1391f5fab86542bf" /><Relationship Type="http://schemas.openxmlformats.org/officeDocument/2006/relationships/image" Target="/ppt/media/image4.png" Id="R632f7bbbee7d4c83" /><Relationship Type="http://schemas.openxmlformats.org/officeDocument/2006/relationships/notesSlide" Target="/ppt/notesSlides/notesSlide2.xml" Id="R0cfc776bfb7b47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739c840d04336" /><Relationship Type="http://schemas.openxmlformats.org/officeDocument/2006/relationships/image" Target="/ppt/media/image5.png" Id="R871403854c3947f7" /><Relationship Type="http://schemas.openxmlformats.org/officeDocument/2006/relationships/image" Target="/ppt/media/image6.png" Id="R46dd98730c194559" /><Relationship Type="http://schemas.openxmlformats.org/officeDocument/2006/relationships/notesSlide" Target="/ppt/notesSlides/notesSlide3.xml" Id="Rffa72c37fc4342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1a4497ad1e45a2" /><Relationship Type="http://schemas.openxmlformats.org/officeDocument/2006/relationships/image" Target="/ppt/media/image7.png" Id="R765f9de3192b4118" /><Relationship Type="http://schemas.openxmlformats.org/officeDocument/2006/relationships/image" Target="/ppt/media/image8.png" Id="R5c0a216f9acb4a1f" /><Relationship Type="http://schemas.openxmlformats.org/officeDocument/2006/relationships/notesSlide" Target="/ppt/notesSlides/notesSlide4.xml" Id="Re082864e006e43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dff68dbc74bec" /><Relationship Type="http://schemas.openxmlformats.org/officeDocument/2006/relationships/image" Target="/ppt/media/image9.png" Id="Rdfdb59e4072941c7" /><Relationship Type="http://schemas.openxmlformats.org/officeDocument/2006/relationships/image" Target="/ppt/media/image10.png" Id="Rd27082e3671845e8" /><Relationship Type="http://schemas.openxmlformats.org/officeDocument/2006/relationships/notesSlide" Target="/ppt/notesSlides/notesSlide5.xml" Id="Raf14d4c24f17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f58ce7029422c" /><Relationship Type="http://schemas.openxmlformats.org/officeDocument/2006/relationships/image" Target="/ppt/media/image11.png" Id="R79fd0f30d36c4380" /><Relationship Type="http://schemas.openxmlformats.org/officeDocument/2006/relationships/image" Target="/ppt/media/image12.png" Id="Rd39545d802d44f06" /><Relationship Type="http://schemas.openxmlformats.org/officeDocument/2006/relationships/notesSlide" Target="/ppt/notesSlides/notesSlide6.xml" Id="R910e1b00762441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7c8e5457f408c" /><Relationship Type="http://schemas.openxmlformats.org/officeDocument/2006/relationships/image" Target="/ppt/media/image13.png" Id="Rf6f319eaf0424895" /><Relationship Type="http://schemas.openxmlformats.org/officeDocument/2006/relationships/image" Target="/ppt/media/image14.png" Id="R251d6088d0a84a35" /><Relationship Type="http://schemas.openxmlformats.org/officeDocument/2006/relationships/notesSlide" Target="/ppt/notesSlides/notesSlide7.xml" Id="Rfc6da98ab0da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767140f99472d" /><Relationship Type="http://schemas.openxmlformats.org/officeDocument/2006/relationships/image" Target="/ppt/media/image2.jpeg" Id="Rb44132de19644013" /><Relationship Type="http://schemas.openxmlformats.org/officeDocument/2006/relationships/image" Target="/ppt/media/image15.png" Id="R6b07f31c4ea849c8" /><Relationship Type="http://schemas.openxmlformats.org/officeDocument/2006/relationships/image" Target="/ppt/media/image16.png" Id="Rafb4ebc0e6a048a0" /><Relationship Type="http://schemas.openxmlformats.org/officeDocument/2006/relationships/notesSlide" Target="/ppt/notesSlides/notesSlide8.xml" Id="R59d1bc07e30048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5c149265454062" /><Relationship Type="http://schemas.openxmlformats.org/officeDocument/2006/relationships/image" Target="/ppt/media/image17.png" Id="Rac66079814c44754" /><Relationship Type="http://schemas.openxmlformats.org/officeDocument/2006/relationships/image" Target="/ppt/media/image18.png" Id="R5965738d5d434491" /><Relationship Type="http://schemas.openxmlformats.org/officeDocument/2006/relationships/notesSlide" Target="/ppt/notesSlides/notesSlide9.xml" Id="R29e0f31c0d8943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68edabc434125" /><Relationship Type="http://schemas.openxmlformats.org/officeDocument/2006/relationships/image" Target="/ppt/media/image19.png" Id="Rffaef6fe4a3f4b73" /><Relationship Type="http://schemas.openxmlformats.org/officeDocument/2006/relationships/image" Target="/ppt/media/image20.png" Id="Rbec9242fadd54bd2" /><Relationship Type="http://schemas.openxmlformats.org/officeDocument/2006/relationships/notesSlide" Target="/ppt/notesSlides/notesSlide10.xml" Id="R8c406e8270464e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b580522894e6f" /><Relationship Type="http://schemas.openxmlformats.org/officeDocument/2006/relationships/image" Target="/ppt/media/image21.png" Id="Rdee67cb2eab644b6" /><Relationship Type="http://schemas.openxmlformats.org/officeDocument/2006/relationships/image" Target="/ppt/media/image22.png" Id="Rf26ee02daa4c4af3" /><Relationship Type="http://schemas.openxmlformats.org/officeDocument/2006/relationships/notesSlide" Target="/ppt/notesSlides/notesSlide11.xml" Id="R482b35fc960e4f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ed0078c204d27" /><Relationship Type="http://schemas.openxmlformats.org/officeDocument/2006/relationships/image" Target="/ppt/media/image23.png" Id="R2b7b030fe6b14c42" /><Relationship Type="http://schemas.openxmlformats.org/officeDocument/2006/relationships/image" Target="/ppt/media/image24.png" Id="R0db58e6440314f28" /><Relationship Type="http://schemas.openxmlformats.org/officeDocument/2006/relationships/notesSlide" Target="/ppt/notesSlides/notesSlide12.xml" Id="R53fdb81b248d48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73dbd20efd4f44" /><Relationship Type="http://schemas.openxmlformats.org/officeDocument/2006/relationships/image" Target="/ppt/media/image25.png" Id="R855caaec344d4926" /><Relationship Type="http://schemas.openxmlformats.org/officeDocument/2006/relationships/image" Target="/ppt/media/image26.png" Id="Rf1430474d9af4602" /><Relationship Type="http://schemas.openxmlformats.org/officeDocument/2006/relationships/notesSlide" Target="/ppt/notesSlides/notesSlide13.xml" Id="R82f743eecaf344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92299C1F-E66B-42AD-8F26-9788E313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หน้าจอจริงและเส้นทางการใช้งาน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44A6C-FFDC-46B6-9909-01412F112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1d323850e46ea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B5A51-F92F-49A9-94DB-62AACBD9B5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d46dbc5294915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FCDA4-585F-44DA-AB0D-822F8CC1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ภาพหน้าจอระบบจริง พร้อมงาน สถานะ และวันครบกำหนด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7023A-3390-4FDF-BA95-AC2E2FC1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เพิ่มหลังหน้า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15FBC-EAFD-4EB7-9E0F-71ED84AD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01 / 13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B8100-9A08-4CB4-8775-F68F8F75C7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8c427212647b2"/>
          <a:stretch xmlns:a="http://schemas.openxmlformats.org/drawingml/2006/main"/>
        </p:blipFill>
        <p:spPr>
          <a:xfrm xmlns:a="http://schemas.openxmlformats.org/drawingml/2006/main">
            <a:off x="1862626" y="1866900"/>
            <a:ext cx="5742598" cy="50482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9B25A-9A9F-4D9C-92BC-ED0194E3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325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สิ่งที่ผู้ใช้ทำได้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F68E2-3B01-441D-B57A-8AC32836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14625"/>
            <a:ext cx="3714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เพิ่มและแก้ไขงาน</a:t>
            </a:r>
          </a:p>
          <a:p xmlns:a="http://schemas.openxmlformats.org/drawingml/2006/main">
            <a: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เปลี่ยนสถานะและความสำคัญ</a:t>
            </a:r>
          </a:p>
          <a:p xmlns:a="http://schemas.openxmlformats.org/drawingml/2006/main">
            <a: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กำหนดวันครบกำหนด</a:t>
            </a:r>
          </a:p>
          <a:p xmlns:a="http://schemas.openxmlformats.org/drawingml/2006/main">
            <a: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ค้นหาและกรองรายการ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9ED22-FAD7-4551-9896-3FA90395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768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ข้อมูลเป็นของบัญชีที่ login</a:t>
            </a:r>
          </a:p>
          <a:p xmlns:a="http://schemas.openxmlformats.org/drawingml/2006/main">
            <a:pPr algn="l">
              <a:def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Backend ตรวจเจ้าของทุกครั้ง</a:t>
            </a:r>
          </a:p>
        </p:txBody>
      </p:sp>
    </p:spTree>
    <p:extLst>
      <p:ext uri="{BB962C8B-B14F-4D97-AF65-F5344CB8AC3E}">
        <p14:creationId xmlns:p14="http://schemas.microsoft.com/office/powerpoint/2010/main" val="1582087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B827F-815E-41D7-A92C-88AEA54A40D7}"/>
              </a:ext>
            </a:extLst>
          </p:cNvPr>
          <p:cNvCxnSpPr>
            <a:stCxn xmlns:a="http://schemas.openxmlformats.org/drawingml/2006/main" id="24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6847284" y="3782616"/>
            <a:ext cx="0" cy="1446609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38D8B-4103-4C42-A29A-931F7A4EA7EC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86775" y="3123605"/>
            <a:ext cx="1243013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55006-E445-4D75-B50B-0BC3AED0E23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964781" y="3123605"/>
            <a:ext cx="1243013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24446E0A-4761-42B3-8C79-C15EA85E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สถาปัตยกรรมของ TaskFlow</a:t>
            </a:r>
          </a:p>
        </p:txBody>
      </p:sp>
      <p:sp>
        <p:nvSpPr>
          <p:cNvPr id="16" name="Browser&#10;React + Tailwind">
            <a:extLst xmlns:a="http://schemas.openxmlformats.org/drawingml/2006/main">
              <a:ext uri="{FF2B5EF4-FFF2-40B4-BE49-F238E27FC236}">
                <a16:creationId xmlns:a16="http://schemas.microsoft.com/office/drawing/2014/main" id="{A9742BED-26F0-4E41-9740-4D84F168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4594"/>
            <a:ext cx="3278981" cy="1318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Browser</a:t>
            </a:r>
          </a:p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React + Tailwind</a:t>
            </a:r>
          </a:p>
        </p:txBody>
      </p:sp>
      <p:sp>
        <p:nvSpPr>
          <p:cNvPr id="17" name="Node.js&#10;Hono API">
            <a:extLst xmlns:a="http://schemas.openxmlformats.org/drawingml/2006/main">
              <a:ext uri="{FF2B5EF4-FFF2-40B4-BE49-F238E27FC236}">
                <a16:creationId xmlns:a16="http://schemas.microsoft.com/office/drawing/2014/main" id="{8DAE2A1E-9B8E-4DAC-B7E1-92DE8BF7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794" y="2464594"/>
            <a:ext cx="3278981" cy="1318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Node.js</a:t>
            </a:r>
          </a:p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Hono API</a:t>
            </a:r>
          </a:p>
        </p:txBody>
      </p:sp>
      <p:sp>
        <p:nvSpPr>
          <p:cNvPr id="18" name="SQLite&#10;6 ตาราง">
            <a:extLst xmlns:a="http://schemas.openxmlformats.org/drawingml/2006/main">
              <a:ext uri="{FF2B5EF4-FFF2-40B4-BE49-F238E27FC236}">
                <a16:creationId xmlns:a16="http://schemas.microsoft.com/office/drawing/2014/main" id="{4FDD1A1D-C8F6-4E8D-9539-B9443D3C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464594"/>
            <a:ext cx="3278981" cy="13180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SQLite</a:t>
            </a:r>
          </a:p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6 ตาราง</a:t>
            </a:r>
          </a:p>
        </p:txBody>
      </p:sp>
      <p:sp>
        <p:nvSpPr>
          <p:cNvPr id="2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C557F73-0875-416D-A183-80B50C5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203" y="2046684"/>
            <a:ext cx="1714500" cy="37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56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1856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56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HTTP / JSON</a:t>
            </a:r>
          </a:p>
        </p:txBody>
      </p:sp>
      <p:sp>
        <p:nvSpPr>
          <p:cNvPr id="2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8C51FCA-360A-439B-9090-370EAA8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2046684"/>
            <a:ext cx="1821656" cy="37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56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1856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56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Prepared SQL</a:t>
            </a:r>
          </a:p>
        </p:txBody>
      </p:sp>
      <p:sp>
        <p:nvSpPr>
          <p:cNvPr id="23" name="Gmail SMTP&#10;ลิงก์ตั้งรหัสใหม่">
            <a:extLst xmlns:a="http://schemas.openxmlformats.org/drawingml/2006/main">
              <a:ext uri="{FF2B5EF4-FFF2-40B4-BE49-F238E27FC236}">
                <a16:creationId xmlns:a16="http://schemas.microsoft.com/office/drawing/2014/main" id="{67EB1FAF-3F13-47AD-A856-CD5DD8B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3278981" cy="87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Gmail SMTP</a:t>
            </a:r>
          </a:p>
          <a:p xmlns:a="http://schemas.openxmlformats.org/drawingml/2006/main">
            <a:pPr algn="ctr">
              <a:buNone/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ลิงก์ตั้งรหัสใหม่</a:t>
            </a:r>
          </a:p>
        </p:txBody>
      </p:sp>
      <p:sp>
        <p:nvSpPr>
          <p:cNvPr id="24" name="n8n workflow">
            <a:extLst xmlns:a="http://schemas.openxmlformats.org/drawingml/2006/main">
              <a:ext uri="{FF2B5EF4-FFF2-40B4-BE49-F238E27FC236}">
                <a16:creationId xmlns:a16="http://schemas.microsoft.com/office/drawing/2014/main" id="{4E8F6179-9DDA-4B51-B657-113A134F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794" y="5229225"/>
            <a:ext cx="3278981" cy="87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n8n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349DB-F827-48F3-A380-6A12466B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3782616"/>
            <a:ext cx="0" cy="600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079D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23B2FF-5B44-4823-B1EF-8F0136F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291" y="4382691"/>
            <a:ext cx="34611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431">
            <a:solidFill>
              <a:srgbClr val="079D91"/>
            </a:solidFill>
          </a:ln>
        </p:spPr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95A29-7563-49A3-A8B6-DE7AB22C98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25291" y="4382691"/>
            <a:ext cx="0" cy="846534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sp>
        <p:nvSpPr>
          <p:cNvPr id="2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3CC544E-8A23-4439-8567-C938920B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6306"/>
            <a:ext cx="3536156" cy="37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ส่ง reset email</a:t>
            </a:r>
          </a:p>
        </p:txBody>
      </p:sp>
      <p:sp>
        <p:nvSpPr>
          <p:cNvPr id="3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C6CB188-1D32-4978-BCB7-C043270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794" y="4854178"/>
            <a:ext cx="3621881" cy="985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x-api-key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เฉพาะ reminders</a:t>
            </a:r>
          </a:p>
        </p:txBody>
      </p:sp>
      <p:sp>
        <p:nvSpPr>
          <p:cNvPr id="3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95F9AB19-14BE-4073-8A43-BD697391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5797"/>
            <a:ext cx="12301538" cy="750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Dev: Vite 5173 และ Hono 3000 เป็นสอง process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หลัง build: Hono เสิร์ฟเว็บและ API จาก origin เดียว</a:t>
            </a:r>
          </a:p>
        </p:txBody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63DEB7-A6C6-46F4-AB84-901D9E121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1f5fab86542bf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D48F0-4173-44AE-839E-14FDC0026A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f7bbbee7d4c83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E4CCB-A99A-4ACA-BE68-4D2574B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n8n เรียก Hono API ส่วนอีเมลตั้งรหัสผ่านส่งจาก Hono โดยตรง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8A20E8-C5A3-4FB6-84CC-5A867E1D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2C39F1-F428-43A8-9C54-508F517B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2134622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78414-6ED0-4238-A267-EB1938EB66E6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0201275" y="4618434"/>
            <a:ext cx="0" cy="492919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F939A-025F-4874-B968-894EC4A6B44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201275" y="3139678"/>
            <a:ext cx="0" cy="471488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E8685F53-95B4-4ED1-881D-AEB429BC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Monorepo และ package ที่แชร์ร่วมกัน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0E55B4C-8727-4023-96FE-7E1D1CC6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5253"/>
            <a:ext cx="6107906" cy="4339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taskflow/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apps/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  web/        React + Tailwind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  api/         Hono + SQL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packages/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  shared/     Zod schema + types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n8n/            workflow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  docs/           คู่มือ</a:t>
            </a:r>
          </a:p>
        </p:txBody>
      </p:sp>
      <p:sp>
        <p:nvSpPr>
          <p:cNvPr id="5" name="@taskflow/web">
            <a:extLst xmlns:a="http://schemas.openxmlformats.org/drawingml/2006/main">
              <a:ext uri="{FF2B5EF4-FFF2-40B4-BE49-F238E27FC236}">
                <a16:creationId xmlns:a16="http://schemas.microsoft.com/office/drawing/2014/main" id="{14146615-A806-4592-A389-2C404692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994" y="2282428"/>
            <a:ext cx="450056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@taskflow/web</a:t>
            </a:r>
          </a:p>
        </p:txBody>
      </p:sp>
      <p:sp>
        <p:nvSpPr>
          <p:cNvPr id="6" name="@taskflow/api">
            <a:extLst xmlns:a="http://schemas.openxmlformats.org/drawingml/2006/main">
              <a:ext uri="{FF2B5EF4-FFF2-40B4-BE49-F238E27FC236}">
                <a16:creationId xmlns:a16="http://schemas.microsoft.com/office/drawing/2014/main" id="{AC11C02C-A524-45C6-8A2C-7AFA4DC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994" y="5111353"/>
            <a:ext cx="450056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@taskflow/api</a:t>
            </a:r>
          </a:p>
        </p:txBody>
      </p:sp>
      <p:sp>
        <p:nvSpPr>
          <p:cNvPr id="7" name="@taskflow/shared&#10;schema และ types">
            <a:extLst xmlns:a="http://schemas.openxmlformats.org/drawingml/2006/main">
              <a:ext uri="{FF2B5EF4-FFF2-40B4-BE49-F238E27FC236}">
                <a16:creationId xmlns:a16="http://schemas.microsoft.com/office/drawing/2014/main" id="{EB976A80-643B-4A7C-97B0-672574D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994" y="3611166"/>
            <a:ext cx="4500563" cy="10072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@taskflow/shared</a:t>
            </a:r>
          </a:p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schema และ types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E700E13-E2F1-49E1-B872-1B6A086F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50844"/>
            <a:ext cx="11787188" cy="375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root scripts: dev, build, test และ typecheck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26A76-D3F8-4658-8F4C-7F3E3D5848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403854c3947f7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271CF-840F-4B96-9638-118065901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d98730c194559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AFDB3-9942-4593-A313-6FA8D907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เว็บและ API ใช้กติกาข้อมูลจาก package กลางร่วมกัน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E2474-93A1-4CB3-BE36-B17672A0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B3619A-D957-494F-8AE6-015B82ED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952165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46A447F-1D49-4777-A159-88B56D6D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SQL ที่ตรวจเจ้าของงานจริง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537D9B-7C9F-4747-BC7D-1B61A582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8116"/>
            <a:ext cx="12162234" cy="1671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SELECT id, title, status, priority, due_date</a:t>
            </a:r>
          </a:p>
          <a:p xmlns:a="http://schemas.openxmlformats.org/drawingml/2006/main">
            <a:pPr algn="l">
              <a:buNone/>
              <a:def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FROM tasks</a:t>
            </a:r>
          </a:p>
          <a:p xmlns:a="http://schemas.openxmlformats.org/drawingml/2006/main">
            <a:pPr algn="l">
              <a:buNone/>
              <a:def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531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WHERE id = ? AND user_id = ?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6409BCC-4C42-4A6D-B136-F135D0C4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2194381" cy="621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db.prepare(sql).get(taskId, sessionUser.id)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6BA3D-BC52-4183-B611-17EC450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4931"/>
            <a:ext cx="1234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074">
            <a:solidFill>
              <a:srgbClr val="CDD8D9"/>
            </a:solidFill>
          </a:ln>
        </p:spPr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1596A3C-9582-43C8-85A3-53F19A37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7116"/>
            <a:ext cx="12269391" cy="1307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id เลือกงาน  /  user_id ตรวจเจ้าของ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ค่าจากผู้ใช้เป็น parameter  /  identity มาจาก session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ไม่พบหรือเป็นงานของผู้อื่น คืน 404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B86F2-1FF8-456D-87D0-0659F5CDF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f9de3192b4118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B6957-918C-45B0-BD04-6F4D7482C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a216f9acb4a1f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9E6C8-21E7-4D98-B381-11DF4FBE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ID เลือกงาน ส่วน user_id จาก session จำกัดเจ้าของ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E9F7D-9D13-43B8-B4CB-108C5CEC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เพิ่มหลังหน้า 06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D73D7-E313-469E-ACD1-5B7F7E3A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132669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1C04F-1C7F-4A4A-9678-F686B42C20B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593931" y="3343275"/>
            <a:ext cx="985838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B0B40-7338-4413-BAA4-47AD421C586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36231" y="3343275"/>
            <a:ext cx="1007269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CE1C3D77-9D89-4AEB-B5AB-284608AA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JWT, cookie และการเพิกถอน session</a:t>
            </a:r>
          </a:p>
        </p:txBody>
      </p:sp>
      <p:sp>
        <p:nvSpPr>
          <p:cNvPr id="4" name="Cookie JWT&#10;sub + sid + exp">
            <a:extLst xmlns:a="http://schemas.openxmlformats.org/drawingml/2006/main">
              <a:ext uri="{FF2B5EF4-FFF2-40B4-BE49-F238E27FC236}">
                <a16:creationId xmlns:a16="http://schemas.microsoft.com/office/drawing/2014/main" id="{FFE85CBA-DDA8-46AB-BFB1-32E4048A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3450431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Cookie JWT</a:t>
            </a:r>
          </a:p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sub + sid + exp</a:t>
            </a:r>
          </a:p>
        </p:txBody>
      </p:sp>
      <p:sp>
        <p:nvSpPr>
          <p:cNvPr id="5" name="verify signature&#10;HS256 + exp + iss + aud">
            <a:extLst xmlns:a="http://schemas.openxmlformats.org/drawingml/2006/main">
              <a:ext uri="{FF2B5EF4-FFF2-40B4-BE49-F238E27FC236}">
                <a16:creationId xmlns:a16="http://schemas.microsoft.com/office/drawing/2014/main" id="{48E9609B-FB65-4AC5-9E55-8FBD3EEB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57475"/>
            <a:ext cx="3450431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verify signature</a:t>
            </a:r>
          </a:p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HS256 + exp + iss + aud</a:t>
            </a:r>
          </a:p>
        </p:txBody>
      </p:sp>
      <p:sp>
        <p:nvSpPr>
          <p:cNvPr id="6" name="SQL session&#10;ยังไม่หมดอายุและไม่ revoke">
            <a:extLst xmlns:a="http://schemas.openxmlformats.org/drawingml/2006/main">
              <a:ext uri="{FF2B5EF4-FFF2-40B4-BE49-F238E27FC236}">
                <a16:creationId xmlns:a16="http://schemas.microsoft.com/office/drawing/2014/main" id="{ECDF02C9-1D5A-498D-9797-4ACB424E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769" y="2657475"/>
            <a:ext cx="3450431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EE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SQL session</a:t>
            </a:r>
          </a:p>
          <a:p xmlns:a="http://schemas.openxmlformats.org/drawingml/2006/main">
            <a:pPr algn="ctr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ยังไม่หมดอายุและไม่ revoke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AFB99D4-FE19-41A1-8762-1189EBCC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9884"/>
            <a:ext cx="5036344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84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784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84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อายุ 30 นาที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F19E05B-AD8D-43AB-B480-27E8447C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81" y="4789884"/>
            <a:ext cx="5143500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84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784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84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Logout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7A95D8A-E595-4F3B-AC9F-BFF9A21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0694"/>
            <a:ext cx="5679281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ตรวจทั้ง JWT และ session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ไม่มี refresh token</a:t>
            </a:r>
          </a:p>
          <a:p xmlns:a="http://schemas.openxmlformats.org/drawingml/2006/main">
            <a:pPr algn="l">
              <a:buNone/>
              <a:def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หมดอายุแล้วเข้าสู่ระบบใหม่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C406EAB-5673-436D-ABE0-22C5C07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81" y="5550694"/>
            <a:ext cx="5638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ตั้ง revoked_at ใน SQL และลบ cookie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JWT เดิมใช้ต่อไม่ได้เพราะ session ถูก revoke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C500F-8DF1-48FE-BDD5-E7D78DDA0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b59e4072941c7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F1B1F-BA50-42CE-AD0E-1975DBBBC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082e3671845e8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29E03-639A-4DEB-950B-6C6196F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JWT ต้องผ่านการตรวจ และ session ใน SQL ต้องยังใช้งานได้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6A185-3D0C-4A9E-8FEB-48810F25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12430-20CD-4B88-BB99-60C13747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75303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79855FD-F858-4908-A295-C0AB0AAA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JWT, API key และ reset token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3BDA7-D9FE-42EF-849E-CD6413778484}"/>
              </a:ext>
            </a:extLst>
          </p:cNvPr>
          <p:cNvGraphicFramePr/>
          <p:nvPr/>
        </p:nvGraphicFramePr>
        <p:xfrm>
          <a:off xmlns:a="http://schemas.openxmlformats.org/drawingml/2006/main" x="685800" y="2003822"/>
          <a:ext xmlns:a="http://schemas.openxmlformats.org/drawingml/2006/main" cx="12344400" cy="450056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2952750"/>
                <a:gridCol w="2952750"/>
                <a:gridCol w="2952750"/>
              </a:tblGrid>
              <a:tr h="750094"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ประเด็น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JWT + SQL session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API key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Reset token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</a:tr>
              <a:tr h="750094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ใช้กับ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ผู้ใช้บนเว็บ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n8n reminders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ตั้งรหัสผ่านใหม่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ค่าที่ส่ง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JWT ใน cookie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x-api-key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token จากลิงก์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SQL เก็บ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ที่ revoke 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SHA-256 digest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SHA-256 digest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อายุ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30 นาที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30 วัน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15 นาที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หมดสิทธิ์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logout / reset / expiry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revoke / expiry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ใช้แล้ว / reset / expiry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5A0EF5B-31D7-4E37-8A83-475E69C2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05600"/>
            <a:ext cx="1234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รหัสผ่านเก็บ scrypt + salt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SQL เก็บ digest ของ API key / reset token ส่วน JWT ส่งใน HttpOnly cookie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0D10D-FE14-4D1B-ABB7-56DC48A4E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d0f30d36c4380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D48BD-A404-42CD-8013-594FEE2FE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545d802d44f06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E812F-9674-4166-9D1E-FA952406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เลือก credential ตามหน้าที่ พร้อมอายุและเงื่อนไขยกเลิก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EC7B3-F725-4B3F-896A-D6988B15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0AF6D-E089-40F3-B6E6-F3E2391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1559929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35053-8898-49B6-85DA-CE3FC586D4F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815513" y="2732484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14062-4695-4BD1-9218-39EA438EEE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00825" y="2732484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8742E-37A7-401A-AE7E-F9E6CDA495E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86138" y="2732484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sp>
        <p:nvSpPr>
          <p:cNvPr id="1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6C1A969-F0F4-47C9-BD8E-BDF94783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Token ใช้ครั้งเดียวและ transaction</a:t>
            </a:r>
          </a:p>
        </p:txBody>
      </p:sp>
      <p:sp>
        <p:nvSpPr>
          <p:cNvPr id="4" name="สุ่ม 32 bytes">
            <a:extLst xmlns:a="http://schemas.openxmlformats.org/drawingml/2006/main">
              <a:ext uri="{FF2B5EF4-FFF2-40B4-BE49-F238E27FC236}">
                <a16:creationId xmlns:a16="http://schemas.microsoft.com/office/drawing/2014/main" id="{941E8CE1-DDAA-4D39-AAC9-7AE9A1B0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5988"/>
            <a:ext cx="2700338" cy="1092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สุ่ม 32 bytes</a:t>
            </a:r>
          </a:p>
        </p:txBody>
      </p:sp>
      <p:sp>
        <p:nvSpPr>
          <p:cNvPr id="5" name="SQL เก็บ SHA-256">
            <a:extLst xmlns:a="http://schemas.openxmlformats.org/drawingml/2006/main">
              <a:ext uri="{FF2B5EF4-FFF2-40B4-BE49-F238E27FC236}">
                <a16:creationId xmlns:a16="http://schemas.microsoft.com/office/drawing/2014/main" id="{A2A2515E-F9FD-47EA-960E-5AA2CEC8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2185988"/>
            <a:ext cx="2700338" cy="1092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SQL เก็บ SHA-256</a:t>
            </a:r>
          </a:p>
        </p:txBody>
      </p:sp>
      <p:sp>
        <p:nvSpPr>
          <p:cNvPr id="6" name="อายุ 15 นาที">
            <a:extLst xmlns:a="http://schemas.openxmlformats.org/drawingml/2006/main">
              <a:ext uri="{FF2B5EF4-FFF2-40B4-BE49-F238E27FC236}">
                <a16:creationId xmlns:a16="http://schemas.microsoft.com/office/drawing/2014/main" id="{1E8CDB33-81EB-4F93-8C44-8370AD97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85988"/>
            <a:ext cx="2700338" cy="1092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อายุ 15 นาที</a:t>
            </a:r>
          </a:p>
        </p:txBody>
      </p:sp>
      <p:sp>
        <p:nvSpPr>
          <p:cNvPr id="7" name="ใช้ token ครั้งเดียว">
            <a:extLst xmlns:a="http://schemas.openxmlformats.org/drawingml/2006/main">
              <a:ext uri="{FF2B5EF4-FFF2-40B4-BE49-F238E27FC236}">
                <a16:creationId xmlns:a16="http://schemas.microsoft.com/office/drawing/2014/main" id="{6D69E142-434F-401E-8578-14327D2B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2185988"/>
            <a:ext cx="2700338" cy="1092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ใช้ token ครั้งเดียว</a:t>
            </a:r>
          </a:p>
        </p:txBody>
      </p:sp>
      <p:sp>
        <p:nvSpPr>
          <p:cNvPr id="1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3408866-9437-437C-B5BE-5B13AF3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8397"/>
            <a:ext cx="5979319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ภายใน transaction</a:t>
            </a:r>
          </a:p>
        </p:txBody>
      </p:sp>
      <p:sp>
        <p:nvSpPr>
          <p:cNvPr id="1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E205644B-04FA-4AEC-B664-92A039B6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9188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1  Claim token ที่ยังไม่ใช้และไม่หมดอายุ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2  บันทึก password hash ที่คำนวณไว้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3  Revoke ทุก session ของบัญชี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50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4  ทำเครื่องหมายลิงก์ reset ทั้งหมดว่าใช้แล้ว</a:t>
            </a:r>
          </a:p>
        </p:txBody>
      </p:sp>
      <p:sp>
        <p:nvSpPr>
          <p:cNvPr id="1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4ECFCBBE-A9C5-4206-8B58-D95227E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4318397"/>
            <a:ext cx="5518547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Login ระหว่าง reset</a:t>
            </a:r>
          </a:p>
        </p:txBody>
      </p:sp>
      <p:sp>
        <p:nvSpPr>
          <p:cNvPr id="1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4A03172-8C00-4071-91B8-A0F28BB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4929188"/>
            <a:ext cx="5518547" cy="190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ก่อนสร้าง session ตรวจว่า hash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ยังเป็นค่าปัจจุบัน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หากรหัสเปลี่ยน ให้เข้าสู่ระบบด้วยรหัสใหม่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E2C02-3542-4252-8B98-9AE32230F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319eaf0424895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80DC3-81DD-486B-8748-64A555C40D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d6088d0a84a35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88813-E981-4168-BD87-596095E6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คำนวณ scrypt ก่อนเริ่ม transaction และเปลี่ยนข้อมูลพร้อมกัน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4BA89-1EB1-4C13-B9E1-A25915A6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AA7C9-CF20-4A13-8479-7585CF4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07 / 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3B0AB-9646-4210-BAAD-1CA5FFF3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0"/>
            <a:ext cx="1200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หลัง commit ให้ผู้ใช้ login ใหม่ด้วยตนเอง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10893275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5829AE19-6C25-4D26-A129-B1CA465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หน้าตั้งรหัสผ่านใหม่ที่รันจริง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9E898-B80A-442E-878D-6F98DA70BE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132de19644013"/>
          <a:stretch xmlns:a="http://schemas.openxmlformats.org/drawingml/2006/main"/>
        </p:blipFill>
        <p:spPr>
          <a:xfrm xmlns:a="http://schemas.openxmlformats.org/drawingml/2006/main">
            <a:off x="893333" y="1778794"/>
            <a:ext cx="6764401" cy="5282803"/>
          </a:xfrm>
          <a:prstGeom xmlns:a="http://schemas.openxmlformats.org/drawingml/2006/main" prst="rect">
            <a:avLst/>
          </a:prstGeom>
        </p:spPr>
      </p:pic>
      <p:sp>
        <p:nvSpPr>
          <p:cNvPr id="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EADECD78-264E-4D12-8DC1-8E0AEA3F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2218134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01</a:t>
            </a:r>
          </a:p>
        </p:txBody>
      </p:sp>
      <p:sp>
        <p:nvSpPr>
          <p:cNvPr id="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34F1B758-E0A5-4A71-8A0B-A30DB34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18134"/>
            <a:ext cx="3900488" cy="136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รหัสใหม่ 12–128 ตัวอักษร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พร้อมยืนยันให้ตรงกัน</a:t>
            </a:r>
          </a:p>
        </p:txBody>
      </p:sp>
      <p:sp>
        <p:nvSpPr>
          <p:cNvPr id="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30B1CD6-2313-49E5-9F25-9DC0FD2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3664744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02</a:t>
            </a:r>
          </a:p>
        </p:txBody>
      </p:sp>
      <p:sp>
        <p:nvSpPr>
          <p:cNvPr id="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9B39B14B-B9F9-4A4E-8E34-25760098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64744"/>
            <a:ext cx="3900488" cy="136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ลบ #token จากแถบที่อยู่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refresh ต้องเปิดลิงก์ต้นฉบับ</a:t>
            </a:r>
          </a:p>
        </p:txBody>
      </p:sp>
      <p:sp>
        <p:nvSpPr>
          <p:cNvPr id="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3473097-50CC-439F-BB01-0ED09660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344" y="5111353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03</a:t>
            </a:r>
          </a:p>
        </p:txBody>
      </p:sp>
      <p:sp>
        <p:nvSpPr>
          <p:cNvPr id="1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BCAAB5C6-433D-45D6-9F9B-853D7955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111353"/>
            <a:ext cx="3900488" cy="1360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สำเร็จแล้ว login ใหม่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ทุก session เดิมใช้ต่อไม่ได้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772C1-E69C-4800-8443-9C7F43B65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7f31c4ea849c8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FB540-8480-49BF-AFBD-08DDF0A07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4ebc0e6a048a0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39244-2846-4F3D-AFA3-D3423247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อ่าน token เข้า memory แล้วลบ fragment ทันทีเมื่อเปิดหน้า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EEBCF-D6F5-4090-B030-C15C90CE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58BC9-8425-43E8-90FB-D43ED3CA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11898721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9801721-E615-4F58-9D25-1CCCAFD3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ตั้ง Gmail SMTP และขอบเขตหลักฐาน</a:t>
            </a:r>
          </a:p>
        </p:txBody>
      </p:sp>
      <p:sp>
        <p:nvSpPr>
          <p:cNvPr id="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F605E178-9163-4E64-9944-75C7128B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947172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ตั้งค่าก่อนใช้งาน</a:t>
            </a:r>
          </a:p>
        </p:txBody>
      </p:sp>
      <p:sp>
        <p:nvSpPr>
          <p:cNvPr id="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E8AC659-505C-4450-8DF9-97DF9660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2466"/>
            <a:ext cx="5947172" cy="190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npm run setup:email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Gmail App Password ใน .env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APP_PUBLIC_URL ให้ตรงหน้าเว็บ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npm run mail:check ไม่ส่งเมล</a:t>
            </a:r>
          </a:p>
        </p:txBody>
      </p:sp>
      <p:sp>
        <p:nvSpPr>
          <p:cNvPr id="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06B2E961-23C9-47F4-B13D-303220FA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1971675"/>
            <a:ext cx="5518547" cy="49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447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สิ่งที่ตรวจแล้วและยังต้องทำ</a:t>
            </a:r>
          </a:p>
        </p:txBody>
      </p:sp>
      <p:sp>
        <p:nvSpPr>
          <p:cNvPr id="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22A456CF-0FAA-4C3D-B506-01FC2B8E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2582466"/>
            <a:ext cx="5518547" cy="19073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Local SMTP receiver ส่งจริงผ่าน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ยังไม่มีหลักฐาน Gmail / inbox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ใช้บัญชีอีเมลรับจริงเพื่อทดลอง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ไม่ต้องเปิด n8n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7941B-6A4E-4E0C-956D-E4D9CD1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234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074">
            <a:solidFill>
              <a:srgbClr val="CDD8D9"/>
            </a:solidFill>
          </a:ln>
        </p:spPr>
      </p:sp>
      <p:sp>
        <p:nvSpPr>
          <p:cNvPr id="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C3432778-7C12-417E-AFE1-EB57441C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5722"/>
            <a:ext cx="12301538" cy="1017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ลิงก์อายุ 15 นาที  /  ต่อบัญชีเว้น 60 วินาที และ 3 token ต่อชั่วโมง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การส่ง async ไม่ใช่ durable queue  /  SMTP ยอมรับไม่ยืนยัน inbox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9E5C5-D50E-43A2-824B-A28FFC6AC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6079814c44754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9DF14-5351-4EB4-8F59-147BCCB34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5738d5d434491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F1CAA-0049-4E63-86B4-E097753C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ตรวจการเชื่อมต่อ SMTP แยกจากหลักฐานว่าอีเมลถึง inbox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9894B-B271-41A0-A420-8AE11E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AEFDC-96B7-454E-8674-DBE3D512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2126366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90F540-021B-4E56-A426-B6BA864A2FB6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0565606" y="3316487"/>
            <a:ext cx="321469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4418D6-68B8-4E24-AA03-CBDA2D4017B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15288" y="3316487"/>
            <a:ext cx="321469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8903C-CB07-427D-B1BF-D86DDCA6583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464969" y="3316487"/>
            <a:ext cx="321469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87558-A675-4481-8392-2BE37F8E4A9D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914650" y="3316487"/>
            <a:ext cx="321469" cy="0"/>
          </a:xfrm>
          <a:prstGeom xmlns:a="http://schemas.openxmlformats.org/drawingml/2006/main" prst="straightConnector1">
            <a:avLst/>
          </a:prstGeom>
          <a:ln xmlns:a="http://schemas.openxmlformats.org/drawingml/2006/main" w="21431">
            <a:solidFill>
              <a:srgbClr val="079D91"/>
            </a:solidFill>
            <a:tailEnd type="arrow" w="med" len="med"/>
          </a:ln>
        </p:spPr>
      </p:cxnSp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C6BB688-E7D1-418D-BB03-C2980986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การตรวจ request ก่อนแตะข้อมูล</a:t>
            </a:r>
          </a:p>
        </p:txBody>
      </p:sp>
      <p:sp>
        <p:nvSpPr>
          <p:cNvPr id="16" name="request_id&#10;secure headers">
            <a:extLst xmlns:a="http://schemas.openxmlformats.org/drawingml/2006/main">
              <a:ext uri="{FF2B5EF4-FFF2-40B4-BE49-F238E27FC236}">
                <a16:creationId xmlns:a16="http://schemas.microsoft.com/office/drawing/2014/main" id="{D782C51B-240B-49AE-B5C3-E227A97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8191"/>
            <a:ext cx="2228850" cy="1296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request_id</a:t>
            </a:r>
          </a:p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secure headers</a:t>
            </a:r>
          </a:p>
        </p:txBody>
      </p:sp>
      <p:sp>
        <p:nvSpPr>
          <p:cNvPr id="17" name="16KB limit&#10;Origin guard">
            <a:extLst xmlns:a="http://schemas.openxmlformats.org/drawingml/2006/main">
              <a:ext uri="{FF2B5EF4-FFF2-40B4-BE49-F238E27FC236}">
                <a16:creationId xmlns:a16="http://schemas.microsoft.com/office/drawing/2014/main" id="{6F807E9F-6D9C-4AC1-91AE-C5D1D079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119" y="2668191"/>
            <a:ext cx="2228850" cy="1296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16KB limit</a:t>
            </a:r>
          </a:p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Origin guard</a:t>
            </a:r>
          </a:p>
        </p:txBody>
      </p:sp>
      <p:sp>
        <p:nvSpPr>
          <p:cNvPr id="18" name="Credential&#10;ตามแต่ละ route">
            <a:extLst xmlns:a="http://schemas.openxmlformats.org/drawingml/2006/main">
              <a:ext uri="{FF2B5EF4-FFF2-40B4-BE49-F238E27FC236}">
                <a16:creationId xmlns:a16="http://schemas.microsoft.com/office/drawing/2014/main" id="{99B65DBB-57C6-4753-A1BC-48ED1F0D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668191"/>
            <a:ext cx="2228850" cy="1296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Credential</a:t>
            </a:r>
          </a:p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ตามแต่ละ route</a:t>
            </a:r>
          </a:p>
        </p:txBody>
      </p:sp>
      <p:sp>
        <p:nvSpPr>
          <p:cNvPr id="19" name="Zod schema&#10;JSON type">
            <a:extLst xmlns:a="http://schemas.openxmlformats.org/drawingml/2006/main">
              <a:ext uri="{FF2B5EF4-FFF2-40B4-BE49-F238E27FC236}">
                <a16:creationId xmlns:a16="http://schemas.microsoft.com/office/drawing/2014/main" id="{641718A4-79D8-4395-BA04-B8B75E43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756" y="2668191"/>
            <a:ext cx="2228850" cy="1296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Zod schema</a:t>
            </a:r>
          </a:p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JSON type</a:t>
            </a:r>
          </a:p>
        </p:txBody>
      </p:sp>
      <p:sp>
        <p:nvSpPr>
          <p:cNvPr id="20" name="SQL + สิทธิ์&#10;JSON response">
            <a:extLst xmlns:a="http://schemas.openxmlformats.org/drawingml/2006/main">
              <a:ext uri="{FF2B5EF4-FFF2-40B4-BE49-F238E27FC236}">
                <a16:creationId xmlns:a16="http://schemas.microsoft.com/office/drawing/2014/main" id="{C2726F47-87E0-4E45-A315-2A72A639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2668191"/>
            <a:ext cx="2228850" cy="12965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074">
            <a:solidFill>
              <a:srgbClr val="079D91"/>
            </a:solidFill>
          </a:ln>
        </p:spPr>
        <p:txBody>
          <a:bodyPr xmlns:a="http://schemas.openxmlformats.org/drawingml/2006/main" lIns="107156" tIns="107156" rIns="107156" bIns="107156" anchor="ctr"/>
          <a:lstStyle xmlns:a="http://schemas.openxmlformats.org/drawingml/2006/main">
            <a:defPPr algn="ctr"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SQL + สิทธิ์</a:t>
            </a:r>
          </a:p>
          <a:p xmlns:a="http://schemas.openxmlformats.org/drawingml/2006/main">
            <a:pPr algn="ctr">
              <a:buNone/>
              <a:def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94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JSON response</a:t>
            </a:r>
          </a:p>
        </p:txBody>
      </p:sp>
      <p:sp>
        <p:nvSpPr>
          <p:cNvPr id="2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9731353-2A83-4996-B1DE-9B76F2D9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1297"/>
            <a:ext cx="12301538" cy="964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ต่อ IP ใน 15 นาที: Login/register รวม 20 ครั้ง</a:t>
            </a:r>
          </a:p>
          <a:p xmlns:a="http://schemas.openxmlformats.org/drawingml/2006/main">
            <a:pPr algn="l">
              <a:buNone/>
              <a:def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Forgot-password 5 ครั้ง  /  Reset-password 10 ครั้ง</a:t>
            </a:r>
          </a:p>
        </p:txBody>
      </p:sp>
      <p:sp>
        <p:nvSpPr>
          <p:cNvPr id="2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5FAD7B09-3E02-41CB-93B3-8E5B9CC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230153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Session ใช้กับ tasks/keys ส่วน API key ใช้กับ integrations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Error body มี code, message, request_id และทุก response มี X-Request-ID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27080-B968-43B4-9D76-02CB9554FC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ef6fe4a3f4b73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1E728-FBB6-45F4-ACC0-739CD35D5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9242fadd54bd2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E1533-4F33-4DED-B0AC-DD97E7FF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ตรวจข้อมูลและสิทธิ์ตาม route ก่อนอ่านหรือแก้ข้อมูล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A6117-1983-4B71-B3FC-A947A2AE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85EAA1-05D9-491E-B8D4-91B12A59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501230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884803D-E5C0-417D-9636-FE7E63DF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สิทธิ์และสถานะของงาน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ABAA6-18F6-44EC-83FA-BD2B95CDA0BD}"/>
              </a:ext>
            </a:extLst>
          </p:cNvPr>
          <p:cNvGraphicFramePr/>
          <p:nvPr/>
        </p:nvGraphicFramePr>
        <p:xfrm>
          <a:off xmlns:a="http://schemas.openxmlformats.org/drawingml/2006/main" x="685800" y="1928813"/>
          <a:ext xmlns:a="http://schemas.openxmlformats.org/drawingml/2006/main" cx="12344400" cy="341828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62400"/>
                <a:gridCol w="3371850"/>
                <a:gridCol w="3638550"/>
              </a:tblGrid>
              <a:tr h="683657"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การกระทำ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ผู้ใช้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API key reminders</a:t>
                      </a:r>
                    </a:p>
                  </a:txBody>
                  <a:tcPr marL="91440" marR="91440" marT="45720" marB="45720" anchor="ctr">
                    <a:solidFill>
                      <a:srgbClr val="079D91"/>
                    </a:solidFill>
                  </a:tcPr>
                </a:tc>
              </a:tr>
              <a:tr h="683657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Tasks CRUD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งานตัวเอง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ไม่ได้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657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สร้าง / revoke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key ตัวเอง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ไม่ได้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657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อ่าน due-tasks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อย่างเดียวไม่ได้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งานของเจ้าของ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3657"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บันทึก reminder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อย่างเดียวไม่ได้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07156" tIns="107156" rIns="107156" bIns="107156"/>
                    <a:lstStyle/>
                    <a:p>
                      <a:r>
                        <a:rPr sz="2184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งานของเจ้าของ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159E775-35FE-4164-B13A-654C135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3214688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31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531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531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pending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925AA3F-8ECA-4773-996A-429BBE85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59" y="5915025"/>
            <a:ext cx="3536156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31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531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531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in_progress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0F7ED5A-7059-4834-8631-3298FFDD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47" y="5915025"/>
            <a:ext cx="3353991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31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531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531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completed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D08028F-41A2-4890-97C1-297AC24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21468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ยังไม่เริ่ม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5312D41-B59D-434E-8CF9-DB0FD46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059" y="6515100"/>
            <a:ext cx="3536156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กำลังทำ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EC2FFED0-D1A3-4CF0-85D2-493704D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347" y="6515100"/>
            <a:ext cx="335399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เสร็จแล้ว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4284-6586-4E14-A992-5F0966010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67cb2eab644b6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CF6AC-5B2F-4D19-BE37-23B7DA998B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ee02daa4c4af3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60B62-C690-4C11-9414-4AA55C08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สิทธิ์ของ credential แต่ละชนิดเมื่อใช้เพียงชนิดเดียว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E94E1-E3EC-43C7-AEC6-81CB6A2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8F280-E523-4102-A350-71D4B5D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4838790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26B31B9-7077-424A-B4BD-7BC2FCE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API routes และข้อผิดพลาด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8DFF4-1C98-42D7-BB74-C4D86CF8B1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b030fe6b14c42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FBC31-A143-460E-A7F9-10F91CD1D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58e6440314f28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1E57F-9EE2-4757-A49D-A9C4F886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ตัวอย่าง route สำคัญ ทุก path ในตารางมี prefix /api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9D4B0-FED2-404C-88BF-285B20A9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แทนหน้า 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00CB8-5D7C-4A50-983F-CEA2A92C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12 / 13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0E14A-74FE-4B0D-BA0A-1DF7F22042AB}"/>
              </a:ext>
            </a:extLst>
          </p:cNvPr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80962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762250"/>
              </a:tblGrid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079D91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Method / path (prefix /api)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T w="9525">
                      <a:solidFill>
                        <a:srgbClr val="CBDADD"/>
                      </a:solidFill>
                    </a:lnT>
                    <a:lnB w="9525">
                      <a:solidFill>
                        <a:srgbClr val="CBDADD"/>
                      </a:solidFill>
                    </a:lnB>
                    <a:solidFill>
                      <a:srgbClr val="E2F4F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079D91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Credential / ข้อมูล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T w="9525">
                      <a:solidFill>
                        <a:srgbClr val="CBDADD"/>
                      </a:solidFill>
                    </a:lnT>
                    <a:lnB w="9525">
                      <a:solidFill>
                        <a:srgbClr val="CBDADD"/>
                      </a:solidFill>
                    </a:lnB>
                    <a:solidFill>
                      <a:srgbClr val="E2F4F0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POST /auth/register, POST /auth/login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สาธารณะ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POST /auth/forgot-password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{ email } คืน 202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POST /auth/reset-password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{ token, password }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GET /tasks, POST /tasks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ผู้ใช้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GET/PATCH/DELETE /tasks/:id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ผู้ใช้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GET /keys, POST /keys, DELETE /keys/:id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Session ผู้ใช้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GET /integrations/due-tasks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API key scope reminders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POST /integrations/reminders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API key scope reminders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87B25-EA96-40D2-8347-214C350394C8}"/>
              </a:ext>
            </a:extLst>
          </p:cNvPr>
          <p:cNvGraphicFramePr/>
          <p:nvPr/>
        </p:nvGraphicFramePr>
        <p:xfrm>
          <a:off xmlns:a="http://schemas.openxmlformats.org/drawingml/2006/main" x="9048750" y="1905000"/>
          <a:ext xmlns:a="http://schemas.openxmlformats.org/drawingml/2006/main" cx="39814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0100"/>
                <a:gridCol w="3181350"/>
              </a:tblGrid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079D91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รหัส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T w="9525">
                      <a:solidFill>
                        <a:srgbClr val="CBDADD"/>
                      </a:solidFill>
                    </a:lnT>
                    <a:lnB w="9525">
                      <a:solidFill>
                        <a:srgbClr val="CBDADD"/>
                      </a:solidFill>
                    </a:lnB>
                    <a:solidFill>
                      <a:srgbClr val="E2F4F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079D91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ความหมาย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T w="9525">
                      <a:solidFill>
                        <a:srgbClr val="CBDADD"/>
                      </a:solidFill>
                    </a:lnT>
                    <a:lnB w="9525">
                      <a:solidFill>
                        <a:srgbClr val="CBDADD"/>
                      </a:solidFill>
                    </a:lnB>
                    <a:solidFill>
                      <a:srgbClr val="E2F4F0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ข้อมูลหรือ token ไม่ถูกต้อง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401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Credential ใช้ไม่ได้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Origin ถูกปฏิเสธ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404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ไม่พบ / ไม่ใช่เจ้าของ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409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ข้อมูลขัดแย้ง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413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Body เกิน 16KB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415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Content-Type ไม่ใช่ JSON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429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เรียกเกิน rate limit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500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ข้อผิดพลาดภายใน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503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ADD"/>
                      </a:solidFill>
                    </a:lnL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ยังไม่ตั้ง SMTP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ADD"/>
                      </a:solidFill>
                    </a:lnR>
                    <a:lnB w="9525">
                      <a:solidFill>
                        <a:srgbClr val="CBDA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281B9-CE31-4926-B267-62995B3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209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Error body: { error: { code, message, request_id } }</a:t>
            </a:r>
          </a:p>
        </p:txBody>
      </p:sp>
    </p:spTree>
    <p:extLst>
      <p:ext uri="{BB962C8B-B14F-4D97-AF65-F5344CB8AC3E}">
        <p14:creationId xmlns:p14="http://schemas.microsoft.com/office/powerpoint/2010/main" val="4820444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">
            <a:extLst xmlns:a="http://schemas.openxmlformats.org/drawingml/2006/main">
              <a:ext uri="{FF2B5EF4-FFF2-40B4-BE49-F238E27FC236}">
                <a16:creationId xmlns:a16="http://schemas.microsoft.com/office/drawing/2014/main" id="{03B79688-427E-4414-9CE8-6F653A59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8"/>
            <a:ext cx="1143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375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หลักฐานการทดสอบที่รันจริง</a:t>
            </a:r>
          </a:p>
        </p:txBody>
      </p:sp>
      <p:sp>
        <p:nvSpPr>
          <p:cNvPr id="1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323E58E-A41A-41A7-AE17-6311EBBF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9528"/>
            <a:ext cx="6215063" cy="1253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919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6919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6919" b="1">
                <a:solidFill>
                  <a:srgbClr val="079D91"/>
                </a:solidFill>
                <a:latin typeface="IBM Plex Sans Thai"/>
                <a:ea typeface="IBM Plex Sans Thai"/>
                <a:cs typeface="IBM Plex Sans Thai"/>
              </a:rPr>
              <a:t>54 / 54</a:t>
            </a:r>
          </a:p>
        </p:txBody>
      </p:sp>
      <p:sp>
        <p:nvSpPr>
          <p:cNvPr id="19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D77465D4-58D9-47F1-89C0-A9B555EB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0413"/>
            <a:ext cx="6643688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Functional tests ผ่าน</a:t>
            </a:r>
          </a:p>
        </p:txBody>
      </p:sp>
      <p:sp>
        <p:nvSpPr>
          <p:cNvPr id="2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508F34A2-0E7D-43F4-889F-F83E32FB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9791"/>
            <a:ext cx="6643688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63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363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363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35 เดิม + 17 reset + 2 mail</a:t>
            </a:r>
          </a:p>
          <a:p xmlns:a="http://schemas.openxmlformats.org/drawingml/2006/main">
            <a:pPr algn="l">
              <a:buNone/>
              <a:defRPr sz="2363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363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Hono + SQLite และ local SMTP</a:t>
            </a:r>
          </a:p>
        </p:txBody>
      </p:sp>
      <p:sp>
        <p:nvSpPr>
          <p:cNvPr id="21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18F46BA6-4F5F-4764-BEBB-1A556D4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2046684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01</a:t>
            </a:r>
          </a:p>
        </p:txBody>
      </p:sp>
      <p:sp>
        <p:nvSpPr>
          <p:cNvPr id="22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AF0DC8DD-3CFA-4F77-ADB6-A788158A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19" y="2046684"/>
            <a:ext cx="4650581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Auth, ownership และ SQL</a:t>
            </a:r>
          </a:p>
        </p:txBody>
      </p:sp>
      <p:sp>
        <p:nvSpPr>
          <p:cNvPr id="23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8364BBAF-2F9F-4068-AA23-A56393C8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2861072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02</a:t>
            </a:r>
          </a:p>
        </p:txBody>
      </p:sp>
      <p:sp>
        <p:nvSpPr>
          <p:cNvPr id="24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619A59A-D4C3-4D4C-927C-5118051F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19" y="2861072"/>
            <a:ext cx="4650581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Token single use / expiry</a:t>
            </a:r>
          </a:p>
        </p:txBody>
      </p:sp>
      <p:sp>
        <p:nvSpPr>
          <p:cNvPr id="25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21266D4E-C2CE-4E04-9358-8971A37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3675459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03</a:t>
            </a:r>
          </a:p>
        </p:txBody>
      </p:sp>
      <p:sp>
        <p:nvSpPr>
          <p:cNvPr id="26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76F6EDBF-A15A-41E9-812D-14500FDB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19" y="3675459"/>
            <a:ext cx="4650581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Session revoke และ login race</a:t>
            </a:r>
          </a:p>
        </p:txBody>
      </p:sp>
      <p:sp>
        <p:nvSpPr>
          <p:cNvPr id="27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44496477-478C-47D8-AD9D-E8C55890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388" y="4489847"/>
            <a:ext cx="557213" cy="535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278" b="1">
                <a:solidFill>
                  <a:srgbClr val="B4A17B"/>
                </a:solidFill>
                <a:latin typeface="IBM Plex Sans Thai"/>
                <a:ea typeface="IBM Plex Sans Thai"/>
                <a:cs typeface="IBM Plex Sans Thai"/>
              </a:rPr>
              <a:t>04</a:t>
            </a:r>
          </a:p>
        </p:txBody>
      </p:sp>
      <p:sp>
        <p:nvSpPr>
          <p:cNvPr id="28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B89D1277-4A08-40B1-888D-BD8D6FB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9619" y="4489847"/>
            <a:ext cx="4650581" cy="728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025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Config + local SMTP end-to-end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AD8EA4-A0E5-4693-8634-55B6931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0694"/>
            <a:ext cx="1234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074">
            <a:solidFill>
              <a:srgbClr val="CDD8D9"/>
            </a:solidFill>
          </a:ln>
        </p:spPr>
      </p:sp>
      <p:sp>
        <p:nvSpPr>
          <p:cNvPr id="30" name="updated-text">
            <a:extLst xmlns:a="http://schemas.openxmlformats.org/drawingml/2006/main">
              <a:ext uri="{FF2B5EF4-FFF2-40B4-BE49-F238E27FC236}">
                <a16:creationId xmlns:a16="http://schemas.microsoft.com/office/drawing/2014/main" id="{68B3776D-3D18-46D8-9585-4FEDF99B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5741"/>
            <a:ext cx="12301538" cy="1017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Build และ UI responsive 320–1440px ผ่าน  /  ยังไม่มี load test</a:t>
            </a:r>
          </a:p>
          <a:p xmlns:a="http://schemas.openxmlformats.org/drawingml/2006/main">
            <a:pPr algn="l">
              <a:buNone/>
              <a:def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9" b="0">
                <a:solidFill>
                  <a:srgbClr val="15354D"/>
                </a:solidFill>
                <a:latin typeface="IBM Plex Sans Thai"/>
                <a:ea typeface="IBM Plex Sans Thai"/>
                <a:cs typeface="IBM Plex Sans Thai"/>
              </a:rPr>
              <a:t>Local SMTP ผ่านจริงในเครื่อง  /  Gmail และ n8n ส่งจริงยังไม่ยืนยัน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CBDDF-3E5B-4599-A8A8-4E6BA76737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caaec344d4926"/>
          <a:stretch xmlns:a="http://schemas.openxmlformats.org/drawingml/2006/main"/>
        </p:blipFill>
        <p:spPr>
          <a:xfrm xmlns:a="http://schemas.openxmlformats.org/drawingml/2006/main">
            <a:off x="12382500" y="3318"/>
            <a:ext cx="1333500" cy="1498315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1B98B5-DB3C-429B-85F8-BEC0D9F17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30474d9af4602"/>
          <a:stretch xmlns:a="http://schemas.openxmlformats.org/drawingml/2006/main"/>
        </p:blipFill>
        <p:spPr>
          <a:xfrm xmlns:a="http://schemas.openxmlformats.org/drawingml/2006/main">
            <a:off x="754062" y="1504950"/>
            <a:ext cx="596900" cy="571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74F92-5F55-4DAA-A5CD-39CCD703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800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ผล functional tests ที่บันทึกไว้ พร้อมขอบเขตที่ยังต้องลองจริง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26413-60D7-483F-8252-BEEA3501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เพิ่มหลังหน้า 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96249E-A901-482C-8409-AE5F71B9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286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75" b="0">
                <a:solidFill>
                  <a:srgbClr val="587084"/>
                </a:solidFill>
                <a:latin typeface="IBM Plex Sans Thai"/>
                <a:ea typeface="IBM Plex Sans Thai"/>
                <a:cs typeface="IBM Plex Sans Thai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225291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4288">
          <a:solidFill>
            <a:schemeClr val="phClr"/>
          </a:solidFill>
          <a:prstDash val="solid"/>
        </a:ln>
        <a:ln w="21431">
          <a:solidFill>
            <a:schemeClr val="phClr"/>
          </a:solidFill>
          <a:prstDash val="solid"/>
        </a:ln>
        <a:ln w="2857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2026-10-15T15:47:32.4470000Z</dcterms:created>
  <dcterms:modified xsi:type="dcterms:W3CDTF">2026-10-15T15:47:32.4470000Z</dcterms:modified>
</coreProperties>
</file>